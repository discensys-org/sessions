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7223" y="390877"/>
            <a:ext cx="14079855" cy="935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8410" y="1630186"/>
            <a:ext cx="10852150" cy="398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572864" y="9501187"/>
            <a:ext cx="755650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png"/><Relationship Id="rId10" Type="http://schemas.openxmlformats.org/officeDocument/2006/relationships/image" Target="../media/image35.jpg"/><Relationship Id="rId11" Type="http://schemas.openxmlformats.org/officeDocument/2006/relationships/image" Target="../media/image36.png"/><Relationship Id="rId12" Type="http://schemas.openxmlformats.org/officeDocument/2006/relationships/image" Target="../media/image37.jpg"/><Relationship Id="rId13" Type="http://schemas.openxmlformats.org/officeDocument/2006/relationships/image" Target="../media/image3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0"/>
            <a:ext cx="166370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5244" y="390172"/>
            <a:ext cx="7184390" cy="3039745"/>
          </a:xfrm>
          <a:prstGeom prst="rect"/>
        </p:spPr>
        <p:txBody>
          <a:bodyPr wrap="square" lIns="0" tIns="511809" rIns="0" bIns="0" rtlCol="0" vert="horz">
            <a:spAutoFit/>
          </a:bodyPr>
          <a:lstStyle/>
          <a:p>
            <a:pPr marL="59690" marR="5080" indent="-47625">
              <a:lnSpc>
                <a:spcPct val="71700"/>
              </a:lnSpc>
              <a:spcBef>
                <a:spcPts val="4029"/>
              </a:spcBef>
              <a:tabLst>
                <a:tab pos="4950460" algn="l"/>
              </a:tabLst>
            </a:pPr>
            <a:r>
              <a:rPr dirty="0" sz="11500" spc="-10"/>
              <a:t>Buildin</a:t>
            </a:r>
            <a:r>
              <a:rPr dirty="0" sz="11500"/>
              <a:t>	</a:t>
            </a:r>
            <a:r>
              <a:rPr dirty="0" sz="11500" spc="-25"/>
              <a:t>the </a:t>
            </a:r>
            <a:r>
              <a:rPr dirty="0" sz="11500" spc="-200"/>
              <a:t>Architecture</a:t>
            </a:r>
            <a:endParaRPr sz="11500"/>
          </a:p>
        </p:txBody>
      </p:sp>
      <p:sp>
        <p:nvSpPr>
          <p:cNvPr id="4" name="object 4"/>
          <p:cNvSpPr txBox="1"/>
          <p:nvPr/>
        </p:nvSpPr>
        <p:spPr>
          <a:xfrm>
            <a:off x="770610" y="2626237"/>
            <a:ext cx="6348095" cy="4017645"/>
          </a:xfrm>
          <a:prstGeom prst="rect">
            <a:avLst/>
          </a:prstGeom>
        </p:spPr>
        <p:txBody>
          <a:bodyPr wrap="square" lIns="0" tIns="377190" rIns="0" bIns="0" rtlCol="0" vert="horz">
            <a:spAutoFit/>
          </a:bodyPr>
          <a:lstStyle/>
          <a:p>
            <a:pPr algn="ctr" marL="231140">
              <a:lnSpc>
                <a:spcPct val="100000"/>
              </a:lnSpc>
              <a:spcBef>
                <a:spcPts val="2970"/>
              </a:spcBef>
            </a:pPr>
            <a:r>
              <a:rPr dirty="0" sz="10800" spc="415">
                <a:latin typeface="Calibri"/>
                <a:cs typeface="Calibri"/>
              </a:rPr>
              <a:t>Speed</a:t>
            </a:r>
            <a:endParaRPr sz="10800">
              <a:latin typeface="Calibri"/>
              <a:cs typeface="Calibri"/>
            </a:endParaRPr>
          </a:p>
          <a:p>
            <a:pPr marL="16510" marR="5080" indent="-4445">
              <a:lnSpc>
                <a:spcPts val="4650"/>
              </a:lnSpc>
              <a:spcBef>
                <a:spcPts val="1720"/>
              </a:spcBef>
            </a:pPr>
            <a:r>
              <a:rPr dirty="0" sz="4300" spc="-114">
                <a:solidFill>
                  <a:srgbClr val="212121"/>
                </a:solidFill>
                <a:latin typeface="Arial MT"/>
                <a:cs typeface="Arial MT"/>
              </a:rPr>
              <a:t>Defeating</a:t>
            </a:r>
            <a:r>
              <a:rPr dirty="0" sz="4300" spc="-1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4300" spc="-100">
                <a:solidFill>
                  <a:srgbClr val="232323"/>
                </a:solidFill>
                <a:latin typeface="Arial MT"/>
                <a:cs typeface="Arial MT"/>
              </a:rPr>
              <a:t>distance</a:t>
            </a:r>
            <a:r>
              <a:rPr dirty="0" sz="4300" spc="-10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4300" spc="-150">
                <a:solidFill>
                  <a:srgbClr val="232323"/>
                </a:solidFill>
                <a:latin typeface="Arial MT"/>
                <a:cs typeface="Arial MT"/>
              </a:rPr>
              <a:t>and </a:t>
            </a:r>
            <a:r>
              <a:rPr dirty="0" sz="4300" spc="-85">
                <a:solidFill>
                  <a:srgbClr val="1D1D1D"/>
                </a:solidFill>
                <a:latin typeface="Arial MT"/>
                <a:cs typeface="Arial MT"/>
              </a:rPr>
              <a:t>disk </a:t>
            </a:r>
            <a:r>
              <a:rPr dirty="0" sz="4300" spc="-65">
                <a:solidFill>
                  <a:srgbClr val="262626"/>
                </a:solidFill>
                <a:latin typeface="Arial MT"/>
                <a:cs typeface="Arial MT"/>
              </a:rPr>
              <a:t>mechanics</a:t>
            </a:r>
            <a:r>
              <a:rPr dirty="0" sz="4300" spc="-15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4300" spc="-40">
                <a:solidFill>
                  <a:srgbClr val="242424"/>
                </a:solidFill>
                <a:latin typeface="Arial MT"/>
                <a:cs typeface="Arial MT"/>
              </a:rPr>
              <a:t>with</a:t>
            </a:r>
            <a:r>
              <a:rPr dirty="0" sz="4300" spc="-2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4300" spc="-265">
                <a:solidFill>
                  <a:srgbClr val="242424"/>
                </a:solidFill>
                <a:latin typeface="Arial MT"/>
                <a:cs typeface="Arial MT"/>
              </a:rPr>
              <a:t>Redis</a:t>
            </a:r>
            <a:r>
              <a:rPr dirty="0" sz="4300" spc="-3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4300" spc="-25">
                <a:solidFill>
                  <a:srgbClr val="232323"/>
                </a:solidFill>
                <a:latin typeface="Arial MT"/>
                <a:cs typeface="Arial MT"/>
              </a:rPr>
              <a:t>and </a:t>
            </a:r>
            <a:r>
              <a:rPr dirty="0" sz="4300" spc="-110">
                <a:solidFill>
                  <a:srgbClr val="242424"/>
                </a:solidFill>
                <a:latin typeface="Arial MT"/>
                <a:cs typeface="Arial MT"/>
              </a:rPr>
              <a:t>In-</a:t>
            </a:r>
            <a:r>
              <a:rPr dirty="0" sz="4300" spc="-75">
                <a:solidFill>
                  <a:srgbClr val="242424"/>
                </a:solidFill>
                <a:latin typeface="Arial MT"/>
                <a:cs typeface="Arial MT"/>
              </a:rPr>
              <a:t>Memory</a:t>
            </a:r>
            <a:r>
              <a:rPr dirty="0" sz="4300" spc="-18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4300" spc="-55">
                <a:solidFill>
                  <a:srgbClr val="1C1C1C"/>
                </a:solidFill>
                <a:latin typeface="Arial MT"/>
                <a:cs typeface="Arial MT"/>
              </a:rPr>
              <a:t>Systems</a:t>
            </a:r>
            <a:endParaRPr sz="4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2286000"/>
            <a:ext cx="16827500" cy="6883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5222" y="384174"/>
            <a:ext cx="9222105" cy="155448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2225">
              <a:lnSpc>
                <a:spcPts val="6035"/>
              </a:lnSpc>
              <a:spcBef>
                <a:spcPts val="125"/>
              </a:spcBef>
            </a:pPr>
            <a:r>
              <a:rPr dirty="0" sz="5600" spc="-215">
                <a:latin typeface="Arial MT"/>
                <a:cs typeface="Arial MT"/>
              </a:rPr>
              <a:t>Computation</a:t>
            </a:r>
            <a:r>
              <a:rPr dirty="0" sz="5600" spc="-135">
                <a:latin typeface="Arial MT"/>
                <a:cs typeface="Arial MT"/>
              </a:rPr>
              <a:t> </a:t>
            </a:r>
            <a:r>
              <a:rPr dirty="0" sz="5600" spc="-30">
                <a:latin typeface="Arial MT"/>
                <a:cs typeface="Arial MT"/>
              </a:rPr>
              <a:t>is</a:t>
            </a:r>
            <a:r>
              <a:rPr dirty="0" sz="5600" spc="-730">
                <a:latin typeface="Arial MT"/>
                <a:cs typeface="Arial MT"/>
              </a:rPr>
              <a:t> </a:t>
            </a:r>
            <a:r>
              <a:rPr dirty="0" sz="5600" spc="-265">
                <a:latin typeface="Arial MT"/>
                <a:cs typeface="Arial MT"/>
              </a:rPr>
              <a:t>Fast.</a:t>
            </a:r>
            <a:endParaRPr sz="5600">
              <a:latin typeface="Arial MT"/>
              <a:cs typeface="Arial MT"/>
            </a:endParaRPr>
          </a:p>
          <a:p>
            <a:pPr marL="12700">
              <a:lnSpc>
                <a:spcPts val="5975"/>
              </a:lnSpc>
            </a:pPr>
            <a:r>
              <a:rPr dirty="0" sz="5550" spc="-170">
                <a:latin typeface="Arial MT"/>
                <a:cs typeface="Arial MT"/>
              </a:rPr>
              <a:t>Fetching</a:t>
            </a:r>
            <a:r>
              <a:rPr dirty="0" sz="5550" spc="-409">
                <a:latin typeface="Arial MT"/>
                <a:cs typeface="Arial MT"/>
              </a:rPr>
              <a:t> </a:t>
            </a:r>
            <a:r>
              <a:rPr dirty="0" sz="5550" spc="-245">
                <a:latin typeface="Arial MT"/>
                <a:cs typeface="Arial MT"/>
              </a:rPr>
              <a:t>Data</a:t>
            </a:r>
            <a:r>
              <a:rPr dirty="0" sz="5550" spc="-450">
                <a:latin typeface="Arial MT"/>
                <a:cs typeface="Arial MT"/>
              </a:rPr>
              <a:t> </a:t>
            </a:r>
            <a:r>
              <a:rPr dirty="0" sz="5550" spc="-90">
                <a:latin typeface="Arial MT"/>
                <a:cs typeface="Arial MT"/>
              </a:rPr>
              <a:t>is</a:t>
            </a:r>
            <a:r>
              <a:rPr dirty="0" sz="5550" spc="-535">
                <a:latin typeface="Arial MT"/>
                <a:cs typeface="Arial MT"/>
              </a:rPr>
              <a:t> </a:t>
            </a:r>
            <a:r>
              <a:rPr dirty="0" sz="5550" spc="-90">
                <a:latin typeface="Arial MT"/>
                <a:cs typeface="Arial MT"/>
              </a:rPr>
              <a:t>the</a:t>
            </a:r>
            <a:r>
              <a:rPr dirty="0" sz="5550" spc="-515">
                <a:latin typeface="Arial MT"/>
                <a:cs typeface="Arial MT"/>
              </a:rPr>
              <a:t> </a:t>
            </a:r>
            <a:r>
              <a:rPr dirty="0" sz="5550" spc="-114">
                <a:latin typeface="Arial MT"/>
                <a:cs typeface="Arial MT"/>
              </a:rPr>
              <a:t>Bottleneck.</a:t>
            </a:r>
            <a:endParaRPr sz="5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005" y="2763661"/>
            <a:ext cx="1656714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40">
                <a:latin typeface="Arial MT"/>
                <a:cs typeface="Arial MT"/>
              </a:rPr>
              <a:t>CPU</a:t>
            </a:r>
            <a:r>
              <a:rPr dirty="0" sz="2600" spc="-225">
                <a:latin typeface="Arial MT"/>
                <a:cs typeface="Arial MT"/>
              </a:rPr>
              <a:t> </a:t>
            </a:r>
            <a:r>
              <a:rPr dirty="0" sz="2600" spc="-45">
                <a:latin typeface="Arial MT"/>
                <a:cs typeface="Arial MT"/>
              </a:rPr>
              <a:t>Cache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054" y="4128911"/>
            <a:ext cx="254571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25">
                <a:latin typeface="Arial MT"/>
                <a:cs typeface="Arial MT"/>
              </a:rPr>
              <a:t>RAM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(in-</a:t>
            </a:r>
            <a:r>
              <a:rPr dirty="0" sz="2600" spc="-10">
                <a:latin typeface="Arial MT"/>
                <a:cs typeface="Arial MT"/>
              </a:rPr>
              <a:t>Memory)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644" y="5500511"/>
            <a:ext cx="147637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20">
                <a:latin typeface="Arial MT"/>
                <a:cs typeface="Arial MT"/>
              </a:rPr>
              <a:t>SSD</a:t>
            </a:r>
            <a:r>
              <a:rPr dirty="0" sz="2600" spc="-229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Drive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3562" y="6872110"/>
            <a:ext cx="150114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60">
                <a:latin typeface="Arial MT"/>
                <a:cs typeface="Arial MT"/>
              </a:rPr>
              <a:t>HDD</a:t>
            </a:r>
            <a:r>
              <a:rPr dirty="0" sz="2600" spc="-20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Drive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512" y="8199614"/>
            <a:ext cx="268414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95">
                <a:latin typeface="Arial MT"/>
                <a:cs typeface="Arial MT"/>
              </a:rPr>
              <a:t>Network</a:t>
            </a:r>
            <a:r>
              <a:rPr dirty="0" sz="2950" spc="-95">
                <a:latin typeface="Arial MT"/>
                <a:cs typeface="Arial MT"/>
              </a:rPr>
              <a:t> </a:t>
            </a:r>
            <a:r>
              <a:rPr dirty="0" sz="2950" spc="-235">
                <a:latin typeface="Arial MT"/>
                <a:cs typeface="Arial MT"/>
              </a:rPr>
              <a:t>Database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8556" y="2737202"/>
            <a:ext cx="199390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80">
                <a:latin typeface="Arial MT"/>
                <a:cs typeface="Arial MT"/>
              </a:rPr>
              <a:t>Nanoseconds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8025" y="4128911"/>
            <a:ext cx="449389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>
                <a:latin typeface="Arial MT"/>
                <a:cs typeface="Arial MT"/>
              </a:rPr>
              <a:t>Microseconds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(Extremely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Fast)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1789" y="5500511"/>
            <a:ext cx="250888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0">
                <a:latin typeface="Arial MT"/>
                <a:cs typeface="Arial MT"/>
              </a:rPr>
              <a:t>seconds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40">
                <a:latin typeface="Arial MT"/>
                <a:cs typeface="Arial MT"/>
              </a:rPr>
              <a:t>(Slower)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84044" y="2579511"/>
            <a:ext cx="4203700" cy="148209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 marR="5080" indent="5080">
              <a:lnSpc>
                <a:spcPct val="88700"/>
              </a:lnSpc>
              <a:spcBef>
                <a:spcPts val="490"/>
              </a:spcBef>
            </a:pPr>
            <a:r>
              <a:rPr dirty="0" sz="2600" spc="-85">
                <a:latin typeface="Arial MT"/>
                <a:cs typeface="Arial MT"/>
              </a:rPr>
              <a:t>Without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 spc="-105">
                <a:latin typeface="Arial MT"/>
                <a:cs typeface="Arial MT"/>
              </a:rPr>
              <a:t>caching,</a:t>
            </a:r>
            <a:r>
              <a:rPr dirty="0" sz="2600" spc="-150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every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request </a:t>
            </a:r>
            <a:r>
              <a:rPr dirty="0" sz="2600" spc="-30">
                <a:latin typeface="Arial MT"/>
                <a:cs typeface="Arial MT"/>
              </a:rPr>
              <a:t>hits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95">
                <a:latin typeface="Arial MT"/>
                <a:cs typeface="Arial MT"/>
              </a:rPr>
              <a:t>the</a:t>
            </a:r>
            <a:r>
              <a:rPr dirty="0" sz="2600" spc="-140">
                <a:latin typeface="Arial MT"/>
                <a:cs typeface="Arial MT"/>
              </a:rPr>
              <a:t> </a:t>
            </a:r>
            <a:r>
              <a:rPr dirty="0" sz="2600" spc="-135">
                <a:latin typeface="Arial MT"/>
                <a:cs typeface="Arial MT"/>
              </a:rPr>
              <a:t>database,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causing </a:t>
            </a:r>
            <a:r>
              <a:rPr dirty="0" sz="2600" spc="-65">
                <a:latin typeface="Arial MT"/>
                <a:cs typeface="Arial MT"/>
              </a:rPr>
              <a:t>infrastructure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overload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and </a:t>
            </a:r>
            <a:r>
              <a:rPr dirty="0" sz="2600" spc="-80">
                <a:latin typeface="Arial MT"/>
                <a:cs typeface="Arial MT"/>
              </a:rPr>
              <a:t>latency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spikes.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84206" y="4332111"/>
            <a:ext cx="3643629" cy="112649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 indent="5080">
              <a:lnSpc>
                <a:spcPct val="88100"/>
              </a:lnSpc>
              <a:spcBef>
                <a:spcPts val="509"/>
              </a:spcBef>
            </a:pPr>
            <a:r>
              <a:rPr dirty="0" sz="2600" spc="-120">
                <a:latin typeface="Arial MT"/>
                <a:cs typeface="Arial MT"/>
              </a:rPr>
              <a:t>Caching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85">
                <a:latin typeface="Arial MT"/>
                <a:cs typeface="Arial MT"/>
              </a:rPr>
              <a:t>defeats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physical </a:t>
            </a:r>
            <a:r>
              <a:rPr dirty="0" sz="2600" spc="-90">
                <a:latin typeface="Arial MT"/>
                <a:cs typeface="Arial MT"/>
              </a:rPr>
              <a:t>distance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by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5">
                <a:latin typeface="Arial MT"/>
                <a:cs typeface="Arial MT"/>
              </a:rPr>
              <a:t>holding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10">
                <a:latin typeface="Arial MT"/>
                <a:cs typeface="Arial MT"/>
              </a:rPr>
              <a:t>data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in </a:t>
            </a:r>
            <a:r>
              <a:rPr dirty="0" sz="2600" spc="-95">
                <a:latin typeface="Arial MT"/>
                <a:cs typeface="Arial MT"/>
              </a:rPr>
              <a:t>high-</a:t>
            </a:r>
            <a:r>
              <a:rPr dirty="0" sz="2600" spc="-105">
                <a:latin typeface="Arial MT"/>
                <a:cs typeface="Arial MT"/>
              </a:rPr>
              <a:t>speed</a:t>
            </a:r>
            <a:r>
              <a:rPr dirty="0" sz="2600" spc="-20">
                <a:latin typeface="Arial MT"/>
                <a:cs typeface="Arial MT"/>
              </a:rPr>
              <a:t> RAM.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29120" y="6872110"/>
            <a:ext cx="398081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>
                <a:latin typeface="Arial MT"/>
                <a:cs typeface="Arial MT"/>
              </a:rPr>
              <a:t>Milliseconds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40">
                <a:latin typeface="Arial MT"/>
                <a:cs typeface="Arial MT"/>
              </a:rPr>
              <a:t>(Much</a:t>
            </a:r>
            <a:r>
              <a:rPr dirty="0" sz="2600" spc="-2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Slower)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2616200"/>
            <a:ext cx="5880100" cy="538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2946400"/>
            <a:ext cx="3225800" cy="2540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37600" y="1752600"/>
            <a:ext cx="0" cy="7543800"/>
          </a:xfrm>
          <a:custGeom>
            <a:avLst/>
            <a:gdLst/>
            <a:ahLst/>
            <a:cxnLst/>
            <a:rect l="l" t="t" r="r" b="b"/>
            <a:pathLst>
              <a:path w="0" h="7543800">
                <a:moveTo>
                  <a:pt x="0" y="7543800"/>
                </a:moveTo>
                <a:lnTo>
                  <a:pt x="0" y="0"/>
                </a:lnTo>
              </a:path>
            </a:pathLst>
          </a:custGeom>
          <a:ln w="50800">
            <a:solidFill>
              <a:srgbClr val="3D3D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498942" y="452613"/>
            <a:ext cx="12428220" cy="8616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070707"/>
                </a:solidFill>
                <a:latin typeface="Arial MT"/>
                <a:cs typeface="Arial MT"/>
              </a:rPr>
              <a:t>Defeating</a:t>
            </a:r>
            <a:r>
              <a:rPr dirty="0" spc="-25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50505"/>
                </a:solidFill>
                <a:latin typeface="Arial MT"/>
                <a:cs typeface="Arial MT"/>
              </a:rPr>
              <a:t>Distance:</a:t>
            </a:r>
            <a:r>
              <a:rPr dirty="0" spc="-6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pc="-75">
                <a:solidFill>
                  <a:srgbClr val="050505"/>
                </a:solidFill>
                <a:latin typeface="Arial MT"/>
                <a:cs typeface="Arial MT"/>
              </a:rPr>
              <a:t>The</a:t>
            </a:r>
            <a:r>
              <a:rPr dirty="0" spc="-38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70707"/>
                </a:solidFill>
                <a:latin typeface="Arial MT"/>
                <a:cs typeface="Arial MT"/>
              </a:rPr>
              <a:t>Library</a:t>
            </a:r>
            <a:r>
              <a:rPr dirty="0" spc="5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pc="-10">
                <a:solidFill>
                  <a:srgbClr val="080808"/>
                </a:solidFill>
                <a:latin typeface="Arial MT"/>
                <a:cs typeface="Arial MT"/>
              </a:rPr>
              <a:t>Analogy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32596" y="1710619"/>
            <a:ext cx="5544820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>
                <a:latin typeface="Arial MT"/>
                <a:cs typeface="Arial MT"/>
              </a:rPr>
              <a:t>Without</a:t>
            </a:r>
            <a:r>
              <a:rPr dirty="0" sz="3650" spc="-160">
                <a:latin typeface="Arial MT"/>
                <a:cs typeface="Arial MT"/>
              </a:rPr>
              <a:t> </a:t>
            </a:r>
            <a:r>
              <a:rPr dirty="0" sz="3650" spc="-114">
                <a:latin typeface="Arial MT"/>
                <a:cs typeface="Arial MT"/>
              </a:rPr>
              <a:t>Cache</a:t>
            </a:r>
            <a:r>
              <a:rPr dirty="0" sz="3650" spc="-80">
                <a:latin typeface="Arial MT"/>
                <a:cs typeface="Arial MT"/>
              </a:rPr>
              <a:t> </a:t>
            </a:r>
            <a:r>
              <a:rPr dirty="0" sz="3650" spc="-95">
                <a:latin typeface="Arial MT"/>
                <a:cs typeface="Arial MT"/>
              </a:rPr>
              <a:t>(High</a:t>
            </a:r>
            <a:r>
              <a:rPr dirty="0" sz="3650" spc="-245">
                <a:latin typeface="Arial MT"/>
                <a:cs typeface="Arial MT"/>
              </a:rPr>
              <a:t> </a:t>
            </a:r>
            <a:r>
              <a:rPr dirty="0" sz="3650" spc="-10">
                <a:latin typeface="Arial MT"/>
                <a:cs typeface="Arial MT"/>
              </a:rPr>
              <a:t>Effort)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411" y="6973710"/>
            <a:ext cx="7233284" cy="222758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461770" marR="3760470" indent="-499745">
              <a:lnSpc>
                <a:spcPts val="2900"/>
              </a:lnSpc>
              <a:spcBef>
                <a:spcPts val="415"/>
              </a:spcBef>
            </a:pPr>
            <a:r>
              <a:rPr dirty="0" sz="2600" spc="-90">
                <a:latin typeface="Arial MT"/>
                <a:cs typeface="Arial MT"/>
              </a:rPr>
              <a:t>Basement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Archive </a:t>
            </a:r>
            <a:r>
              <a:rPr dirty="0" sz="2600" spc="-40">
                <a:latin typeface="Arial MT"/>
                <a:cs typeface="Arial MT"/>
              </a:rPr>
              <a:t>(Database)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600">
              <a:latin typeface="Arial MT"/>
              <a:cs typeface="Arial MT"/>
            </a:endParaRPr>
          </a:p>
          <a:p>
            <a:pPr algn="ctr" marL="79375">
              <a:lnSpc>
                <a:spcPts val="3560"/>
              </a:lnSpc>
              <a:spcBef>
                <a:spcPts val="5"/>
              </a:spcBef>
            </a:pPr>
            <a:r>
              <a:rPr dirty="0" sz="3100" spc="-204">
                <a:latin typeface="Arial MT"/>
                <a:cs typeface="Arial MT"/>
              </a:rPr>
              <a:t>Every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-135">
                <a:latin typeface="Arial MT"/>
                <a:cs typeface="Arial MT"/>
              </a:rPr>
              <a:t>request</a:t>
            </a:r>
            <a:r>
              <a:rPr dirty="0" sz="3100" spc="-5">
                <a:latin typeface="Arial MT"/>
                <a:cs typeface="Arial MT"/>
              </a:rPr>
              <a:t> </a:t>
            </a:r>
            <a:r>
              <a:rPr dirty="0" sz="3100" spc="-145">
                <a:latin typeface="Arial MT"/>
                <a:cs typeface="Arial MT"/>
              </a:rPr>
              <a:t>queries</a:t>
            </a:r>
            <a:r>
              <a:rPr dirty="0" sz="3100" spc="-30">
                <a:latin typeface="Arial MT"/>
                <a:cs typeface="Arial MT"/>
              </a:rPr>
              <a:t> </a:t>
            </a:r>
            <a:r>
              <a:rPr dirty="0" sz="3100" spc="-125">
                <a:latin typeface="Arial MT"/>
                <a:cs typeface="Arial MT"/>
              </a:rPr>
              <a:t>the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40">
                <a:latin typeface="Arial MT"/>
                <a:cs typeface="Arial MT"/>
              </a:rPr>
              <a:t>database.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3379"/>
              </a:lnSpc>
            </a:pPr>
            <a:r>
              <a:rPr dirty="0" sz="2950" spc="-70">
                <a:latin typeface="Arial MT"/>
                <a:cs typeface="Arial MT"/>
              </a:rPr>
              <a:t>The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system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does</a:t>
            </a:r>
            <a:r>
              <a:rPr dirty="0" sz="2950" spc="-18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204">
                <a:latin typeface="Arial MT"/>
                <a:cs typeface="Arial MT"/>
              </a:rPr>
              <a:t> </a:t>
            </a:r>
            <a:r>
              <a:rPr dirty="0" sz="2950" spc="-50">
                <a:latin typeface="Arial MT"/>
                <a:cs typeface="Arial MT"/>
              </a:rPr>
              <a:t>heavy</a:t>
            </a:r>
            <a:r>
              <a:rPr dirty="0" sz="2950" spc="-6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lifting</a:t>
            </a:r>
            <a:r>
              <a:rPr dirty="0" sz="2950" spc="-105">
                <a:latin typeface="Arial MT"/>
                <a:cs typeface="Arial MT"/>
              </a:rPr>
              <a:t> </a:t>
            </a:r>
            <a:r>
              <a:rPr dirty="0" sz="2950" spc="-55">
                <a:latin typeface="Arial MT"/>
                <a:cs typeface="Arial MT"/>
              </a:rPr>
              <a:t>every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time.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41811" y="1728258"/>
            <a:ext cx="5679440" cy="2305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65">
                <a:latin typeface="Arial MT"/>
                <a:cs typeface="Arial MT"/>
              </a:rPr>
              <a:t>With</a:t>
            </a:r>
            <a:r>
              <a:rPr dirty="0" sz="3550" spc="-260">
                <a:latin typeface="Arial MT"/>
                <a:cs typeface="Arial MT"/>
              </a:rPr>
              <a:t> </a:t>
            </a:r>
            <a:r>
              <a:rPr dirty="0" sz="3550" spc="-45">
                <a:latin typeface="Arial MT"/>
                <a:cs typeface="Arial MT"/>
              </a:rPr>
              <a:t>Cache</a:t>
            </a:r>
            <a:r>
              <a:rPr dirty="0" sz="3550" spc="-140">
                <a:latin typeface="Arial MT"/>
                <a:cs typeface="Arial MT"/>
              </a:rPr>
              <a:t> </a:t>
            </a:r>
            <a:r>
              <a:rPr dirty="0" sz="3550">
                <a:latin typeface="Arial MT"/>
                <a:cs typeface="Arial MT"/>
              </a:rPr>
              <a:t>(Instant</a:t>
            </a:r>
            <a:r>
              <a:rPr dirty="0" sz="3550" spc="-25">
                <a:latin typeface="Arial MT"/>
                <a:cs typeface="Arial MT"/>
              </a:rPr>
              <a:t> </a:t>
            </a:r>
            <a:r>
              <a:rPr dirty="0" sz="3550" spc="-10">
                <a:latin typeface="Arial MT"/>
                <a:cs typeface="Arial MT"/>
              </a:rPr>
              <a:t>Access)</a:t>
            </a:r>
            <a:endParaRPr sz="3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25"/>
              </a:spcBef>
            </a:pPr>
            <a:endParaRPr sz="3550">
              <a:latin typeface="Arial MT"/>
              <a:cs typeface="Arial MT"/>
            </a:endParaRPr>
          </a:p>
          <a:p>
            <a:pPr marL="4276725" marR="183515" indent="-287020">
              <a:lnSpc>
                <a:spcPts val="2850"/>
              </a:lnSpc>
              <a:spcBef>
                <a:spcPts val="5"/>
              </a:spcBef>
            </a:pPr>
            <a:r>
              <a:rPr dirty="0" sz="2750" spc="-155">
                <a:latin typeface="Arial MT"/>
                <a:cs typeface="Arial MT"/>
              </a:rPr>
              <a:t>Front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-229">
                <a:latin typeface="Arial MT"/>
                <a:cs typeface="Arial MT"/>
              </a:rPr>
              <a:t>Desk </a:t>
            </a:r>
            <a:r>
              <a:rPr dirty="0" sz="2750" spc="-85">
                <a:latin typeface="Arial MT"/>
                <a:cs typeface="Arial MT"/>
              </a:rPr>
              <a:t>(Redis)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46211" y="8289925"/>
            <a:ext cx="7864475" cy="911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2225">
              <a:lnSpc>
                <a:spcPts val="3560"/>
              </a:lnSpc>
              <a:spcBef>
                <a:spcPts val="125"/>
              </a:spcBef>
            </a:pPr>
            <a:r>
              <a:rPr dirty="0" sz="3100" spc="-170">
                <a:latin typeface="Arial MT"/>
                <a:cs typeface="Arial MT"/>
              </a:rPr>
              <a:t>Future</a:t>
            </a:r>
            <a:r>
              <a:rPr dirty="0" sz="3100" spc="-50">
                <a:latin typeface="Arial MT"/>
                <a:cs typeface="Arial MT"/>
              </a:rPr>
              <a:t> </a:t>
            </a:r>
            <a:r>
              <a:rPr dirty="0" sz="3100" spc="-135">
                <a:latin typeface="Arial MT"/>
                <a:cs typeface="Arial MT"/>
              </a:rPr>
              <a:t>requests</a:t>
            </a:r>
            <a:r>
              <a:rPr dirty="0" sz="3100" spc="-80">
                <a:latin typeface="Arial MT"/>
                <a:cs typeface="Arial MT"/>
              </a:rPr>
              <a:t> </a:t>
            </a:r>
            <a:r>
              <a:rPr dirty="0" sz="3100" spc="-180">
                <a:latin typeface="Arial MT"/>
                <a:cs typeface="Arial MT"/>
              </a:rPr>
              <a:t>read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75">
                <a:latin typeface="Arial MT"/>
                <a:cs typeface="Arial MT"/>
              </a:rPr>
              <a:t>directly</a:t>
            </a:r>
            <a:r>
              <a:rPr dirty="0" sz="3100" spc="5">
                <a:latin typeface="Arial MT"/>
                <a:cs typeface="Arial MT"/>
              </a:rPr>
              <a:t> </a:t>
            </a:r>
            <a:r>
              <a:rPr dirty="0" sz="3100" spc="-114">
                <a:latin typeface="Arial MT"/>
                <a:cs typeface="Arial MT"/>
              </a:rPr>
              <a:t>from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memory.</a:t>
            </a:r>
            <a:endParaRPr sz="3100">
              <a:latin typeface="Arial MT"/>
              <a:cs typeface="Arial MT"/>
            </a:endParaRPr>
          </a:p>
          <a:p>
            <a:pPr algn="ctr">
              <a:lnSpc>
                <a:spcPts val="3379"/>
              </a:lnSpc>
            </a:pPr>
            <a:r>
              <a:rPr dirty="0" sz="2950" spc="-110">
                <a:latin typeface="Arial MT"/>
                <a:cs typeface="Arial MT"/>
              </a:rPr>
              <a:t>The</a:t>
            </a:r>
            <a:r>
              <a:rPr dirty="0" sz="2950" spc="-13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most</a:t>
            </a:r>
            <a:r>
              <a:rPr dirty="0" sz="2950" spc="-210">
                <a:latin typeface="Arial MT"/>
                <a:cs typeface="Arial MT"/>
              </a:rPr>
              <a:t> </a:t>
            </a:r>
            <a:r>
              <a:rPr dirty="0" sz="2950" spc="-35">
                <a:latin typeface="Arial MT"/>
                <a:cs typeface="Arial MT"/>
              </a:rPr>
              <a:t>popular</a:t>
            </a:r>
            <a:r>
              <a:rPr dirty="0" sz="2950" spc="-114">
                <a:latin typeface="Arial MT"/>
                <a:cs typeface="Arial MT"/>
              </a:rPr>
              <a:t> </a:t>
            </a:r>
            <a:r>
              <a:rPr dirty="0" sz="2950" spc="-60">
                <a:latin typeface="Arial MT"/>
                <a:cs typeface="Arial MT"/>
              </a:rPr>
              <a:t>data</a:t>
            </a:r>
            <a:r>
              <a:rPr dirty="0" sz="2950" spc="-145">
                <a:latin typeface="Arial MT"/>
                <a:cs typeface="Arial MT"/>
              </a:rPr>
              <a:t> </a:t>
            </a:r>
            <a:r>
              <a:rPr dirty="0" sz="2950" spc="-40">
                <a:latin typeface="Arial MT"/>
                <a:cs typeface="Arial MT"/>
              </a:rPr>
              <a:t>is</a:t>
            </a:r>
            <a:r>
              <a:rPr dirty="0" sz="2950" spc="-190">
                <a:latin typeface="Arial MT"/>
                <a:cs typeface="Arial MT"/>
              </a:rPr>
              <a:t> </a:t>
            </a:r>
            <a:r>
              <a:rPr dirty="0" sz="2950" spc="-35">
                <a:latin typeface="Arial MT"/>
                <a:cs typeface="Arial MT"/>
              </a:rPr>
              <a:t>immediately</a:t>
            </a:r>
            <a:r>
              <a:rPr dirty="0" sz="2950" spc="-15">
                <a:latin typeface="Arial MT"/>
                <a:cs typeface="Arial MT"/>
              </a:rPr>
              <a:t> </a:t>
            </a:r>
            <a:r>
              <a:rPr dirty="0" sz="2950" spc="-50">
                <a:latin typeface="Arial MT"/>
                <a:cs typeface="Arial MT"/>
              </a:rPr>
              <a:t>accessible.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1866900"/>
            <a:ext cx="10985500" cy="68453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0400" y="1862667"/>
            <a:ext cx="4182745" cy="7357745"/>
            <a:chOff x="660400" y="1862667"/>
            <a:chExt cx="4182745" cy="7357745"/>
          </a:xfrm>
        </p:grpSpPr>
        <p:sp>
          <p:nvSpPr>
            <p:cNvPr id="4" name="object 4"/>
            <p:cNvSpPr/>
            <p:nvPr/>
          </p:nvSpPr>
          <p:spPr>
            <a:xfrm>
              <a:off x="4828116" y="1862667"/>
              <a:ext cx="0" cy="7357745"/>
            </a:xfrm>
            <a:custGeom>
              <a:avLst/>
              <a:gdLst/>
              <a:ahLst/>
              <a:cxnLst/>
              <a:rect l="l" t="t" r="r" b="b"/>
              <a:pathLst>
                <a:path w="0" h="7357745">
                  <a:moveTo>
                    <a:pt x="0" y="7357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0400" y="9205383"/>
              <a:ext cx="4182745" cy="0"/>
            </a:xfrm>
            <a:custGeom>
              <a:avLst/>
              <a:gdLst/>
              <a:ahLst/>
              <a:cxnLst/>
              <a:rect l="l" t="t" r="r" b="b"/>
              <a:pathLst>
                <a:path w="4182745" h="0">
                  <a:moveTo>
                    <a:pt x="0" y="0"/>
                  </a:moveTo>
                  <a:lnTo>
                    <a:pt x="4182533" y="0"/>
                  </a:lnTo>
                </a:path>
              </a:pathLst>
            </a:custGeom>
            <a:ln w="42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0400" y="7401983"/>
              <a:ext cx="4182745" cy="0"/>
            </a:xfrm>
            <a:custGeom>
              <a:avLst/>
              <a:gdLst/>
              <a:ahLst/>
              <a:cxnLst/>
              <a:rect l="l" t="t" r="r" b="b"/>
              <a:pathLst>
                <a:path w="4182745" h="0">
                  <a:moveTo>
                    <a:pt x="0" y="0"/>
                  </a:moveTo>
                  <a:lnTo>
                    <a:pt x="4182533" y="0"/>
                  </a:lnTo>
                </a:path>
              </a:pathLst>
            </a:custGeom>
            <a:ln w="42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0400" y="5611283"/>
              <a:ext cx="4182745" cy="0"/>
            </a:xfrm>
            <a:custGeom>
              <a:avLst/>
              <a:gdLst/>
              <a:ahLst/>
              <a:cxnLst/>
              <a:rect l="l" t="t" r="r" b="b"/>
              <a:pathLst>
                <a:path w="4182745" h="0">
                  <a:moveTo>
                    <a:pt x="0" y="0"/>
                  </a:moveTo>
                  <a:lnTo>
                    <a:pt x="4182533" y="0"/>
                  </a:lnTo>
                </a:path>
              </a:pathLst>
            </a:custGeom>
            <a:ln w="42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0400" y="3820583"/>
              <a:ext cx="4182745" cy="0"/>
            </a:xfrm>
            <a:custGeom>
              <a:avLst/>
              <a:gdLst/>
              <a:ahLst/>
              <a:cxnLst/>
              <a:rect l="l" t="t" r="r" b="b"/>
              <a:pathLst>
                <a:path w="4182745" h="0">
                  <a:moveTo>
                    <a:pt x="0" y="0"/>
                  </a:moveTo>
                  <a:lnTo>
                    <a:pt x="4182533" y="0"/>
                  </a:lnTo>
                </a:path>
              </a:pathLst>
            </a:custGeom>
            <a:ln w="4233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16895" y="394758"/>
            <a:ext cx="9828530" cy="9461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50" spc="-165">
                <a:latin typeface="Arial MT"/>
                <a:cs typeface="Arial MT"/>
              </a:rPr>
              <a:t>Bypassing</a:t>
            </a:r>
            <a:r>
              <a:rPr dirty="0" sz="6050" spc="-275">
                <a:latin typeface="Arial MT"/>
                <a:cs typeface="Arial MT"/>
              </a:rPr>
              <a:t> </a:t>
            </a:r>
            <a:r>
              <a:rPr dirty="0" sz="6050" spc="80">
                <a:solidFill>
                  <a:srgbClr val="070707"/>
                </a:solidFill>
                <a:latin typeface="Arial MT"/>
                <a:cs typeface="Arial MT"/>
              </a:rPr>
              <a:t>the</a:t>
            </a:r>
            <a:r>
              <a:rPr dirty="0" sz="6050" spc="-75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6050" spc="-155">
                <a:latin typeface="Arial MT"/>
                <a:cs typeface="Arial MT"/>
              </a:rPr>
              <a:t>Disk</a:t>
            </a:r>
            <a:r>
              <a:rPr dirty="0" sz="6050" spc="-380">
                <a:latin typeface="Arial MT"/>
                <a:cs typeface="Arial MT"/>
              </a:rPr>
              <a:t> </a:t>
            </a:r>
            <a:r>
              <a:rPr dirty="0" sz="6050" spc="155">
                <a:latin typeface="Arial MT"/>
                <a:cs typeface="Arial MT"/>
              </a:rPr>
              <a:t>with</a:t>
            </a:r>
            <a:r>
              <a:rPr dirty="0" sz="6050" spc="-819">
                <a:latin typeface="Arial MT"/>
                <a:cs typeface="Arial MT"/>
              </a:rPr>
              <a:t> </a:t>
            </a:r>
            <a:r>
              <a:rPr dirty="0" sz="6050" spc="-70">
                <a:latin typeface="Arial MT"/>
                <a:cs typeface="Arial MT"/>
              </a:rPr>
              <a:t>Redis</a:t>
            </a:r>
            <a:endParaRPr sz="6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8439" y="2287763"/>
            <a:ext cx="3882390" cy="1279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3295"/>
              </a:lnSpc>
              <a:spcBef>
                <a:spcPts val="135"/>
              </a:spcBef>
            </a:pPr>
            <a:r>
              <a:rPr dirty="0" sz="2950">
                <a:latin typeface="Arial MT"/>
                <a:cs typeface="Arial MT"/>
              </a:rPr>
              <a:t>Direct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Memory</a:t>
            </a:r>
            <a:r>
              <a:rPr dirty="0" sz="2950" spc="5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Access:</a:t>
            </a:r>
            <a:endParaRPr sz="2950">
              <a:latin typeface="Arial MT"/>
              <a:cs typeface="Arial MT"/>
            </a:endParaRPr>
          </a:p>
          <a:p>
            <a:pPr marL="24130">
              <a:lnSpc>
                <a:spcPts val="3060"/>
              </a:lnSpc>
            </a:pPr>
            <a:r>
              <a:rPr dirty="0" sz="3050" spc="-150">
                <a:latin typeface="Arial MT"/>
                <a:cs typeface="Arial MT"/>
              </a:rPr>
              <a:t>Stores</a:t>
            </a:r>
            <a:r>
              <a:rPr dirty="0" sz="3050" spc="-55">
                <a:latin typeface="Arial MT"/>
                <a:cs typeface="Arial MT"/>
              </a:rPr>
              <a:t> </a:t>
            </a:r>
            <a:r>
              <a:rPr dirty="0" sz="3050" spc="-130">
                <a:latin typeface="Arial MT"/>
                <a:cs typeface="Arial MT"/>
              </a:rPr>
              <a:t>data</a:t>
            </a:r>
            <a:r>
              <a:rPr dirty="0" sz="3050" spc="-5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entirely</a:t>
            </a:r>
            <a:endParaRPr sz="3050">
              <a:latin typeface="Arial MT"/>
              <a:cs typeface="Arial MT"/>
            </a:endParaRPr>
          </a:p>
          <a:p>
            <a:pPr marL="14604">
              <a:lnSpc>
                <a:spcPts val="3485"/>
              </a:lnSpc>
            </a:pPr>
            <a:r>
              <a:rPr dirty="0" sz="3200" spc="-125">
                <a:latin typeface="Arial MT"/>
                <a:cs typeface="Arial MT"/>
              </a:rPr>
              <a:t>in</a:t>
            </a:r>
            <a:r>
              <a:rPr dirty="0" sz="3200" spc="-285">
                <a:latin typeface="Arial MT"/>
                <a:cs typeface="Arial MT"/>
              </a:rPr>
              <a:t> </a:t>
            </a:r>
            <a:r>
              <a:rPr dirty="0" sz="3200" spc="-385">
                <a:latin typeface="Arial MT"/>
                <a:cs typeface="Arial MT"/>
              </a:rPr>
              <a:t>RAM.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513" y="4054475"/>
            <a:ext cx="2933065" cy="130810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 marR="5080" indent="-635">
              <a:lnSpc>
                <a:spcPct val="85300"/>
              </a:lnSpc>
              <a:spcBef>
                <a:spcPts val="670"/>
              </a:spcBef>
            </a:pPr>
            <a:r>
              <a:rPr dirty="0" sz="3100" spc="-245">
                <a:latin typeface="Arial MT"/>
                <a:cs typeface="Arial MT"/>
              </a:rPr>
              <a:t>O(1)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Operations: </a:t>
            </a:r>
            <a:r>
              <a:rPr dirty="0" sz="3100" spc="-155">
                <a:latin typeface="Arial MT"/>
                <a:cs typeface="Arial MT"/>
              </a:rPr>
              <a:t>Highly</a:t>
            </a:r>
            <a:r>
              <a:rPr dirty="0" sz="3100" spc="-60">
                <a:latin typeface="Arial MT"/>
                <a:cs typeface="Arial MT"/>
              </a:rPr>
              <a:t> </a:t>
            </a:r>
            <a:r>
              <a:rPr dirty="0" sz="3100" spc="-40">
                <a:latin typeface="Arial MT"/>
                <a:cs typeface="Arial MT"/>
              </a:rPr>
              <a:t>optimized </a:t>
            </a:r>
            <a:r>
              <a:rPr dirty="0" sz="3100" spc="-125">
                <a:latin typeface="Arial MT"/>
                <a:cs typeface="Arial MT"/>
              </a:rPr>
              <a:t>algorithmic</a:t>
            </a:r>
            <a:r>
              <a:rPr dirty="0" sz="3100" spc="-70">
                <a:latin typeface="Arial MT"/>
                <a:cs typeface="Arial MT"/>
              </a:rPr>
              <a:t> </a:t>
            </a:r>
            <a:r>
              <a:rPr dirty="0" sz="3100" spc="-155">
                <a:latin typeface="Arial MT"/>
                <a:cs typeface="Arial MT"/>
              </a:rPr>
              <a:t>speed.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698" y="5875513"/>
            <a:ext cx="3723004" cy="1280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3370"/>
              </a:lnSpc>
              <a:spcBef>
                <a:spcPts val="135"/>
              </a:spcBef>
            </a:pPr>
            <a:r>
              <a:rPr dirty="0" sz="2950" spc="-40">
                <a:latin typeface="Arial MT"/>
                <a:cs typeface="Arial MT"/>
              </a:rPr>
              <a:t>Event</a:t>
            </a:r>
            <a:r>
              <a:rPr dirty="0" sz="2950" spc="-17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Loop:</a:t>
            </a:r>
            <a:endParaRPr sz="2950">
              <a:latin typeface="Arial MT"/>
              <a:cs typeface="Arial MT"/>
            </a:endParaRPr>
          </a:p>
          <a:p>
            <a:pPr marL="28575" marR="5080" indent="-3810">
              <a:lnSpc>
                <a:spcPts val="3100"/>
              </a:lnSpc>
              <a:spcBef>
                <a:spcPts val="300"/>
              </a:spcBef>
            </a:pPr>
            <a:r>
              <a:rPr dirty="0" sz="2950" spc="-50">
                <a:latin typeface="Arial MT"/>
                <a:cs typeface="Arial MT"/>
              </a:rPr>
              <a:t>Single-</a:t>
            </a:r>
            <a:r>
              <a:rPr dirty="0" sz="2950" spc="-55">
                <a:latin typeface="Arial MT"/>
                <a:cs typeface="Arial MT"/>
              </a:rPr>
              <a:t>threaded</a:t>
            </a:r>
            <a:r>
              <a:rPr dirty="0" sz="2950" spc="-130">
                <a:latin typeface="Arial MT"/>
                <a:cs typeface="Arial MT"/>
              </a:rPr>
              <a:t> </a:t>
            </a:r>
            <a:r>
              <a:rPr dirty="0" sz="2950" spc="-75">
                <a:latin typeface="Arial MT"/>
                <a:cs typeface="Arial MT"/>
              </a:rPr>
              <a:t>design </a:t>
            </a:r>
            <a:r>
              <a:rPr dirty="0" sz="2950" spc="-90">
                <a:latin typeface="Arial MT"/>
                <a:cs typeface="Arial MT"/>
              </a:rPr>
              <a:t>avoids</a:t>
            </a:r>
            <a:r>
              <a:rPr dirty="0" sz="2950" spc="-10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locking.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553" y="7647164"/>
            <a:ext cx="3705225" cy="128714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 indent="-635">
              <a:lnSpc>
                <a:spcPct val="89700"/>
              </a:lnSpc>
              <a:spcBef>
                <a:spcPts val="500"/>
              </a:spcBef>
            </a:pPr>
            <a:r>
              <a:rPr dirty="0" sz="2950">
                <a:latin typeface="Arial MT"/>
                <a:cs typeface="Arial MT"/>
              </a:rPr>
              <a:t>Microsecond</a:t>
            </a:r>
            <a:r>
              <a:rPr dirty="0" sz="2950" spc="7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Latency: </a:t>
            </a:r>
            <a:r>
              <a:rPr dirty="0" sz="2950" spc="-95">
                <a:latin typeface="Arial MT"/>
                <a:cs typeface="Arial MT"/>
              </a:rPr>
              <a:t>Bypasses</a:t>
            </a:r>
            <a:r>
              <a:rPr dirty="0" sz="2950" spc="-40">
                <a:latin typeface="Arial MT"/>
                <a:cs typeface="Arial MT"/>
              </a:rPr>
              <a:t> </a:t>
            </a:r>
            <a:r>
              <a:rPr dirty="0" sz="2950" spc="-85">
                <a:latin typeface="Arial MT"/>
                <a:cs typeface="Arial MT"/>
              </a:rPr>
              <a:t>disk</a:t>
            </a:r>
            <a:r>
              <a:rPr dirty="0" sz="2950" spc="-125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I/O </a:t>
            </a:r>
            <a:r>
              <a:rPr dirty="0" sz="2950" spc="-10">
                <a:latin typeface="Arial MT"/>
                <a:cs typeface="Arial MT"/>
              </a:rPr>
              <a:t>completely.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3180" y="4125383"/>
            <a:ext cx="230759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">
                <a:latin typeface="Arial MT"/>
                <a:cs typeface="Arial MT"/>
              </a:rPr>
              <a:t>Web</a:t>
            </a:r>
            <a:r>
              <a:rPr dirty="0" sz="2900" spc="-180">
                <a:latin typeface="Arial MT"/>
                <a:cs typeface="Arial MT"/>
              </a:rPr>
              <a:t> </a:t>
            </a:r>
            <a:r>
              <a:rPr dirty="0" sz="2900" spc="-45">
                <a:latin typeface="Arial MT"/>
                <a:cs typeface="Arial MT"/>
              </a:rPr>
              <a:t>Sessions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9357" y="8771114"/>
            <a:ext cx="244221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60">
                <a:latin typeface="Arial MT"/>
                <a:cs typeface="Arial MT"/>
              </a:rPr>
              <a:t>AI</a:t>
            </a:r>
            <a:r>
              <a:rPr dirty="0" sz="2950" spc="-45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Embeddings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91157" y="4110213"/>
            <a:ext cx="195643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>
                <a:latin typeface="Arial MT"/>
                <a:cs typeface="Arial MT"/>
              </a:rPr>
              <a:t>Mobile</a:t>
            </a:r>
            <a:r>
              <a:rPr dirty="0" sz="2950" spc="-25">
                <a:latin typeface="Arial MT"/>
                <a:cs typeface="Arial MT"/>
              </a:rPr>
              <a:t> </a:t>
            </a:r>
            <a:r>
              <a:rPr dirty="0" sz="2950" spc="-120">
                <a:latin typeface="Arial MT"/>
                <a:cs typeface="Arial MT"/>
              </a:rPr>
              <a:t>APIs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28850" y="8768644"/>
            <a:ext cx="127571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140">
                <a:latin typeface="Arial MT"/>
                <a:cs typeface="Arial MT"/>
              </a:rPr>
              <a:t>Gaming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00" y="6273800"/>
            <a:ext cx="16205200" cy="227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000" y="2374900"/>
            <a:ext cx="10312400" cy="20701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144500" y="628650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950" spc="-280">
                <a:latin typeface="Arial MT"/>
                <a:cs typeface="Arial MT"/>
              </a:rPr>
              <a:t>The</a:t>
            </a:r>
            <a:r>
              <a:rPr dirty="0" sz="5950" spc="-605">
                <a:latin typeface="Arial MT"/>
                <a:cs typeface="Arial MT"/>
              </a:rPr>
              <a:t> </a:t>
            </a:r>
            <a:r>
              <a:rPr dirty="0" sz="5950" spc="-195">
                <a:latin typeface="Arial MT"/>
                <a:cs typeface="Arial MT"/>
              </a:rPr>
              <a:t>Mechanics</a:t>
            </a:r>
            <a:r>
              <a:rPr dirty="0" sz="5950" spc="-210">
                <a:latin typeface="Arial MT"/>
                <a:cs typeface="Arial MT"/>
              </a:rPr>
              <a:t> </a:t>
            </a:r>
            <a:r>
              <a:rPr dirty="0" sz="5950" spc="-110">
                <a:latin typeface="Arial MT"/>
                <a:cs typeface="Arial MT"/>
              </a:rPr>
              <a:t>of</a:t>
            </a:r>
            <a:r>
              <a:rPr dirty="0" sz="5950" spc="-315">
                <a:latin typeface="Arial MT"/>
                <a:cs typeface="Arial MT"/>
              </a:rPr>
              <a:t> </a:t>
            </a:r>
            <a:r>
              <a:rPr dirty="0" sz="5950" spc="-365">
                <a:solidFill>
                  <a:srgbClr val="030303"/>
                </a:solidFill>
                <a:latin typeface="Arial MT"/>
                <a:cs typeface="Arial MT"/>
              </a:rPr>
              <a:t>a</a:t>
            </a:r>
            <a:r>
              <a:rPr dirty="0" sz="5950" spc="-64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5950" spc="-250">
                <a:latin typeface="Arial MT"/>
                <a:cs typeface="Arial MT"/>
              </a:rPr>
              <a:t>Request:</a:t>
            </a:r>
            <a:r>
              <a:rPr dirty="0" sz="5950" spc="-495">
                <a:latin typeface="Arial MT"/>
                <a:cs typeface="Arial MT"/>
              </a:rPr>
              <a:t> </a:t>
            </a:r>
            <a:r>
              <a:rPr dirty="0" sz="5950" spc="-85">
                <a:latin typeface="Arial MT"/>
                <a:cs typeface="Arial MT"/>
              </a:rPr>
              <a:t>Hits</a:t>
            </a:r>
            <a:r>
              <a:rPr dirty="0" sz="5950" spc="-545">
                <a:latin typeface="Arial MT"/>
                <a:cs typeface="Arial MT"/>
              </a:rPr>
              <a:t> </a:t>
            </a:r>
            <a:r>
              <a:rPr dirty="0" sz="5950" spc="-210">
                <a:latin typeface="Arial MT"/>
                <a:cs typeface="Arial MT"/>
              </a:rPr>
              <a:t>and</a:t>
            </a:r>
            <a:r>
              <a:rPr dirty="0" sz="5950" spc="-730">
                <a:latin typeface="Arial MT"/>
                <a:cs typeface="Arial MT"/>
              </a:rPr>
              <a:t> </a:t>
            </a:r>
            <a:r>
              <a:rPr dirty="0" sz="5950" spc="-120">
                <a:latin typeface="Arial MT"/>
                <a:cs typeface="Arial MT"/>
              </a:rPr>
              <a:t>Misses</a:t>
            </a:r>
            <a:endParaRPr sz="595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5586" y="1618897"/>
            <a:ext cx="553593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20">
                <a:latin typeface="Arial MT"/>
                <a:cs typeface="Arial MT"/>
              </a:rPr>
              <a:t>Scenario</a:t>
            </a:r>
            <a:r>
              <a:rPr dirty="0" sz="3400" spc="-25">
                <a:latin typeface="Arial MT"/>
                <a:cs typeface="Arial MT"/>
              </a:rPr>
              <a:t> </a:t>
            </a:r>
            <a:r>
              <a:rPr dirty="0" sz="3400" spc="-105">
                <a:latin typeface="Arial MT"/>
                <a:cs typeface="Arial MT"/>
              </a:rPr>
              <a:t>A:</a:t>
            </a:r>
            <a:r>
              <a:rPr dirty="0" sz="3400" spc="-440">
                <a:latin typeface="Arial MT"/>
                <a:cs typeface="Arial MT"/>
              </a:rPr>
              <a:t> </a:t>
            </a:r>
            <a:r>
              <a:rPr dirty="0" sz="3400" spc="-170">
                <a:latin typeface="Arial MT"/>
                <a:cs typeface="Arial MT"/>
              </a:rPr>
              <a:t>Cache</a:t>
            </a:r>
            <a:r>
              <a:rPr dirty="0" sz="3400" spc="-195">
                <a:latin typeface="Arial MT"/>
                <a:cs typeface="Arial MT"/>
              </a:rPr>
              <a:t> </a:t>
            </a:r>
            <a:r>
              <a:rPr dirty="0" sz="3400" spc="-10">
                <a:latin typeface="Arial MT"/>
                <a:cs typeface="Arial MT"/>
              </a:rPr>
              <a:t>Hit</a:t>
            </a:r>
            <a:r>
              <a:rPr dirty="0" sz="3400" spc="-220">
                <a:latin typeface="Arial MT"/>
                <a:cs typeface="Arial MT"/>
              </a:rPr>
              <a:t> </a:t>
            </a:r>
            <a:r>
              <a:rPr dirty="0" sz="3400" spc="-65">
                <a:latin typeface="Arial MT"/>
                <a:cs typeface="Arial MT"/>
              </a:rPr>
              <a:t>(Instant)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665" y="4619977"/>
            <a:ext cx="7931150" cy="14801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>
                <a:latin typeface="Calibri"/>
                <a:cs typeface="Calibri"/>
              </a:rPr>
              <a:t>Data</a:t>
            </a:r>
            <a:r>
              <a:rPr dirty="0" sz="3450" spc="-20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exists</a:t>
            </a:r>
            <a:r>
              <a:rPr dirty="0" sz="3450" spc="-100">
                <a:latin typeface="Calibri"/>
                <a:cs typeface="Calibri"/>
              </a:rPr>
              <a:t> </a:t>
            </a:r>
            <a:r>
              <a:rPr dirty="0" sz="3450" spc="-50">
                <a:latin typeface="Calibri"/>
                <a:cs typeface="Calibri"/>
              </a:rPr>
              <a:t>in</a:t>
            </a:r>
            <a:r>
              <a:rPr dirty="0" sz="3450" spc="-145">
                <a:latin typeface="Calibri"/>
                <a:cs typeface="Calibri"/>
              </a:rPr>
              <a:t> </a:t>
            </a:r>
            <a:r>
              <a:rPr dirty="0" sz="3450" spc="-105">
                <a:latin typeface="Calibri"/>
                <a:cs typeface="Calibri"/>
              </a:rPr>
              <a:t>memory.</a:t>
            </a:r>
            <a:r>
              <a:rPr dirty="0" sz="3450" spc="-15">
                <a:latin typeface="Calibri"/>
                <a:cs typeface="Calibri"/>
              </a:rPr>
              <a:t> </a:t>
            </a:r>
            <a:r>
              <a:rPr dirty="0" sz="3450" spc="-85">
                <a:latin typeface="Calibri"/>
                <a:cs typeface="Calibri"/>
              </a:rPr>
              <a:t>Returned</a:t>
            </a:r>
            <a:r>
              <a:rPr dirty="0" sz="3450" spc="-40">
                <a:latin typeface="Calibri"/>
                <a:cs typeface="Calibri"/>
              </a:rPr>
              <a:t> </a:t>
            </a:r>
            <a:r>
              <a:rPr dirty="0" sz="3450" spc="-65">
                <a:latin typeface="Calibri"/>
                <a:cs typeface="Calibri"/>
              </a:rPr>
              <a:t>immediately.</a:t>
            </a:r>
            <a:endParaRPr sz="34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3210"/>
              </a:spcBef>
            </a:pPr>
            <a:r>
              <a:rPr dirty="0" sz="3400" spc="-145">
                <a:latin typeface="Arial MT"/>
                <a:cs typeface="Arial MT"/>
              </a:rPr>
              <a:t>Scenario</a:t>
            </a:r>
            <a:r>
              <a:rPr dirty="0" sz="3400" spc="-80">
                <a:latin typeface="Arial MT"/>
                <a:cs typeface="Arial MT"/>
              </a:rPr>
              <a:t> </a:t>
            </a:r>
            <a:r>
              <a:rPr dirty="0" sz="3400" spc="-140">
                <a:latin typeface="Arial MT"/>
                <a:cs typeface="Arial MT"/>
              </a:rPr>
              <a:t>B:</a:t>
            </a:r>
            <a:r>
              <a:rPr dirty="0" sz="3400" spc="-420">
                <a:latin typeface="Arial MT"/>
                <a:cs typeface="Arial MT"/>
              </a:rPr>
              <a:t> </a:t>
            </a:r>
            <a:r>
              <a:rPr dirty="0" sz="3400" spc="-170">
                <a:latin typeface="Arial MT"/>
                <a:cs typeface="Arial MT"/>
              </a:rPr>
              <a:t>Cache</a:t>
            </a:r>
            <a:r>
              <a:rPr dirty="0" sz="3400" spc="-160">
                <a:latin typeface="Arial MT"/>
                <a:cs typeface="Arial MT"/>
              </a:rPr>
              <a:t> </a:t>
            </a:r>
            <a:r>
              <a:rPr dirty="0" sz="3400" spc="-55">
                <a:latin typeface="Arial MT"/>
                <a:cs typeface="Arial MT"/>
              </a:rPr>
              <a:t>Miss</a:t>
            </a:r>
            <a:r>
              <a:rPr dirty="0" sz="3400" spc="-100">
                <a:latin typeface="Arial MT"/>
                <a:cs typeface="Arial MT"/>
              </a:rPr>
              <a:t> </a:t>
            </a:r>
            <a:r>
              <a:rPr dirty="0" sz="3400" spc="-130">
                <a:latin typeface="Arial MT"/>
                <a:cs typeface="Arial MT"/>
              </a:rPr>
              <a:t>(The</a:t>
            </a:r>
            <a:r>
              <a:rPr dirty="0" sz="3400" spc="-210">
                <a:latin typeface="Arial MT"/>
                <a:cs typeface="Arial MT"/>
              </a:rPr>
              <a:t> </a:t>
            </a:r>
            <a:r>
              <a:rPr dirty="0" sz="3400" spc="-20">
                <a:latin typeface="Arial MT"/>
                <a:cs typeface="Arial MT"/>
              </a:rPr>
              <a:t>Tax)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803" y="7655277"/>
            <a:ext cx="16231235" cy="1585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9851390">
              <a:lnSpc>
                <a:spcPct val="100000"/>
              </a:lnSpc>
              <a:spcBef>
                <a:spcPts val="120"/>
              </a:spcBef>
            </a:pPr>
            <a:r>
              <a:rPr dirty="0" sz="3450" spc="-20">
                <a:latin typeface="Calibri"/>
                <a:cs typeface="Calibri"/>
              </a:rPr>
              <a:t>Store</a:t>
            </a:r>
            <a:r>
              <a:rPr dirty="0" sz="3450" spc="-130">
                <a:latin typeface="Calibri"/>
                <a:cs typeface="Calibri"/>
              </a:rPr>
              <a:t> </a:t>
            </a:r>
            <a:r>
              <a:rPr dirty="0" sz="3450" spc="-100">
                <a:latin typeface="Calibri"/>
                <a:cs typeface="Calibri"/>
              </a:rPr>
              <a:t>for</a:t>
            </a:r>
            <a:r>
              <a:rPr dirty="0" sz="3450" spc="-90">
                <a:latin typeface="Calibri"/>
                <a:cs typeface="Calibri"/>
              </a:rPr>
              <a:t> </a:t>
            </a:r>
            <a:r>
              <a:rPr dirty="0" sz="3450" spc="-45">
                <a:latin typeface="Calibri"/>
                <a:cs typeface="Calibri"/>
              </a:rPr>
              <a:t>next</a:t>
            </a:r>
            <a:r>
              <a:rPr dirty="0" sz="3450" spc="-150">
                <a:latin typeface="Calibri"/>
                <a:cs typeface="Calibri"/>
              </a:rPr>
              <a:t> </a:t>
            </a:r>
            <a:r>
              <a:rPr dirty="0" sz="3450" spc="-20">
                <a:latin typeface="Calibri"/>
                <a:cs typeface="Calibri"/>
              </a:rPr>
              <a:t>time</a:t>
            </a:r>
            <a:endParaRPr sz="3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60"/>
              </a:spcBef>
            </a:pPr>
            <a:r>
              <a:rPr dirty="0" sz="3550" spc="-220">
                <a:latin typeface="Arial MT"/>
                <a:cs typeface="Arial MT"/>
              </a:rPr>
              <a:t>First</a:t>
            </a:r>
            <a:r>
              <a:rPr dirty="0" sz="3550" spc="-20">
                <a:latin typeface="Arial MT"/>
                <a:cs typeface="Arial MT"/>
              </a:rPr>
              <a:t> </a:t>
            </a:r>
            <a:r>
              <a:rPr dirty="0" sz="3550" spc="-260">
                <a:latin typeface="Arial MT"/>
                <a:cs typeface="Arial MT"/>
              </a:rPr>
              <a:t>request</a:t>
            </a:r>
            <a:r>
              <a:rPr dirty="0" sz="3550" spc="85">
                <a:latin typeface="Arial MT"/>
                <a:cs typeface="Arial MT"/>
              </a:rPr>
              <a:t> </a:t>
            </a:r>
            <a:r>
              <a:rPr dirty="0" sz="3550" spc="-204">
                <a:latin typeface="Arial MT"/>
                <a:cs typeface="Arial MT"/>
              </a:rPr>
              <a:t>is</a:t>
            </a:r>
            <a:r>
              <a:rPr dirty="0" sz="3550" spc="-114">
                <a:latin typeface="Arial MT"/>
                <a:cs typeface="Arial MT"/>
              </a:rPr>
              <a:t> </a:t>
            </a:r>
            <a:r>
              <a:rPr dirty="0" sz="3550" spc="-280">
                <a:latin typeface="Arial MT"/>
                <a:cs typeface="Arial MT"/>
              </a:rPr>
              <a:t>slow.</a:t>
            </a:r>
            <a:r>
              <a:rPr dirty="0" sz="3550" spc="-204">
                <a:latin typeface="Arial MT"/>
                <a:cs typeface="Arial MT"/>
              </a:rPr>
              <a:t> </a:t>
            </a:r>
            <a:r>
              <a:rPr dirty="0" sz="3550" spc="-325">
                <a:latin typeface="Arial MT"/>
                <a:cs typeface="Arial MT"/>
              </a:rPr>
              <a:t>Data</a:t>
            </a:r>
            <a:r>
              <a:rPr dirty="0" sz="3550" spc="-114">
                <a:latin typeface="Arial MT"/>
                <a:cs typeface="Arial MT"/>
              </a:rPr>
              <a:t> </a:t>
            </a:r>
            <a:r>
              <a:rPr dirty="0" sz="3550" spc="-150">
                <a:latin typeface="Arial MT"/>
                <a:cs typeface="Arial MT"/>
              </a:rPr>
              <a:t>is</a:t>
            </a:r>
            <a:r>
              <a:rPr dirty="0" sz="3550" spc="-175">
                <a:latin typeface="Arial MT"/>
                <a:cs typeface="Arial MT"/>
              </a:rPr>
              <a:t> </a:t>
            </a:r>
            <a:r>
              <a:rPr dirty="0" sz="3550" spc="-204">
                <a:latin typeface="Arial MT"/>
                <a:cs typeface="Arial MT"/>
              </a:rPr>
              <a:t>fetched</a:t>
            </a:r>
            <a:r>
              <a:rPr dirty="0" sz="3550">
                <a:latin typeface="Arial MT"/>
                <a:cs typeface="Arial MT"/>
              </a:rPr>
              <a:t> </a:t>
            </a:r>
            <a:r>
              <a:rPr dirty="0" sz="3550" spc="-220">
                <a:latin typeface="Arial MT"/>
                <a:cs typeface="Arial MT"/>
              </a:rPr>
              <a:t>from</a:t>
            </a:r>
            <a:r>
              <a:rPr dirty="0" sz="3550" spc="-215">
                <a:latin typeface="Arial MT"/>
                <a:cs typeface="Arial MT"/>
              </a:rPr>
              <a:t> </a:t>
            </a:r>
            <a:r>
              <a:rPr dirty="0" sz="3550" spc="-400">
                <a:latin typeface="Arial MT"/>
                <a:cs typeface="Arial MT"/>
              </a:rPr>
              <a:t>DB,</a:t>
            </a:r>
            <a:r>
              <a:rPr dirty="0" sz="3550" spc="-80">
                <a:latin typeface="Arial MT"/>
                <a:cs typeface="Arial MT"/>
              </a:rPr>
              <a:t> </a:t>
            </a:r>
            <a:r>
              <a:rPr dirty="0" sz="3550" spc="-225">
                <a:latin typeface="Arial MT"/>
                <a:cs typeface="Arial MT"/>
              </a:rPr>
              <a:t>stored</a:t>
            </a:r>
            <a:r>
              <a:rPr dirty="0" sz="3550" spc="-160">
                <a:latin typeface="Arial MT"/>
                <a:cs typeface="Arial MT"/>
              </a:rPr>
              <a:t> in</a:t>
            </a:r>
            <a:r>
              <a:rPr dirty="0" sz="3550" spc="-150">
                <a:latin typeface="Arial MT"/>
                <a:cs typeface="Arial MT"/>
              </a:rPr>
              <a:t> </a:t>
            </a:r>
            <a:r>
              <a:rPr dirty="0" sz="3550" spc="-270">
                <a:latin typeface="Arial MT"/>
                <a:cs typeface="Arial MT"/>
              </a:rPr>
              <a:t>cache,</a:t>
            </a:r>
            <a:r>
              <a:rPr dirty="0" sz="3550" spc="-125">
                <a:latin typeface="Arial MT"/>
                <a:cs typeface="Arial MT"/>
              </a:rPr>
              <a:t> </a:t>
            </a:r>
            <a:r>
              <a:rPr dirty="0" sz="3550" spc="-295">
                <a:latin typeface="Arial MT"/>
                <a:cs typeface="Arial MT"/>
              </a:rPr>
              <a:t>making</a:t>
            </a:r>
            <a:r>
              <a:rPr dirty="0" sz="3550" spc="20">
                <a:latin typeface="Arial MT"/>
                <a:cs typeface="Arial MT"/>
              </a:rPr>
              <a:t> </a:t>
            </a:r>
            <a:r>
              <a:rPr dirty="0" sz="3550" spc="-220">
                <a:latin typeface="Arial MT"/>
                <a:cs typeface="Arial MT"/>
              </a:rPr>
              <a:t>all </a:t>
            </a:r>
            <a:r>
              <a:rPr dirty="0" sz="3550" spc="-195">
                <a:latin typeface="Arial MT"/>
                <a:cs typeface="Arial MT"/>
              </a:rPr>
              <a:t>future</a:t>
            </a:r>
            <a:r>
              <a:rPr dirty="0" sz="3550" spc="-120">
                <a:latin typeface="Arial MT"/>
                <a:cs typeface="Arial MT"/>
              </a:rPr>
              <a:t> </a:t>
            </a:r>
            <a:r>
              <a:rPr dirty="0" sz="3550" spc="-240">
                <a:latin typeface="Arial MT"/>
                <a:cs typeface="Arial MT"/>
              </a:rPr>
              <a:t>requests</a:t>
            </a:r>
            <a:r>
              <a:rPr dirty="0" sz="3550" spc="10">
                <a:latin typeface="Arial MT"/>
                <a:cs typeface="Arial MT"/>
              </a:rPr>
              <a:t> </a:t>
            </a:r>
            <a:r>
              <a:rPr dirty="0" sz="3550" spc="-10">
                <a:latin typeface="Arial MT"/>
                <a:cs typeface="Arial MT"/>
              </a:rPr>
              <a:t>fast.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700" y="2832100"/>
            <a:ext cx="3009900" cy="5905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7800" y="2832100"/>
            <a:ext cx="3022600" cy="590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3600" y="2832100"/>
            <a:ext cx="3022600" cy="590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400" y="2819400"/>
            <a:ext cx="3022600" cy="5918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77900" y="2832100"/>
            <a:ext cx="3009900" cy="59055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64625" y="436423"/>
            <a:ext cx="15309215" cy="1880870"/>
          </a:xfrm>
          <a:prstGeom prst="rect"/>
        </p:spPr>
        <p:txBody>
          <a:bodyPr wrap="square" lIns="0" tIns="1790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  <a:tabLst>
                <a:tab pos="9396095" algn="l"/>
              </a:tabLst>
            </a:pPr>
            <a:r>
              <a:rPr dirty="0" sz="6450" spc="-300">
                <a:latin typeface="Arial MT"/>
                <a:cs typeface="Arial MT"/>
              </a:rPr>
              <a:t>Matching</a:t>
            </a:r>
            <a:r>
              <a:rPr dirty="0" sz="6450" spc="-40">
                <a:latin typeface="Arial MT"/>
                <a:cs typeface="Arial MT"/>
              </a:rPr>
              <a:t> </a:t>
            </a:r>
            <a:r>
              <a:rPr dirty="0" sz="6450" spc="-484">
                <a:latin typeface="Arial MT"/>
                <a:cs typeface="Arial MT"/>
              </a:rPr>
              <a:t>Data</a:t>
            </a:r>
            <a:r>
              <a:rPr dirty="0" sz="6450" spc="-305">
                <a:latin typeface="Arial MT"/>
                <a:cs typeface="Arial MT"/>
              </a:rPr>
              <a:t> </a:t>
            </a:r>
            <a:r>
              <a:rPr dirty="0" sz="6450" spc="-275">
                <a:latin typeface="Arial MT"/>
                <a:cs typeface="Arial MT"/>
              </a:rPr>
              <a:t>Structures</a:t>
            </a:r>
            <a:r>
              <a:rPr dirty="0" sz="6450">
                <a:latin typeface="Arial MT"/>
                <a:cs typeface="Arial MT"/>
              </a:rPr>
              <a:t>	</a:t>
            </a:r>
            <a:r>
              <a:rPr dirty="0" sz="6450" spc="-265">
                <a:latin typeface="Arial MT"/>
                <a:cs typeface="Arial MT"/>
              </a:rPr>
              <a:t>Application</a:t>
            </a:r>
            <a:r>
              <a:rPr dirty="0" sz="6450" spc="-125">
                <a:latin typeface="Arial MT"/>
                <a:cs typeface="Arial MT"/>
              </a:rPr>
              <a:t> </a:t>
            </a:r>
            <a:r>
              <a:rPr dirty="0" sz="6450" spc="-535">
                <a:latin typeface="Arial MT"/>
                <a:cs typeface="Arial MT"/>
              </a:rPr>
              <a:t>Needs</a:t>
            </a:r>
            <a:endParaRPr sz="64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810"/>
              </a:spcBef>
            </a:pPr>
            <a:r>
              <a:rPr dirty="0" sz="3950" spc="-405">
                <a:latin typeface="Arial MT"/>
                <a:cs typeface="Arial MT"/>
              </a:rPr>
              <a:t>Redis</a:t>
            </a:r>
            <a:r>
              <a:rPr dirty="0" sz="3950" spc="-140">
                <a:latin typeface="Arial MT"/>
                <a:cs typeface="Arial MT"/>
              </a:rPr>
              <a:t> </a:t>
            </a:r>
            <a:r>
              <a:rPr dirty="0" sz="3950" spc="-180">
                <a:latin typeface="Arial MT"/>
                <a:cs typeface="Arial MT"/>
              </a:rPr>
              <a:t>is</a:t>
            </a:r>
            <a:r>
              <a:rPr dirty="0" sz="3950" spc="-185">
                <a:latin typeface="Arial MT"/>
                <a:cs typeface="Arial MT"/>
              </a:rPr>
              <a:t> </a:t>
            </a:r>
            <a:r>
              <a:rPr dirty="0" sz="3950" spc="-425">
                <a:latin typeface="Arial MT"/>
                <a:cs typeface="Arial MT"/>
              </a:rPr>
              <a:t>an</a:t>
            </a:r>
            <a:r>
              <a:rPr dirty="0" sz="3950" spc="-170">
                <a:latin typeface="Arial MT"/>
                <a:cs typeface="Arial MT"/>
              </a:rPr>
              <a:t> </a:t>
            </a:r>
            <a:r>
              <a:rPr dirty="0" sz="3950" spc="-240">
                <a:latin typeface="Arial MT"/>
                <a:cs typeface="Arial MT"/>
              </a:rPr>
              <a:t>in-</a:t>
            </a:r>
            <a:r>
              <a:rPr dirty="0" sz="3950" spc="-385">
                <a:latin typeface="Arial MT"/>
                <a:cs typeface="Arial MT"/>
              </a:rPr>
              <a:t>memory</a:t>
            </a:r>
            <a:r>
              <a:rPr dirty="0" sz="3950" spc="240">
                <a:latin typeface="Arial MT"/>
                <a:cs typeface="Arial MT"/>
              </a:rPr>
              <a:t> </a:t>
            </a:r>
            <a:r>
              <a:rPr dirty="0" sz="3950" spc="-335">
                <a:latin typeface="Arial MT"/>
                <a:cs typeface="Arial MT"/>
              </a:rPr>
              <a:t>data</a:t>
            </a:r>
            <a:r>
              <a:rPr dirty="0" sz="3950" spc="-70">
                <a:latin typeface="Arial MT"/>
                <a:cs typeface="Arial MT"/>
              </a:rPr>
              <a:t> </a:t>
            </a:r>
            <a:r>
              <a:rPr dirty="0" sz="3950" spc="-225">
                <a:latin typeface="Arial MT"/>
                <a:cs typeface="Arial MT"/>
              </a:rPr>
              <a:t>structure</a:t>
            </a:r>
            <a:r>
              <a:rPr dirty="0" sz="3950" spc="25">
                <a:latin typeface="Arial MT"/>
                <a:cs typeface="Arial MT"/>
              </a:rPr>
              <a:t> </a:t>
            </a:r>
            <a:r>
              <a:rPr dirty="0" sz="3950" spc="-335">
                <a:latin typeface="Arial MT"/>
                <a:cs typeface="Arial MT"/>
              </a:rPr>
              <a:t>server,</a:t>
            </a:r>
            <a:r>
              <a:rPr dirty="0" sz="3950" spc="-110">
                <a:latin typeface="Arial MT"/>
                <a:cs typeface="Arial MT"/>
              </a:rPr>
              <a:t> </a:t>
            </a:r>
            <a:r>
              <a:rPr dirty="0" sz="3950" spc="-260">
                <a:latin typeface="Arial MT"/>
                <a:cs typeface="Arial MT"/>
              </a:rPr>
              <a:t>not</a:t>
            </a:r>
            <a:r>
              <a:rPr dirty="0" sz="3950" spc="30">
                <a:latin typeface="Arial MT"/>
                <a:cs typeface="Arial MT"/>
              </a:rPr>
              <a:t> </a:t>
            </a:r>
            <a:r>
              <a:rPr dirty="0" sz="3950" spc="-240">
                <a:latin typeface="Arial MT"/>
                <a:cs typeface="Arial MT"/>
              </a:rPr>
              <a:t>just</a:t>
            </a:r>
            <a:r>
              <a:rPr dirty="0" sz="3950" spc="-140">
                <a:latin typeface="Arial MT"/>
                <a:cs typeface="Arial MT"/>
              </a:rPr>
              <a:t> </a:t>
            </a:r>
            <a:r>
              <a:rPr dirty="0" sz="3950" spc="-509">
                <a:latin typeface="Arial MT"/>
                <a:cs typeface="Arial MT"/>
              </a:rPr>
              <a:t>a</a:t>
            </a:r>
            <a:r>
              <a:rPr dirty="0" sz="3950" spc="-160">
                <a:latin typeface="Arial MT"/>
                <a:cs typeface="Arial MT"/>
              </a:rPr>
              <a:t> </a:t>
            </a:r>
            <a:r>
              <a:rPr dirty="0" sz="3950" spc="-290">
                <a:latin typeface="Arial MT"/>
                <a:cs typeface="Arial MT"/>
              </a:rPr>
              <a:t>simple</a:t>
            </a:r>
            <a:r>
              <a:rPr dirty="0" sz="3950" spc="-50">
                <a:latin typeface="Arial MT"/>
                <a:cs typeface="Arial MT"/>
              </a:rPr>
              <a:t> </a:t>
            </a:r>
            <a:r>
              <a:rPr dirty="0" sz="3950" spc="-345">
                <a:latin typeface="Arial MT"/>
                <a:cs typeface="Arial MT"/>
              </a:rPr>
              <a:t>key-value</a:t>
            </a:r>
            <a:r>
              <a:rPr dirty="0" sz="3950" spc="170">
                <a:latin typeface="Arial MT"/>
                <a:cs typeface="Arial MT"/>
              </a:rPr>
              <a:t> </a:t>
            </a:r>
            <a:r>
              <a:rPr dirty="0" sz="3950" spc="-280">
                <a:latin typeface="Arial MT"/>
                <a:cs typeface="Arial MT"/>
              </a:rPr>
              <a:t>store.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4833" y="4618006"/>
            <a:ext cx="1844039" cy="2086610"/>
          </a:xfrm>
          <a:prstGeom prst="rect">
            <a:avLst/>
          </a:prstGeom>
        </p:spPr>
        <p:txBody>
          <a:bodyPr wrap="square" lIns="0" tIns="34099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2685"/>
              </a:spcBef>
            </a:pPr>
            <a:r>
              <a:rPr dirty="0" sz="3650" spc="-575">
                <a:latin typeface="Arial MT"/>
                <a:cs typeface="Arial MT"/>
              </a:rPr>
              <a:t>STRINGS</a:t>
            </a:r>
            <a:endParaRPr sz="3650">
              <a:latin typeface="Arial MT"/>
              <a:cs typeface="Arial MT"/>
            </a:endParaRPr>
          </a:p>
          <a:p>
            <a:pPr marL="19685" marR="5080" indent="-7620">
              <a:lnSpc>
                <a:spcPts val="3200"/>
              </a:lnSpc>
              <a:spcBef>
                <a:spcPts val="2860"/>
              </a:spcBef>
            </a:pPr>
            <a:r>
              <a:rPr dirty="0" sz="3200" spc="-75">
                <a:latin typeface="Calibri"/>
                <a:cs typeface="Calibri"/>
              </a:rPr>
              <a:t>Simple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key-</a:t>
            </a:r>
            <a:r>
              <a:rPr dirty="0" sz="3200" spc="-75">
                <a:latin typeface="Calibri"/>
                <a:cs typeface="Calibri"/>
              </a:rPr>
              <a:t>value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pairs.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9197" y="4592330"/>
            <a:ext cx="1788795" cy="2110105"/>
          </a:xfrm>
          <a:prstGeom prst="rect">
            <a:avLst/>
          </a:prstGeom>
        </p:spPr>
        <p:txBody>
          <a:bodyPr wrap="square" lIns="0" tIns="347980" rIns="0" bIns="0" rtlCol="0" vert="horz">
            <a:spAutoFit/>
          </a:bodyPr>
          <a:lstStyle/>
          <a:p>
            <a:pPr algn="ctr" marL="26034">
              <a:lnSpc>
                <a:spcPct val="100000"/>
              </a:lnSpc>
              <a:spcBef>
                <a:spcPts val="2740"/>
              </a:spcBef>
            </a:pPr>
            <a:r>
              <a:rPr dirty="0" sz="3800" spc="-10">
                <a:latin typeface="Calibri"/>
                <a:cs typeface="Calibri"/>
              </a:rPr>
              <a:t>LISTS</a:t>
            </a:r>
            <a:endParaRPr sz="3800">
              <a:latin typeface="Calibri"/>
              <a:cs typeface="Calibri"/>
            </a:endParaRPr>
          </a:p>
          <a:p>
            <a:pPr algn="ctr" marL="11430">
              <a:lnSpc>
                <a:spcPts val="3570"/>
              </a:lnSpc>
              <a:spcBef>
                <a:spcPts val="2190"/>
              </a:spcBef>
            </a:pPr>
            <a:r>
              <a:rPr dirty="0" sz="3200" spc="-285">
                <a:latin typeface="Arial MT"/>
                <a:cs typeface="Arial MT"/>
              </a:rPr>
              <a:t>Ordered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ts val="3450"/>
              </a:lnSpc>
            </a:pPr>
            <a:r>
              <a:rPr dirty="0" sz="3100" spc="-114">
                <a:latin typeface="Arial MT"/>
                <a:cs typeface="Arial MT"/>
              </a:rPr>
              <a:t>collections.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2782" y="4630959"/>
            <a:ext cx="1637030" cy="2479675"/>
          </a:xfrm>
          <a:prstGeom prst="rect">
            <a:avLst/>
          </a:prstGeom>
        </p:spPr>
        <p:txBody>
          <a:bodyPr wrap="square" lIns="0" tIns="334645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2635"/>
              </a:spcBef>
            </a:pPr>
            <a:r>
              <a:rPr dirty="0" sz="3600" spc="75">
                <a:latin typeface="Calibri"/>
                <a:cs typeface="Calibri"/>
              </a:rPr>
              <a:t>SETS</a:t>
            </a:r>
            <a:endParaRPr sz="3600">
              <a:latin typeface="Calibri"/>
              <a:cs typeface="Calibri"/>
            </a:endParaRPr>
          </a:p>
          <a:p>
            <a:pPr algn="ctr" marL="12065" marR="5080" indent="10795">
              <a:lnSpc>
                <a:spcPts val="3200"/>
              </a:lnSpc>
              <a:spcBef>
                <a:spcPts val="2870"/>
              </a:spcBef>
            </a:pPr>
            <a:r>
              <a:rPr dirty="0" sz="3200" spc="-10">
                <a:latin typeface="Calibri"/>
                <a:cs typeface="Calibri"/>
              </a:rPr>
              <a:t>Unique </a:t>
            </a:r>
            <a:r>
              <a:rPr dirty="0" sz="3200" spc="-140">
                <a:latin typeface="Calibri"/>
                <a:cs typeface="Calibri"/>
              </a:rPr>
              <a:t>unordered </a:t>
            </a:r>
            <a:r>
              <a:rPr dirty="0" sz="3200" spc="-10">
                <a:latin typeface="Calibri"/>
                <a:cs typeface="Calibri"/>
              </a:rPr>
              <a:t>values.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51992" y="4630959"/>
            <a:ext cx="2366010" cy="2073275"/>
          </a:xfrm>
          <a:prstGeom prst="rect">
            <a:avLst/>
          </a:prstGeom>
        </p:spPr>
        <p:txBody>
          <a:bodyPr wrap="square" lIns="0" tIns="33464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2635"/>
              </a:spcBef>
            </a:pPr>
            <a:r>
              <a:rPr dirty="0" sz="3600" spc="-10">
                <a:latin typeface="Calibri"/>
                <a:cs typeface="Calibri"/>
              </a:rPr>
              <a:t>HASHES</a:t>
            </a:r>
            <a:endParaRPr sz="3600">
              <a:latin typeface="Calibri"/>
              <a:cs typeface="Calibri"/>
            </a:endParaRPr>
          </a:p>
          <a:p>
            <a:pPr algn="ctr" marL="12700" marR="5080" indent="13970">
              <a:lnSpc>
                <a:spcPts val="3200"/>
              </a:lnSpc>
              <a:spcBef>
                <a:spcPts val="2870"/>
              </a:spcBef>
            </a:pPr>
            <a:r>
              <a:rPr dirty="0" sz="3200" spc="-75">
                <a:latin typeface="Calibri"/>
                <a:cs typeface="Calibri"/>
              </a:rPr>
              <a:t>Objects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with </a:t>
            </a:r>
            <a:r>
              <a:rPr dirty="0" sz="3200" spc="-85">
                <a:latin typeface="Calibri"/>
                <a:cs typeface="Calibri"/>
              </a:rPr>
              <a:t>mapped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fields.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16000" y="4630959"/>
            <a:ext cx="2516505" cy="2479675"/>
          </a:xfrm>
          <a:prstGeom prst="rect">
            <a:avLst/>
          </a:prstGeom>
        </p:spPr>
        <p:txBody>
          <a:bodyPr wrap="square" lIns="0" tIns="3346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35"/>
              </a:spcBef>
            </a:pPr>
            <a:r>
              <a:rPr dirty="0" sz="3600" spc="-20">
                <a:latin typeface="Calibri"/>
                <a:cs typeface="Calibri"/>
              </a:rPr>
              <a:t>SORTED</a:t>
            </a:r>
            <a:r>
              <a:rPr dirty="0" sz="3600" spc="-175">
                <a:latin typeface="Calibri"/>
                <a:cs typeface="Calibri"/>
              </a:rPr>
              <a:t> </a:t>
            </a:r>
            <a:r>
              <a:rPr dirty="0" sz="3600" spc="90">
                <a:latin typeface="Calibri"/>
                <a:cs typeface="Calibri"/>
              </a:rPr>
              <a:t>SETS</a:t>
            </a:r>
            <a:endParaRPr sz="3600">
              <a:latin typeface="Calibri"/>
              <a:cs typeface="Calibri"/>
            </a:endParaRPr>
          </a:p>
          <a:p>
            <a:pPr algn="ctr" marL="72390" marR="97155">
              <a:lnSpc>
                <a:spcPts val="3200"/>
              </a:lnSpc>
              <a:spcBef>
                <a:spcPts val="2870"/>
              </a:spcBef>
            </a:pPr>
            <a:r>
              <a:rPr dirty="0" sz="3200" spc="-75">
                <a:latin typeface="Calibri"/>
                <a:cs typeface="Calibri"/>
              </a:rPr>
              <a:t>Values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35">
                <a:latin typeface="Calibri"/>
                <a:cs typeface="Calibri"/>
              </a:rPr>
              <a:t>ordered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dynamic score.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2857500"/>
            <a:ext cx="4813300" cy="335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7300" y="2870200"/>
            <a:ext cx="4826000" cy="3327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6100" y="2870200"/>
            <a:ext cx="4826000" cy="33274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z="5000" spc="150">
                <a:latin typeface="Arial MT"/>
                <a:cs typeface="Arial MT"/>
              </a:rPr>
              <a:t>Strategic</a:t>
            </a:r>
            <a:r>
              <a:rPr dirty="0" sz="5000" spc="-135">
                <a:latin typeface="Arial MT"/>
                <a:cs typeface="Arial MT"/>
              </a:rPr>
              <a:t> </a:t>
            </a:r>
            <a:r>
              <a:rPr dirty="0" sz="5000" spc="135">
                <a:latin typeface="Arial MT"/>
                <a:cs typeface="Arial MT"/>
              </a:rPr>
              <a:t>Pathways</a:t>
            </a:r>
            <a:r>
              <a:rPr dirty="0" sz="5000" spc="-80">
                <a:latin typeface="Arial MT"/>
                <a:cs typeface="Arial MT"/>
              </a:rPr>
              <a:t> </a:t>
            </a:r>
            <a:r>
              <a:rPr dirty="0" sz="5000" spc="170">
                <a:latin typeface="Arial MT"/>
                <a:cs typeface="Arial MT"/>
              </a:rPr>
              <a:t>for</a:t>
            </a:r>
            <a:r>
              <a:rPr dirty="0" sz="5000" spc="-155">
                <a:latin typeface="Arial MT"/>
                <a:cs typeface="Arial MT"/>
              </a:rPr>
              <a:t> </a:t>
            </a:r>
            <a:r>
              <a:rPr dirty="0" sz="5000">
                <a:latin typeface="Arial MT"/>
                <a:cs typeface="Arial MT"/>
              </a:rPr>
              <a:t>Data</a:t>
            </a:r>
            <a:r>
              <a:rPr dirty="0" sz="5000" spc="-105">
                <a:latin typeface="Arial MT"/>
                <a:cs typeface="Arial MT"/>
              </a:rPr>
              <a:t> </a:t>
            </a:r>
            <a:r>
              <a:rPr dirty="0" sz="5000" spc="130">
                <a:latin typeface="Arial MT"/>
                <a:cs typeface="Arial MT"/>
              </a:rPr>
              <a:t>Movement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9609" y="1862313"/>
            <a:ext cx="481139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>
                <a:latin typeface="Arial MT"/>
                <a:cs typeface="Arial MT"/>
              </a:rPr>
              <a:t>Cache</a:t>
            </a:r>
            <a:r>
              <a:rPr dirty="0" sz="2950" spc="-25">
                <a:latin typeface="Arial MT"/>
                <a:cs typeface="Arial MT"/>
              </a:rPr>
              <a:t> </a:t>
            </a:r>
            <a:r>
              <a:rPr dirty="0" sz="2950" spc="50">
                <a:latin typeface="Arial MT"/>
                <a:cs typeface="Arial MT"/>
              </a:rPr>
              <a:t>Aside</a:t>
            </a:r>
            <a:r>
              <a:rPr dirty="0" sz="2950" spc="-2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(Lazy</a:t>
            </a:r>
            <a:r>
              <a:rPr dirty="0" sz="2950" spc="-6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Loading)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9971" y="1862313"/>
            <a:ext cx="249174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75">
                <a:latin typeface="Arial MT"/>
                <a:cs typeface="Arial MT"/>
              </a:rPr>
              <a:t>Write</a:t>
            </a:r>
            <a:r>
              <a:rPr dirty="0" sz="2950" spc="-155">
                <a:latin typeface="Arial MT"/>
                <a:cs typeface="Arial MT"/>
              </a:rPr>
              <a:t> </a:t>
            </a:r>
            <a:r>
              <a:rPr dirty="0" sz="2950" spc="45">
                <a:latin typeface="Arial MT"/>
                <a:cs typeface="Arial MT"/>
              </a:rPr>
              <a:t>Through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58663" y="1853494"/>
            <a:ext cx="188023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>
                <a:latin typeface="Arial MT"/>
                <a:cs typeface="Arial MT"/>
              </a:rPr>
              <a:t>Write</a:t>
            </a:r>
            <a:r>
              <a:rPr dirty="0" sz="3050" spc="10">
                <a:latin typeface="Arial MT"/>
                <a:cs typeface="Arial MT"/>
              </a:rPr>
              <a:t> </a:t>
            </a:r>
            <a:r>
              <a:rPr dirty="0" sz="3050" spc="-35">
                <a:latin typeface="Arial MT"/>
                <a:cs typeface="Arial MT"/>
              </a:rPr>
              <a:t>Back</a:t>
            </a:r>
            <a:endParaRPr sz="305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55135" y="6905119"/>
          <a:ext cx="16149955" cy="231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2875"/>
                <a:gridCol w="5500370"/>
                <a:gridCol w="5351145"/>
              </a:tblGrid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ts val="3450"/>
                        </a:lnSpc>
                      </a:pPr>
                      <a:r>
                        <a:rPr dirty="0" sz="3100" spc="-85">
                          <a:latin typeface="Arial MT"/>
                          <a:cs typeface="Arial MT"/>
                        </a:rPr>
                        <a:t>Industry</a:t>
                      </a:r>
                      <a:r>
                        <a:rPr dirty="0" sz="31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05">
                          <a:latin typeface="Arial MT"/>
                          <a:cs typeface="Arial MT"/>
                        </a:rPr>
                        <a:t>default.</a:t>
                      </a:r>
                      <a:r>
                        <a:rPr dirty="0" sz="310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5">
                          <a:latin typeface="Arial MT"/>
                          <a:cs typeface="Arial MT"/>
                        </a:rPr>
                        <a:t>App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ts val="3450"/>
                        </a:lnSpc>
                      </a:pPr>
                      <a:r>
                        <a:rPr dirty="0" sz="3100" spc="-22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3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95">
                          <a:latin typeface="Arial MT"/>
                          <a:cs typeface="Arial MT"/>
                        </a:rPr>
                        <a:t>writes</a:t>
                      </a:r>
                      <a:r>
                        <a:rPr dirty="0" sz="3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100" spc="-1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20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1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2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3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420">
                          <a:latin typeface="Arial MT"/>
                          <a:cs typeface="Arial MT"/>
                        </a:rPr>
                        <a:t>DB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8170">
                        <a:lnSpc>
                          <a:spcPts val="3450"/>
                        </a:lnSpc>
                      </a:pPr>
                      <a:r>
                        <a:rPr dirty="0" sz="3100" spc="-220"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3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95">
                          <a:latin typeface="Arial MT"/>
                          <a:cs typeface="Arial MT"/>
                        </a:rPr>
                        <a:t>writes</a:t>
                      </a:r>
                      <a:r>
                        <a:rPr dirty="0" sz="3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405"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3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100" spc="-1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335">
                          <a:latin typeface="Arial MT"/>
                          <a:cs typeface="Arial MT"/>
                        </a:rPr>
                        <a:t>RAM.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60375">
                <a:tc>
                  <a:txBody>
                    <a:bodyPr/>
                    <a:lstStyle/>
                    <a:p>
                      <a:pPr marL="43180">
                        <a:lnSpc>
                          <a:spcPts val="3485"/>
                        </a:lnSpc>
                      </a:pPr>
                      <a:r>
                        <a:rPr dirty="0" sz="3050" spc="-80">
                          <a:latin typeface="Arial MT"/>
                          <a:cs typeface="Arial MT"/>
                        </a:rPr>
                        <a:t>orchestrates</a:t>
                      </a:r>
                      <a:r>
                        <a:rPr dirty="0" sz="3050" spc="-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95">
                          <a:latin typeface="Arial MT"/>
                          <a:cs typeface="Arial MT"/>
                        </a:rPr>
                        <a:t>between</a:t>
                      </a:r>
                      <a:r>
                        <a:rPr dirty="0" sz="30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345">
                          <a:latin typeface="Arial MT"/>
                          <a:cs typeface="Arial MT"/>
                        </a:rPr>
                        <a:t>DB</a:t>
                      </a:r>
                      <a:r>
                        <a:rPr dirty="0" sz="305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25">
                          <a:latin typeface="Arial MT"/>
                          <a:cs typeface="Arial MT"/>
                        </a:rPr>
                        <a:t>and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ts val="3485"/>
                        </a:lnSpc>
                      </a:pPr>
                      <a:r>
                        <a:rPr dirty="0" sz="3050" spc="-120">
                          <a:latin typeface="Arial MT"/>
                          <a:cs typeface="Arial MT"/>
                        </a:rPr>
                        <a:t>simultaneously.</a:t>
                      </a:r>
                      <a:r>
                        <a:rPr dirty="0" sz="3050" spc="-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85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0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25">
                          <a:latin typeface="Arial MT"/>
                          <a:cs typeface="Arial MT"/>
                        </a:rPr>
                        <a:t>is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8170">
                        <a:lnSpc>
                          <a:spcPts val="3485"/>
                        </a:lnSpc>
                      </a:pPr>
                      <a:r>
                        <a:rPr dirty="0" sz="3050" spc="-140">
                          <a:latin typeface="Arial MT"/>
                          <a:cs typeface="Arial MT"/>
                        </a:rPr>
                        <a:t>Async</a:t>
                      </a:r>
                      <a:r>
                        <a:rPr dirty="0" sz="305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95">
                          <a:latin typeface="Arial MT"/>
                          <a:cs typeface="Arial MT"/>
                        </a:rPr>
                        <a:t>sync</a:t>
                      </a:r>
                      <a:r>
                        <a:rPr dirty="0" sz="305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050" spc="-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5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dirty="0" sz="30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65">
                          <a:latin typeface="Arial MT"/>
                          <a:cs typeface="Arial MT"/>
                        </a:rPr>
                        <a:t>later.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79425">
                <a:tc>
                  <a:txBody>
                    <a:bodyPr/>
                    <a:lstStyle/>
                    <a:p>
                      <a:pPr marL="35560">
                        <a:lnSpc>
                          <a:spcPts val="3635"/>
                        </a:lnSpc>
                      </a:pPr>
                      <a:r>
                        <a:rPr dirty="0" sz="3200" spc="-275">
                          <a:latin typeface="Arial MT"/>
                          <a:cs typeface="Arial MT"/>
                        </a:rPr>
                        <a:t>Cache.</a:t>
                      </a:r>
                      <a:r>
                        <a:rPr dirty="0" sz="32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85">
                          <a:latin typeface="Arial MT"/>
                          <a:cs typeface="Arial MT"/>
                        </a:rPr>
                        <a:t>Simple</a:t>
                      </a:r>
                      <a:r>
                        <a:rPr dirty="0" sz="3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54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3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0">
                          <a:latin typeface="Arial MT"/>
                          <a:cs typeface="Arial MT"/>
                        </a:rPr>
                        <a:t>efficient,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ts val="3635"/>
                        </a:lnSpc>
                      </a:pPr>
                      <a:r>
                        <a:rPr dirty="0" sz="3200" spc="-245">
                          <a:latin typeface="Arial MT"/>
                          <a:cs typeface="Arial MT"/>
                        </a:rPr>
                        <a:t>always</a:t>
                      </a:r>
                      <a:r>
                        <a:rPr dirty="0" sz="3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65">
                          <a:latin typeface="Arial MT"/>
                          <a:cs typeface="Arial MT"/>
                        </a:rPr>
                        <a:t>updated,</a:t>
                      </a:r>
                      <a:r>
                        <a:rPr dirty="0" sz="3200" spc="-60">
                          <a:latin typeface="Arial MT"/>
                          <a:cs typeface="Arial MT"/>
                        </a:rPr>
                        <a:t> but</a:t>
                      </a:r>
                      <a:r>
                        <a:rPr dirty="0" sz="32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0">
                          <a:latin typeface="Arial MT"/>
                          <a:cs typeface="Arial MT"/>
                        </a:rPr>
                        <a:t>write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ts val="3635"/>
                        </a:lnSpc>
                      </a:pPr>
                      <a:r>
                        <a:rPr dirty="0" sz="3200" spc="-125">
                          <a:latin typeface="Arial MT"/>
                          <a:cs typeface="Arial MT"/>
                        </a:rPr>
                        <a:t>Lightning-</a:t>
                      </a:r>
                      <a:r>
                        <a:rPr dirty="0" sz="3200" spc="-65">
                          <a:latin typeface="Arial MT"/>
                          <a:cs typeface="Arial MT"/>
                        </a:rPr>
                        <a:t>fast</a:t>
                      </a:r>
                      <a:r>
                        <a:rPr dirty="0" sz="3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55">
                          <a:latin typeface="Arial MT"/>
                          <a:cs typeface="Arial MT"/>
                        </a:rPr>
                        <a:t>writes,</a:t>
                      </a:r>
                      <a:r>
                        <a:rPr dirty="0" sz="32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5">
                          <a:latin typeface="Arial MT"/>
                          <a:cs typeface="Arial MT"/>
                        </a:rPr>
                        <a:t>but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60375">
                <a:tc>
                  <a:txBody>
                    <a:bodyPr/>
                    <a:lstStyle/>
                    <a:p>
                      <a:pPr marL="43180">
                        <a:lnSpc>
                          <a:spcPts val="3479"/>
                        </a:lnSpc>
                      </a:pPr>
                      <a:r>
                        <a:rPr dirty="0" sz="3050" spc="-45"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30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05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>
                          <a:latin typeface="Arial MT"/>
                          <a:cs typeface="Arial MT"/>
                        </a:rPr>
                        <a:t>first</a:t>
                      </a:r>
                      <a:r>
                        <a:rPr dirty="0" sz="3050" spc="-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14">
                          <a:latin typeface="Arial MT"/>
                          <a:cs typeface="Arial MT"/>
                        </a:rPr>
                        <a:t>request</a:t>
                      </a:r>
                      <a:r>
                        <a:rPr dirty="0" sz="30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3050" spc="-1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">
                          <a:latin typeface="Arial MT"/>
                          <a:cs typeface="Arial MT"/>
                        </a:rPr>
                        <a:t>always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ts val="3479"/>
                        </a:lnSpc>
                      </a:pPr>
                      <a:r>
                        <a:rPr dirty="0" sz="3050" spc="-85"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dirty="0" sz="305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90">
                          <a:latin typeface="Arial MT"/>
                          <a:cs typeface="Arial MT"/>
                        </a:rPr>
                        <a:t>take</a:t>
                      </a:r>
                      <a:r>
                        <a:rPr dirty="0" sz="305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">
                          <a:latin typeface="Arial MT"/>
                          <a:cs typeface="Arial MT"/>
                        </a:rPr>
                        <a:t>slightly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ts val="3479"/>
                        </a:lnSpc>
                      </a:pPr>
                      <a:r>
                        <a:rPr dirty="0" sz="3050" spc="-90">
                          <a:latin typeface="Arial MT"/>
                          <a:cs typeface="Arial MT"/>
                        </a:rPr>
                        <a:t>carries</a:t>
                      </a:r>
                      <a:r>
                        <a:rPr dirty="0" sz="305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36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30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30">
                          <a:latin typeface="Arial MT"/>
                          <a:cs typeface="Arial MT"/>
                        </a:rPr>
                        <a:t>risk</a:t>
                      </a:r>
                      <a:r>
                        <a:rPr dirty="0" sz="3050" spc="-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2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30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25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305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">
                          <a:latin typeface="Arial MT"/>
                          <a:cs typeface="Arial MT"/>
                        </a:rPr>
                        <a:t>loss.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 marL="43815">
                        <a:lnSpc>
                          <a:spcPts val="3504"/>
                        </a:lnSpc>
                      </a:pPr>
                      <a:r>
                        <a:rPr dirty="0" sz="3100" spc="-10">
                          <a:latin typeface="Arial MT"/>
                          <a:cs typeface="Arial MT"/>
                        </a:rPr>
                        <a:t>slow.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ts val="3504"/>
                        </a:lnSpc>
                      </a:pPr>
                      <a:r>
                        <a:rPr dirty="0" sz="3100" spc="-30">
                          <a:latin typeface="Arial MT"/>
                          <a:cs typeface="Arial MT"/>
                        </a:rPr>
                        <a:t>longer.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700" y="9575800"/>
            <a:ext cx="800100" cy="177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3800" y="9118600"/>
            <a:ext cx="812800" cy="368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6900" y="8661400"/>
            <a:ext cx="812800" cy="381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7800" y="1765300"/>
            <a:ext cx="4114800" cy="67818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5281" y="401813"/>
            <a:ext cx="7492365" cy="1566545"/>
          </a:xfrm>
          <a:prstGeom prst="rect"/>
        </p:spPr>
        <p:txBody>
          <a:bodyPr wrap="square" lIns="0" tIns="145415" rIns="0" bIns="0" rtlCol="0" vert="horz">
            <a:spAutoFit/>
          </a:bodyPr>
          <a:lstStyle/>
          <a:p>
            <a:pPr marL="12700" marR="5080" indent="3175">
              <a:lnSpc>
                <a:spcPts val="5550"/>
              </a:lnSpc>
              <a:spcBef>
                <a:spcPts val="1145"/>
              </a:spcBef>
            </a:pPr>
            <a:r>
              <a:rPr dirty="0" spc="-160">
                <a:latin typeface="Arial MT"/>
                <a:cs typeface="Arial MT"/>
              </a:rPr>
              <a:t>Managing</a:t>
            </a:r>
            <a:r>
              <a:rPr dirty="0" spc="-195">
                <a:latin typeface="Arial MT"/>
                <a:cs typeface="Arial MT"/>
              </a:rPr>
              <a:t> </a:t>
            </a:r>
            <a:r>
              <a:rPr dirty="0" spc="-100">
                <a:latin typeface="Arial MT"/>
                <a:cs typeface="Arial MT"/>
              </a:rPr>
              <a:t>Finite</a:t>
            </a:r>
            <a:r>
              <a:rPr dirty="0" spc="-409">
                <a:latin typeface="Arial MT"/>
                <a:cs typeface="Arial MT"/>
              </a:rPr>
              <a:t> </a:t>
            </a:r>
            <a:r>
              <a:rPr dirty="0" spc="-35">
                <a:latin typeface="Arial MT"/>
                <a:cs typeface="Arial MT"/>
              </a:rPr>
              <a:t>Memory: </a:t>
            </a:r>
            <a:r>
              <a:rPr dirty="0" spc="-105">
                <a:latin typeface="Arial MT"/>
                <a:cs typeface="Arial MT"/>
              </a:rPr>
              <a:t>Expiration</a:t>
            </a:r>
            <a:r>
              <a:rPr dirty="0" spc="-305">
                <a:latin typeface="Arial MT"/>
                <a:cs typeface="Arial MT"/>
              </a:rPr>
              <a:t> </a:t>
            </a:r>
            <a:r>
              <a:rPr dirty="0" spc="-190">
                <a:solidFill>
                  <a:srgbClr val="0C0C0C"/>
                </a:solidFill>
                <a:latin typeface="Arial MT"/>
                <a:cs typeface="Arial MT"/>
              </a:rPr>
              <a:t>&amp;</a:t>
            </a:r>
            <a:r>
              <a:rPr dirty="0" spc="-6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Eviction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21384" y="1432630"/>
            <a:ext cx="1306830" cy="73469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 marR="5080" indent="635">
              <a:lnSpc>
                <a:spcPts val="2500"/>
              </a:lnSpc>
              <a:spcBef>
                <a:spcPts val="670"/>
              </a:spcBef>
            </a:pPr>
            <a:r>
              <a:rPr dirty="0" sz="2550" spc="-165">
                <a:latin typeface="Arial MT"/>
                <a:cs typeface="Arial MT"/>
              </a:rPr>
              <a:t>New </a:t>
            </a:r>
            <a:r>
              <a:rPr dirty="0" sz="2550" spc="-125">
                <a:latin typeface="Arial MT"/>
                <a:cs typeface="Arial MT"/>
              </a:rPr>
              <a:t>Data </a:t>
            </a:r>
            <a:r>
              <a:rPr dirty="0" sz="2550" spc="-10">
                <a:latin typeface="Arial MT"/>
                <a:cs typeface="Arial MT"/>
              </a:rPr>
              <a:t>Entering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5354" y="4762500"/>
            <a:ext cx="15887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Finite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RAM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10959" y="4762500"/>
            <a:ext cx="24276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95">
                <a:solidFill>
                  <a:srgbClr val="212879"/>
                </a:solidFill>
                <a:latin typeface="Arial MT"/>
                <a:cs typeface="Arial MT"/>
              </a:rPr>
              <a:t>TTL</a:t>
            </a:r>
            <a:r>
              <a:rPr dirty="0" sz="2500" spc="-105">
                <a:solidFill>
                  <a:srgbClr val="212879"/>
                </a:solidFill>
                <a:latin typeface="Arial MT"/>
                <a:cs typeface="Arial MT"/>
              </a:rPr>
              <a:t> </a:t>
            </a:r>
            <a:r>
              <a:rPr dirty="0" sz="2500" spc="-65">
                <a:solidFill>
                  <a:srgbClr val="343A8A"/>
                </a:solidFill>
                <a:latin typeface="Arial MT"/>
                <a:cs typeface="Arial MT"/>
              </a:rPr>
              <a:t>(Time</a:t>
            </a:r>
            <a:r>
              <a:rPr dirty="0" sz="2500" spc="-170">
                <a:solidFill>
                  <a:srgbClr val="343A8A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13890"/>
                </a:solidFill>
                <a:latin typeface="Arial MT"/>
                <a:cs typeface="Arial MT"/>
              </a:rPr>
              <a:t>to</a:t>
            </a:r>
            <a:r>
              <a:rPr dirty="0" sz="2500" spc="-305">
                <a:solidFill>
                  <a:srgbClr val="313890"/>
                </a:solidFill>
                <a:latin typeface="Arial MT"/>
                <a:cs typeface="Arial MT"/>
              </a:rPr>
              <a:t> </a:t>
            </a:r>
            <a:r>
              <a:rPr dirty="0" sz="2500" spc="-60">
                <a:solidFill>
                  <a:srgbClr val="3138A3"/>
                </a:solidFill>
                <a:latin typeface="Arial MT"/>
                <a:cs typeface="Arial MT"/>
              </a:rPr>
              <a:t>Live)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9371" y="7002991"/>
            <a:ext cx="277431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0">
                <a:latin typeface="Arial MT"/>
                <a:cs typeface="Arial MT"/>
              </a:rPr>
              <a:t>Memory</a:t>
            </a:r>
            <a:r>
              <a:rPr dirty="0" sz="2700" spc="-125">
                <a:latin typeface="Arial MT"/>
                <a:cs typeface="Arial MT"/>
              </a:rPr>
              <a:t> </a:t>
            </a:r>
            <a:r>
              <a:rPr dirty="0" sz="2700" spc="-55">
                <a:latin typeface="Arial MT"/>
                <a:cs typeface="Arial MT"/>
              </a:rPr>
              <a:t>Limit</a:t>
            </a:r>
            <a:r>
              <a:rPr dirty="0" sz="2700" spc="-235">
                <a:latin typeface="Arial MT"/>
                <a:cs typeface="Arial MT"/>
              </a:rPr>
              <a:t> </a:t>
            </a:r>
            <a:r>
              <a:rPr dirty="0" sz="2700" spc="-40">
                <a:latin typeface="Arial MT"/>
                <a:cs typeface="Arial MT"/>
              </a:rPr>
              <a:t>Floor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4187" y="7938910"/>
            <a:ext cx="209105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25">
                <a:latin typeface="Arial MT"/>
                <a:cs typeface="Arial MT"/>
              </a:rPr>
              <a:t>Eviction</a:t>
            </a:r>
            <a:r>
              <a:rPr dirty="0" sz="2600" spc="-20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Policy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6231" y="6338358"/>
            <a:ext cx="2526030" cy="6896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555"/>
              </a:lnSpc>
              <a:spcBef>
                <a:spcPts val="90"/>
              </a:spcBef>
            </a:pPr>
            <a:r>
              <a:rPr dirty="0" sz="2300" spc="-100">
                <a:latin typeface="Arial MT"/>
                <a:cs typeface="Arial MT"/>
              </a:rPr>
              <a:t>Organic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expiration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of</a:t>
            </a:r>
            <a:endParaRPr sz="2300">
              <a:latin typeface="Arial MT"/>
              <a:cs typeface="Arial MT"/>
            </a:endParaRPr>
          </a:p>
          <a:p>
            <a:pPr algn="ctr" marL="14604">
              <a:lnSpc>
                <a:spcPts val="2675"/>
              </a:lnSpc>
            </a:pPr>
            <a:r>
              <a:rPr dirty="0" sz="2400" spc="-130">
                <a:latin typeface="Arial MT"/>
                <a:cs typeface="Arial MT"/>
              </a:rPr>
              <a:t>outdated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3112" y="2767705"/>
            <a:ext cx="5172075" cy="4241165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400" spc="-40">
                <a:latin typeface="Arial MT"/>
                <a:cs typeface="Arial MT"/>
              </a:rPr>
              <a:t>Eviction</a:t>
            </a:r>
            <a:r>
              <a:rPr dirty="0" sz="3400" spc="-270">
                <a:latin typeface="Arial MT"/>
                <a:cs typeface="Arial MT"/>
              </a:rPr>
              <a:t> </a:t>
            </a:r>
            <a:r>
              <a:rPr dirty="0" sz="3400" spc="-10">
                <a:latin typeface="Arial MT"/>
                <a:cs typeface="Arial MT"/>
              </a:rPr>
              <a:t>Policies</a:t>
            </a:r>
            <a:endParaRPr sz="3400">
              <a:latin typeface="Arial MT"/>
              <a:cs typeface="Arial MT"/>
            </a:endParaRPr>
          </a:p>
          <a:p>
            <a:pPr marL="374650" marR="5080" indent="-348615">
              <a:lnSpc>
                <a:spcPts val="3300"/>
              </a:lnSpc>
              <a:spcBef>
                <a:spcPts val="1930"/>
              </a:spcBef>
              <a:buClr>
                <a:srgbClr val="030303"/>
              </a:buClr>
              <a:buChar char="•"/>
              <a:tabLst>
                <a:tab pos="391795" algn="l"/>
              </a:tabLst>
            </a:pPr>
            <a:r>
              <a:rPr dirty="0" sz="2950" spc="-215">
                <a:latin typeface="Arial MT"/>
                <a:cs typeface="Arial MT"/>
              </a:rPr>
              <a:t>LRU:</a:t>
            </a:r>
            <a:r>
              <a:rPr dirty="0" sz="2950" spc="-305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Least</a:t>
            </a:r>
            <a:r>
              <a:rPr dirty="0" sz="2950" spc="-185">
                <a:latin typeface="Arial MT"/>
                <a:cs typeface="Arial MT"/>
              </a:rPr>
              <a:t> </a:t>
            </a:r>
            <a:r>
              <a:rPr dirty="0" sz="2950" spc="-135">
                <a:latin typeface="Arial MT"/>
                <a:cs typeface="Arial MT"/>
              </a:rPr>
              <a:t>Recently </a:t>
            </a:r>
            <a:r>
              <a:rPr dirty="0" sz="2950" spc="-20">
                <a:latin typeface="Arial MT"/>
                <a:cs typeface="Arial MT"/>
              </a:rPr>
              <a:t>Used </a:t>
            </a:r>
            <a:r>
              <a:rPr dirty="0" sz="2950" spc="-20">
                <a:latin typeface="Arial MT"/>
                <a:cs typeface="Arial MT"/>
              </a:rPr>
              <a:t>	</a:t>
            </a:r>
            <a:r>
              <a:rPr dirty="0" sz="2950" spc="-210">
                <a:latin typeface="Arial MT"/>
                <a:cs typeface="Arial MT"/>
              </a:rPr>
              <a:t>(Pushes</a:t>
            </a:r>
            <a:r>
              <a:rPr dirty="0" sz="2950" spc="-25">
                <a:latin typeface="Arial MT"/>
                <a:cs typeface="Arial MT"/>
              </a:rPr>
              <a:t> </a:t>
            </a:r>
            <a:r>
              <a:rPr dirty="0" sz="2950" spc="-105">
                <a:latin typeface="Arial MT"/>
                <a:cs typeface="Arial MT"/>
              </a:rPr>
              <a:t>out</a:t>
            </a:r>
            <a:r>
              <a:rPr dirty="0" sz="2950" spc="-100">
                <a:latin typeface="Arial MT"/>
                <a:cs typeface="Arial MT"/>
              </a:rPr>
              <a:t> </a:t>
            </a:r>
            <a:r>
              <a:rPr dirty="0" sz="2950" spc="-125">
                <a:latin typeface="Arial MT"/>
                <a:cs typeface="Arial MT"/>
              </a:rPr>
              <a:t>oldest</a:t>
            </a:r>
            <a:r>
              <a:rPr dirty="0" sz="2950" spc="-40">
                <a:latin typeface="Arial MT"/>
                <a:cs typeface="Arial MT"/>
              </a:rPr>
              <a:t> </a:t>
            </a:r>
            <a:r>
              <a:rPr dirty="0" sz="2950" spc="-165">
                <a:latin typeface="Arial MT"/>
                <a:cs typeface="Arial MT"/>
              </a:rPr>
              <a:t>unread</a:t>
            </a:r>
            <a:r>
              <a:rPr dirty="0" sz="2950" spc="-175">
                <a:latin typeface="Arial MT"/>
                <a:cs typeface="Arial MT"/>
              </a:rPr>
              <a:t> </a:t>
            </a:r>
            <a:r>
              <a:rPr dirty="0" sz="2950" spc="-130">
                <a:latin typeface="Arial MT"/>
                <a:cs typeface="Arial MT"/>
              </a:rPr>
              <a:t>data)</a:t>
            </a:r>
            <a:endParaRPr sz="2950">
              <a:latin typeface="Arial MT"/>
              <a:cs typeface="Arial MT"/>
            </a:endParaRPr>
          </a:p>
          <a:p>
            <a:pPr marL="374650" marR="136525" indent="-348615">
              <a:lnSpc>
                <a:spcPts val="3300"/>
              </a:lnSpc>
              <a:spcBef>
                <a:spcPts val="1850"/>
              </a:spcBef>
              <a:buChar char="•"/>
              <a:tabLst>
                <a:tab pos="391795" algn="l"/>
              </a:tabLst>
            </a:pPr>
            <a:r>
              <a:rPr dirty="0" sz="2950" spc="-185">
                <a:latin typeface="Arial MT"/>
                <a:cs typeface="Arial MT"/>
              </a:rPr>
              <a:t>LFU:</a:t>
            </a:r>
            <a:r>
              <a:rPr dirty="0" sz="2950" spc="-320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Least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145">
                <a:latin typeface="Arial MT"/>
                <a:cs typeface="Arial MT"/>
              </a:rPr>
              <a:t>Frequently</a:t>
            </a:r>
            <a:r>
              <a:rPr dirty="0" sz="2950" spc="50">
                <a:latin typeface="Arial MT"/>
                <a:cs typeface="Arial MT"/>
              </a:rPr>
              <a:t> </a:t>
            </a:r>
            <a:r>
              <a:rPr dirty="0" sz="2950" spc="-20">
                <a:latin typeface="Arial MT"/>
                <a:cs typeface="Arial MT"/>
              </a:rPr>
              <a:t>Used </a:t>
            </a:r>
            <a:r>
              <a:rPr dirty="0" sz="2950" spc="-20">
                <a:latin typeface="Arial MT"/>
                <a:cs typeface="Arial MT"/>
              </a:rPr>
              <a:t>	</a:t>
            </a:r>
            <a:r>
              <a:rPr dirty="0" sz="2950" spc="-190">
                <a:latin typeface="Arial MT"/>
                <a:cs typeface="Arial MT"/>
              </a:rPr>
              <a:t>(Pushes</a:t>
            </a:r>
            <a:r>
              <a:rPr dirty="0" sz="2950" spc="-145">
                <a:latin typeface="Arial MT"/>
                <a:cs typeface="Arial MT"/>
              </a:rPr>
              <a:t> </a:t>
            </a:r>
            <a:r>
              <a:rPr dirty="0" sz="2950" spc="-105">
                <a:latin typeface="Arial MT"/>
                <a:cs typeface="Arial MT"/>
              </a:rPr>
              <a:t>out</a:t>
            </a:r>
            <a:r>
              <a:rPr dirty="0" sz="2950" spc="-100">
                <a:latin typeface="Arial MT"/>
                <a:cs typeface="Arial MT"/>
              </a:rPr>
              <a:t> </a:t>
            </a:r>
            <a:r>
              <a:rPr dirty="0" sz="2950" spc="-150">
                <a:latin typeface="Arial MT"/>
                <a:cs typeface="Arial MT"/>
              </a:rPr>
              <a:t>least</a:t>
            </a:r>
            <a:r>
              <a:rPr dirty="0" sz="2950" spc="-145">
                <a:latin typeface="Arial MT"/>
                <a:cs typeface="Arial MT"/>
              </a:rPr>
              <a:t> </a:t>
            </a:r>
            <a:r>
              <a:rPr dirty="0" sz="2950" spc="-130">
                <a:latin typeface="Arial MT"/>
                <a:cs typeface="Arial MT"/>
              </a:rPr>
              <a:t>popular</a:t>
            </a:r>
            <a:r>
              <a:rPr dirty="0" sz="2950" spc="-60">
                <a:latin typeface="Arial MT"/>
                <a:cs typeface="Arial MT"/>
              </a:rPr>
              <a:t> </a:t>
            </a:r>
            <a:r>
              <a:rPr dirty="0" sz="2950" spc="-160">
                <a:latin typeface="Arial MT"/>
                <a:cs typeface="Arial MT"/>
              </a:rPr>
              <a:t>data)</a:t>
            </a:r>
            <a:endParaRPr sz="2950">
              <a:latin typeface="Arial MT"/>
              <a:cs typeface="Arial MT"/>
            </a:endParaRPr>
          </a:p>
          <a:p>
            <a:pPr marL="36957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69570" algn="l"/>
              </a:tabLst>
            </a:pPr>
            <a:r>
              <a:rPr dirty="0" sz="2900" spc="-160">
                <a:latin typeface="Arial MT"/>
                <a:cs typeface="Arial MT"/>
              </a:rPr>
              <a:t>FIFO:</a:t>
            </a:r>
            <a:r>
              <a:rPr dirty="0" sz="2900" spc="-280">
                <a:latin typeface="Arial MT"/>
                <a:cs typeface="Arial MT"/>
              </a:rPr>
              <a:t> </a:t>
            </a:r>
            <a:r>
              <a:rPr dirty="0" sz="2900" spc="-100">
                <a:latin typeface="Arial MT"/>
                <a:cs typeface="Arial MT"/>
              </a:rPr>
              <a:t>First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150">
                <a:latin typeface="Arial MT"/>
                <a:cs typeface="Arial MT"/>
              </a:rPr>
              <a:t>In,</a:t>
            </a:r>
            <a:r>
              <a:rPr dirty="0" sz="2900" spc="-370">
                <a:latin typeface="Arial MT"/>
                <a:cs typeface="Arial MT"/>
              </a:rPr>
              <a:t> </a:t>
            </a:r>
            <a:r>
              <a:rPr dirty="0" sz="2900" spc="-100">
                <a:latin typeface="Arial MT"/>
                <a:cs typeface="Arial MT"/>
              </a:rPr>
              <a:t>First</a:t>
            </a:r>
            <a:r>
              <a:rPr dirty="0" sz="2900" spc="-75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Out</a:t>
            </a:r>
            <a:endParaRPr sz="2900">
              <a:latin typeface="Arial MT"/>
              <a:cs typeface="Arial MT"/>
            </a:endParaRPr>
          </a:p>
          <a:p>
            <a:pPr marL="370840" indent="-344170">
              <a:lnSpc>
                <a:spcPct val="100000"/>
              </a:lnSpc>
              <a:spcBef>
                <a:spcPts val="1720"/>
              </a:spcBef>
              <a:buChar char="•"/>
              <a:tabLst>
                <a:tab pos="370840" algn="l"/>
              </a:tabLst>
            </a:pPr>
            <a:r>
              <a:rPr dirty="0" sz="2900" spc="-114">
                <a:latin typeface="Arial MT"/>
                <a:cs typeface="Arial MT"/>
              </a:rPr>
              <a:t>Random:</a:t>
            </a:r>
            <a:r>
              <a:rPr dirty="0" sz="2900" spc="-170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Random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removal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88442" y="7636227"/>
            <a:ext cx="4967605" cy="10058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 marR="5080" indent="16510">
              <a:lnSpc>
                <a:spcPts val="3550"/>
              </a:lnSpc>
              <a:spcBef>
                <a:spcPts val="730"/>
              </a:spcBef>
            </a:pPr>
            <a:r>
              <a:rPr dirty="0" sz="3450" spc="-170">
                <a:solidFill>
                  <a:srgbClr val="050505"/>
                </a:solidFill>
                <a:latin typeface="Arial MT"/>
                <a:cs typeface="Arial MT"/>
              </a:rPr>
              <a:t>A</a:t>
            </a:r>
            <a:r>
              <a:rPr dirty="0" sz="3450" spc="-35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3450" spc="-50">
                <a:latin typeface="Arial MT"/>
                <a:cs typeface="Arial MT"/>
              </a:rPr>
              <a:t>cache</a:t>
            </a:r>
            <a:r>
              <a:rPr dirty="0" sz="3450" spc="-265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that</a:t>
            </a:r>
            <a:r>
              <a:rPr dirty="0" sz="3450" spc="-270">
                <a:latin typeface="Arial MT"/>
                <a:cs typeface="Arial MT"/>
              </a:rPr>
              <a:t> </a:t>
            </a:r>
            <a:r>
              <a:rPr dirty="0" sz="3450" spc="-80">
                <a:latin typeface="Arial MT"/>
                <a:cs typeface="Arial MT"/>
              </a:rPr>
              <a:t>never</a:t>
            </a:r>
            <a:r>
              <a:rPr dirty="0" sz="3450" spc="-50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forgets </a:t>
            </a:r>
            <a:r>
              <a:rPr dirty="0" sz="3450" spc="-60">
                <a:latin typeface="Arial MT"/>
                <a:cs typeface="Arial MT"/>
              </a:rPr>
              <a:t>becomes</a:t>
            </a:r>
            <a:r>
              <a:rPr dirty="0" sz="3450" spc="-185">
                <a:latin typeface="Arial MT"/>
                <a:cs typeface="Arial MT"/>
              </a:rPr>
              <a:t> </a:t>
            </a:r>
            <a:r>
              <a:rPr dirty="0" sz="3450" spc="-120">
                <a:latin typeface="Arial MT"/>
                <a:cs typeface="Arial MT"/>
              </a:rPr>
              <a:t>a</a:t>
            </a:r>
            <a:r>
              <a:rPr dirty="0" sz="3450" spc="-380">
                <a:latin typeface="Arial MT"/>
                <a:cs typeface="Arial MT"/>
              </a:rPr>
              <a:t> </a:t>
            </a:r>
            <a:r>
              <a:rPr dirty="0" sz="3450" spc="-30">
                <a:latin typeface="Arial MT"/>
                <a:cs typeface="Arial MT"/>
              </a:rPr>
              <a:t>memory</a:t>
            </a:r>
            <a:r>
              <a:rPr dirty="0" sz="3450" spc="-14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leak.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3568700"/>
            <a:ext cx="9994900" cy="4648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49490" y="745772"/>
            <a:ext cx="15286355" cy="8299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-40">
                <a:solidFill>
                  <a:srgbClr val="080808"/>
                </a:solidFill>
                <a:latin typeface="Arial MT"/>
                <a:cs typeface="Arial MT"/>
              </a:rPr>
              <a:t>The</a:t>
            </a:r>
            <a:r>
              <a:rPr dirty="0" sz="5250" spc="-409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 spc="80">
                <a:solidFill>
                  <a:srgbClr val="080808"/>
                </a:solidFill>
                <a:latin typeface="Arial MT"/>
                <a:cs typeface="Arial MT"/>
              </a:rPr>
              <a:t>Invalidation</a:t>
            </a:r>
            <a:r>
              <a:rPr dirty="0" sz="5250" spc="-11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 spc="-25">
                <a:solidFill>
                  <a:srgbClr val="080808"/>
                </a:solidFill>
                <a:latin typeface="Arial MT"/>
                <a:cs typeface="Arial MT"/>
              </a:rPr>
              <a:t>Paradox:</a:t>
            </a:r>
            <a:r>
              <a:rPr dirty="0" sz="5250" spc="-23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 spc="-100">
                <a:solidFill>
                  <a:srgbClr val="050505"/>
                </a:solidFill>
                <a:latin typeface="Arial MT"/>
                <a:cs typeface="Arial MT"/>
              </a:rPr>
              <a:t>The</a:t>
            </a:r>
            <a:r>
              <a:rPr dirty="0" sz="5250" spc="-2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5250">
                <a:solidFill>
                  <a:srgbClr val="080808"/>
                </a:solidFill>
                <a:latin typeface="Arial MT"/>
                <a:cs typeface="Arial MT"/>
              </a:rPr>
              <a:t>Danger</a:t>
            </a:r>
            <a:r>
              <a:rPr dirty="0" sz="5250" spc="7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>
                <a:solidFill>
                  <a:srgbClr val="080808"/>
                </a:solidFill>
                <a:latin typeface="Arial MT"/>
                <a:cs typeface="Arial MT"/>
              </a:rPr>
              <a:t>of</a:t>
            </a:r>
            <a:r>
              <a:rPr dirty="0" sz="5250" spc="-9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>
                <a:solidFill>
                  <a:srgbClr val="080808"/>
                </a:solidFill>
                <a:latin typeface="Arial MT"/>
                <a:cs typeface="Arial MT"/>
              </a:rPr>
              <a:t>Stale</a:t>
            </a:r>
            <a:r>
              <a:rPr dirty="0" sz="5250" spc="-37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250" spc="-20">
                <a:solidFill>
                  <a:srgbClr val="080808"/>
                </a:solidFill>
                <a:latin typeface="Arial MT"/>
                <a:cs typeface="Arial MT"/>
              </a:rPr>
              <a:t>Data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1556" y="3823052"/>
            <a:ext cx="2376170" cy="851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310"/>
              </a:lnSpc>
              <a:spcBef>
                <a:spcPts val="95"/>
              </a:spcBef>
            </a:pPr>
            <a:r>
              <a:rPr dirty="0" sz="2850" spc="-110">
                <a:latin typeface="Arial MT"/>
                <a:cs typeface="Arial MT"/>
              </a:rPr>
              <a:t>Source</a:t>
            </a:r>
            <a:r>
              <a:rPr dirty="0" sz="2850" spc="-135">
                <a:latin typeface="Arial MT"/>
                <a:cs typeface="Arial MT"/>
              </a:rPr>
              <a:t> </a:t>
            </a:r>
            <a:r>
              <a:rPr dirty="0" sz="2850" spc="-80">
                <a:latin typeface="Arial MT"/>
                <a:cs typeface="Arial MT"/>
              </a:rPr>
              <a:t>of</a:t>
            </a:r>
            <a:r>
              <a:rPr dirty="0" sz="2850" spc="-114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Truth</a:t>
            </a:r>
            <a:endParaRPr sz="2850">
              <a:latin typeface="Arial MT"/>
              <a:cs typeface="Arial MT"/>
            </a:endParaRPr>
          </a:p>
          <a:p>
            <a:pPr algn="ctr" marR="26670">
              <a:lnSpc>
                <a:spcPts val="3190"/>
              </a:lnSpc>
            </a:pPr>
            <a:r>
              <a:rPr dirty="0" sz="2750" spc="-10">
                <a:latin typeface="Arial MT"/>
                <a:cs typeface="Arial MT"/>
              </a:rPr>
              <a:t>(Database)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1855" y="7024510"/>
            <a:ext cx="133032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40">
                <a:solidFill>
                  <a:srgbClr val="212121"/>
                </a:solidFill>
                <a:latin typeface="Arial MT"/>
                <a:cs typeface="Arial MT"/>
              </a:rPr>
              <a:t>Updated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53798" y="2587272"/>
            <a:ext cx="2772410" cy="846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3125"/>
              </a:lnSpc>
              <a:spcBef>
                <a:spcPts val="125"/>
              </a:spcBef>
            </a:pPr>
            <a:r>
              <a:rPr dirty="0" sz="2750">
                <a:latin typeface="Arial MT"/>
                <a:cs typeface="Arial MT"/>
              </a:rPr>
              <a:t>In-Memory</a:t>
            </a:r>
            <a:r>
              <a:rPr dirty="0" sz="2750" spc="1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Cache</a:t>
            </a:r>
            <a:endParaRPr sz="2750">
              <a:latin typeface="Arial MT"/>
              <a:cs typeface="Arial MT"/>
            </a:endParaRPr>
          </a:p>
          <a:p>
            <a:pPr algn="ctr" marR="4445">
              <a:lnSpc>
                <a:spcPts val="3304"/>
              </a:lnSpc>
            </a:pPr>
            <a:r>
              <a:rPr dirty="0" sz="2900" spc="-10">
                <a:latin typeface="Arial MT"/>
                <a:cs typeface="Arial MT"/>
              </a:rPr>
              <a:t>(Redis)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0242" y="4446411"/>
            <a:ext cx="229743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60">
                <a:solidFill>
                  <a:srgbClr val="B34234"/>
                </a:solidFill>
                <a:latin typeface="Arial MT"/>
                <a:cs typeface="Arial MT"/>
              </a:rPr>
              <a:t>Item</a:t>
            </a:r>
            <a:r>
              <a:rPr dirty="0" sz="2600" spc="-60">
                <a:solidFill>
                  <a:srgbClr val="B34234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B62D23"/>
                </a:solidFill>
                <a:latin typeface="Arial MT"/>
                <a:cs typeface="Arial MT"/>
              </a:rPr>
              <a:t>Price:</a:t>
            </a:r>
            <a:r>
              <a:rPr dirty="0" sz="2600" spc="-55">
                <a:solidFill>
                  <a:srgbClr val="B62D23"/>
                </a:solidFill>
                <a:latin typeface="Arial MT"/>
                <a:cs typeface="Arial MT"/>
              </a:rPr>
              <a:t> </a:t>
            </a:r>
            <a:r>
              <a:rPr dirty="0" sz="2600" spc="25">
                <a:solidFill>
                  <a:srgbClr val="B81F1A"/>
                </a:solidFill>
                <a:latin typeface="Arial MT"/>
                <a:cs typeface="Arial MT"/>
              </a:rPr>
              <a:t>$10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29578" y="2619375"/>
            <a:ext cx="4100195" cy="14160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8920" marR="5080" indent="-236854">
              <a:lnSpc>
                <a:spcPts val="3600"/>
              </a:lnSpc>
              <a:spcBef>
                <a:spcPts val="345"/>
              </a:spcBef>
              <a:buChar char="•"/>
              <a:tabLst>
                <a:tab pos="248920" algn="l"/>
                <a:tab pos="254000" algn="l"/>
              </a:tabLst>
            </a:pPr>
            <a:r>
              <a:rPr dirty="0" sz="3100">
                <a:solidFill>
                  <a:srgbClr val="F66B2A"/>
                </a:solidFill>
                <a:latin typeface="Arial MT"/>
                <a:cs typeface="Arial MT"/>
              </a:rPr>
              <a:t>	</a:t>
            </a:r>
            <a:r>
              <a:rPr dirty="0" sz="3100" spc="-65">
                <a:latin typeface="Arial MT"/>
                <a:cs typeface="Arial MT"/>
              </a:rPr>
              <a:t>Cache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invalidation</a:t>
            </a:r>
            <a:r>
              <a:rPr dirty="0" sz="3100" spc="50">
                <a:latin typeface="Arial MT"/>
                <a:cs typeface="Arial MT"/>
              </a:rPr>
              <a:t> is </a:t>
            </a:r>
            <a:r>
              <a:rPr dirty="0" sz="3100">
                <a:latin typeface="Arial MT"/>
                <a:cs typeface="Arial MT"/>
              </a:rPr>
              <a:t>notoriously</a:t>
            </a:r>
            <a:r>
              <a:rPr dirty="0" sz="3100" spc="180">
                <a:latin typeface="Arial MT"/>
                <a:cs typeface="Arial MT"/>
              </a:rPr>
              <a:t> </a:t>
            </a:r>
            <a:r>
              <a:rPr dirty="0" sz="3100" spc="80">
                <a:latin typeface="Arial MT"/>
                <a:cs typeface="Arial MT"/>
              </a:rPr>
              <a:t>difficult</a:t>
            </a:r>
            <a:r>
              <a:rPr dirty="0" sz="3100" spc="105">
                <a:latin typeface="Arial MT"/>
                <a:cs typeface="Arial MT"/>
              </a:rPr>
              <a:t> </a:t>
            </a:r>
            <a:r>
              <a:rPr dirty="0" sz="3100" spc="65">
                <a:latin typeface="Arial MT"/>
                <a:cs typeface="Arial MT"/>
              </a:rPr>
              <a:t>in </a:t>
            </a:r>
            <a:r>
              <a:rPr dirty="0" sz="3100">
                <a:latin typeface="Arial MT"/>
                <a:cs typeface="Arial MT"/>
              </a:rPr>
              <a:t>distributed</a:t>
            </a:r>
            <a:r>
              <a:rPr dirty="0" sz="3100" spc="47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systems.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29578" y="4441825"/>
            <a:ext cx="4502785" cy="14097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9554" marR="5080" indent="-237490">
              <a:lnSpc>
                <a:spcPct val="96100"/>
              </a:lnSpc>
              <a:spcBef>
                <a:spcPts val="270"/>
              </a:spcBef>
              <a:buClr>
                <a:srgbClr val="F66723"/>
              </a:buClr>
              <a:buChar char="•"/>
              <a:tabLst>
                <a:tab pos="255270" algn="l"/>
              </a:tabLst>
            </a:pPr>
            <a:r>
              <a:rPr dirty="0" sz="3100" spc="65">
                <a:latin typeface="Arial MT"/>
                <a:cs typeface="Arial MT"/>
              </a:rPr>
              <a:t>If</a:t>
            </a:r>
            <a:r>
              <a:rPr dirty="0" sz="3100" spc="-145">
                <a:latin typeface="Arial MT"/>
                <a:cs typeface="Arial MT"/>
              </a:rPr>
              <a:t> </a:t>
            </a:r>
            <a:r>
              <a:rPr dirty="0" sz="3100" spc="50">
                <a:latin typeface="Arial MT"/>
                <a:cs typeface="Arial MT"/>
              </a:rPr>
              <a:t>the</a:t>
            </a:r>
            <a:r>
              <a:rPr dirty="0" sz="3100" spc="-23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database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updates, </a:t>
            </a:r>
            <a:r>
              <a:rPr dirty="0" sz="3100" spc="-10">
                <a:latin typeface="Arial MT"/>
                <a:cs typeface="Arial MT"/>
              </a:rPr>
              <a:t>	</a:t>
            </a:r>
            <a:r>
              <a:rPr dirty="0" sz="3100" spc="50">
                <a:latin typeface="Arial MT"/>
                <a:cs typeface="Arial MT"/>
              </a:rPr>
              <a:t>the</a:t>
            </a:r>
            <a:r>
              <a:rPr dirty="0" sz="3100" spc="-19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cache</a:t>
            </a:r>
            <a:r>
              <a:rPr dirty="0" sz="3100" spc="-21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must</a:t>
            </a:r>
            <a:r>
              <a:rPr dirty="0" sz="3100" spc="15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be </a:t>
            </a:r>
            <a:r>
              <a:rPr dirty="0" sz="3100" spc="-25">
                <a:latin typeface="Arial MT"/>
                <a:cs typeface="Arial MT"/>
              </a:rPr>
              <a:t>	</a:t>
            </a:r>
            <a:r>
              <a:rPr dirty="0" sz="3100">
                <a:latin typeface="Arial MT"/>
                <a:cs typeface="Arial MT"/>
              </a:rPr>
              <a:t>explicitly</a:t>
            </a:r>
            <a:r>
              <a:rPr dirty="0" sz="3100" spc="33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purged.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4860" y="6049433"/>
            <a:ext cx="248539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45">
                <a:solidFill>
                  <a:srgbClr val="262626"/>
                </a:solidFill>
                <a:latin typeface="Arial MT"/>
                <a:cs typeface="Arial MT"/>
              </a:rPr>
              <a:t>Stale</a:t>
            </a:r>
            <a:r>
              <a:rPr dirty="0" sz="2900" spc="-3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900" spc="-25">
                <a:solidFill>
                  <a:srgbClr val="2A2A2A"/>
                </a:solidFill>
                <a:latin typeface="Arial MT"/>
                <a:cs typeface="Arial MT"/>
              </a:rPr>
              <a:t>/</a:t>
            </a:r>
            <a:r>
              <a:rPr dirty="0" sz="2900" spc="-2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900" spc="-70">
                <a:solidFill>
                  <a:srgbClr val="1C1C1C"/>
                </a:solidFill>
                <a:latin typeface="Arial MT"/>
                <a:cs typeface="Arial MT"/>
              </a:rPr>
              <a:t>Outdated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30987" y="6290733"/>
            <a:ext cx="3940810" cy="1834514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55270" marR="5080" indent="-243204">
              <a:lnSpc>
                <a:spcPct val="97800"/>
              </a:lnSpc>
              <a:spcBef>
                <a:spcPts val="190"/>
              </a:spcBef>
              <a:buClr>
                <a:srgbClr val="F26621"/>
              </a:buClr>
              <a:buChar char="•"/>
              <a:tabLst>
                <a:tab pos="259079" algn="l"/>
              </a:tabLst>
            </a:pPr>
            <a:r>
              <a:rPr dirty="0" sz="2900" spc="95">
                <a:latin typeface="Arial MT"/>
                <a:cs typeface="Arial MT"/>
              </a:rPr>
              <a:t>Solutions:</a:t>
            </a:r>
            <a:r>
              <a:rPr dirty="0" sz="2900" spc="-240">
                <a:latin typeface="Arial MT"/>
                <a:cs typeface="Arial MT"/>
              </a:rPr>
              <a:t> </a:t>
            </a:r>
            <a:r>
              <a:rPr dirty="0" sz="2900" spc="90">
                <a:latin typeface="Arial MT"/>
                <a:cs typeface="Arial MT"/>
              </a:rPr>
              <a:t>Implement </a:t>
            </a:r>
            <a:r>
              <a:rPr dirty="0" sz="2900" spc="90">
                <a:latin typeface="Arial MT"/>
                <a:cs typeface="Arial MT"/>
              </a:rPr>
              <a:t>	</a:t>
            </a:r>
            <a:r>
              <a:rPr dirty="0" sz="2950" spc="100">
                <a:latin typeface="Arial MT"/>
                <a:cs typeface="Arial MT"/>
              </a:rPr>
              <a:t>short</a:t>
            </a:r>
            <a:r>
              <a:rPr dirty="0" sz="2950" spc="-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TTLs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35">
                <a:latin typeface="Arial MT"/>
                <a:cs typeface="Arial MT"/>
              </a:rPr>
              <a:t>and </a:t>
            </a:r>
            <a:r>
              <a:rPr dirty="0" sz="2950" spc="35">
                <a:latin typeface="Arial MT"/>
                <a:cs typeface="Arial MT"/>
              </a:rPr>
              <a:t>	</a:t>
            </a:r>
            <a:r>
              <a:rPr dirty="0" sz="3100">
                <a:latin typeface="Arial MT"/>
                <a:cs typeface="Arial MT"/>
              </a:rPr>
              <a:t>event-driven</a:t>
            </a:r>
            <a:r>
              <a:rPr dirty="0" sz="3100" spc="10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update 	architectures.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00" y="7772400"/>
            <a:ext cx="5168900" cy="149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6800" y="7772400"/>
            <a:ext cx="5181600" cy="149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84000" y="7772400"/>
            <a:ext cx="5168900" cy="149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463800"/>
            <a:ext cx="15163800" cy="48641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7426" y="362655"/>
            <a:ext cx="7734300" cy="1553845"/>
          </a:xfrm>
          <a:prstGeom prst="rect"/>
        </p:spPr>
        <p:txBody>
          <a:bodyPr wrap="square" lIns="0" tIns="220345" rIns="0" bIns="0" rtlCol="0" vert="horz">
            <a:spAutoFit/>
          </a:bodyPr>
          <a:lstStyle/>
          <a:p>
            <a:pPr marL="12700" marR="5080">
              <a:lnSpc>
                <a:spcPct val="76000"/>
              </a:lnSpc>
              <a:spcBef>
                <a:spcPts val="1735"/>
              </a:spcBef>
            </a:pPr>
            <a:r>
              <a:rPr dirty="0" sz="5700" spc="-175">
                <a:solidFill>
                  <a:srgbClr val="111111"/>
                </a:solidFill>
                <a:latin typeface="Arial MT"/>
                <a:cs typeface="Arial MT"/>
              </a:rPr>
              <a:t>Breaking</a:t>
            </a:r>
            <a:r>
              <a:rPr dirty="0" sz="5700" spc="-1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700" spc="-90">
                <a:solidFill>
                  <a:srgbClr val="010816"/>
                </a:solidFill>
                <a:latin typeface="Arial MT"/>
                <a:cs typeface="Arial MT"/>
              </a:rPr>
              <a:t>the</a:t>
            </a:r>
            <a:r>
              <a:rPr dirty="0" sz="5700" spc="-500">
                <a:solidFill>
                  <a:srgbClr val="010816"/>
                </a:solidFill>
                <a:latin typeface="Arial MT"/>
                <a:cs typeface="Arial MT"/>
              </a:rPr>
              <a:t> </a:t>
            </a:r>
            <a:r>
              <a:rPr dirty="0" sz="5700" spc="-215">
                <a:solidFill>
                  <a:srgbClr val="080808"/>
                </a:solidFill>
                <a:latin typeface="Arial MT"/>
                <a:cs typeface="Arial MT"/>
              </a:rPr>
              <a:t>Single-</a:t>
            </a:r>
            <a:r>
              <a:rPr dirty="0" sz="5700" spc="-300">
                <a:solidFill>
                  <a:srgbClr val="080808"/>
                </a:solidFill>
                <a:latin typeface="Arial MT"/>
                <a:cs typeface="Arial MT"/>
              </a:rPr>
              <a:t>Node </a:t>
            </a:r>
            <a:r>
              <a:rPr dirty="0" sz="5700" spc="-10">
                <a:solidFill>
                  <a:srgbClr val="0A0A0A"/>
                </a:solidFill>
                <a:latin typeface="Arial MT"/>
                <a:cs typeface="Arial MT"/>
              </a:rPr>
              <a:t>Limit</a:t>
            </a:r>
            <a:r>
              <a:rPr dirty="0" sz="5700" spc="-37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5700" spc="70">
                <a:solidFill>
                  <a:srgbClr val="080808"/>
                </a:solidFill>
                <a:latin typeface="Arial MT"/>
                <a:cs typeface="Arial MT"/>
              </a:rPr>
              <a:t>with</a:t>
            </a:r>
            <a:r>
              <a:rPr dirty="0" sz="5700" spc="-58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5700" spc="-10">
                <a:solidFill>
                  <a:srgbClr val="080808"/>
                </a:solidFill>
                <a:latin typeface="Arial MT"/>
                <a:cs typeface="Arial MT"/>
              </a:rPr>
              <a:t>Clusters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7767" y="4425244"/>
            <a:ext cx="1061085" cy="855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dirty="0" sz="3050" spc="-55">
                <a:latin typeface="Arial MT"/>
                <a:cs typeface="Arial MT"/>
              </a:rPr>
              <a:t>Single</a:t>
            </a:r>
            <a:endParaRPr sz="3050">
              <a:latin typeface="Arial MT"/>
              <a:cs typeface="Arial MT"/>
            </a:endParaRPr>
          </a:p>
          <a:p>
            <a:pPr marL="14604">
              <a:lnSpc>
                <a:spcPts val="3175"/>
              </a:lnSpc>
            </a:pPr>
            <a:r>
              <a:rPr dirty="0" sz="2900" spc="-20">
                <a:latin typeface="Arial MT"/>
                <a:cs typeface="Arial MT"/>
              </a:rPr>
              <a:t>Node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2408" y="2099733"/>
            <a:ext cx="254190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>
                <a:latin typeface="Arial MT"/>
                <a:cs typeface="Arial MT"/>
              </a:rPr>
              <a:t>Massive</a:t>
            </a:r>
            <a:r>
              <a:rPr dirty="0" sz="2900" spc="1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Traffic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8181" y="7794070"/>
            <a:ext cx="3756025" cy="135826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750">
                <a:latin typeface="Arial MT"/>
                <a:cs typeface="Arial MT"/>
              </a:rPr>
              <a:t>Data </a:t>
            </a:r>
            <a:r>
              <a:rPr dirty="0" sz="2750" spc="50">
                <a:latin typeface="Arial MT"/>
                <a:cs typeface="Arial MT"/>
              </a:rPr>
              <a:t>Sharding</a:t>
            </a:r>
            <a:endParaRPr sz="2750">
              <a:latin typeface="Arial MT"/>
              <a:cs typeface="Arial MT"/>
            </a:endParaRPr>
          </a:p>
          <a:p>
            <a:pPr marL="16510">
              <a:lnSpc>
                <a:spcPts val="2815"/>
              </a:lnSpc>
              <a:spcBef>
                <a:spcPts val="650"/>
              </a:spcBef>
            </a:pPr>
            <a:r>
              <a:rPr dirty="0" sz="2400">
                <a:latin typeface="Arial MT"/>
                <a:cs typeface="Arial MT"/>
              </a:rPr>
              <a:t>Memory</a:t>
            </a:r>
            <a:r>
              <a:rPr dirty="0" sz="2400" spc="345">
                <a:latin typeface="Arial MT"/>
                <a:cs typeface="Arial MT"/>
              </a:rPr>
              <a:t> </a:t>
            </a:r>
            <a:r>
              <a:rPr dirty="0" sz="2400" spc="50">
                <a:latin typeface="Arial MT"/>
                <a:cs typeface="Arial MT"/>
              </a:rPr>
              <a:t>is</a:t>
            </a:r>
            <a:r>
              <a:rPr dirty="0" sz="2400" spc="100">
                <a:latin typeface="Arial MT"/>
                <a:cs typeface="Arial MT"/>
              </a:rPr>
              <a:t> </a:t>
            </a:r>
            <a:r>
              <a:rPr dirty="0" sz="2400" spc="55">
                <a:latin typeface="Arial MT"/>
                <a:cs typeface="Arial MT"/>
              </a:rPr>
              <a:t>mathematically</a:t>
            </a:r>
            <a:endParaRPr sz="2400">
              <a:latin typeface="Arial MT"/>
              <a:cs typeface="Arial MT"/>
            </a:endParaRPr>
          </a:p>
          <a:p>
            <a:pPr marL="17780">
              <a:lnSpc>
                <a:spcPts val="2995"/>
              </a:lnSpc>
            </a:pPr>
            <a:r>
              <a:rPr dirty="0" sz="2550">
                <a:latin typeface="Arial MT"/>
                <a:cs typeface="Arial MT"/>
              </a:rPr>
              <a:t>partitioned</a:t>
            </a:r>
            <a:r>
              <a:rPr dirty="0" sz="2550" spc="195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across</a:t>
            </a:r>
            <a:r>
              <a:rPr dirty="0" sz="255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nodes.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7732" y="3811763"/>
            <a:ext cx="1732280" cy="855344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 indent="-635">
              <a:lnSpc>
                <a:spcPts val="2950"/>
              </a:lnSpc>
              <a:spcBef>
                <a:spcPts val="725"/>
              </a:spcBef>
            </a:pPr>
            <a:r>
              <a:rPr dirty="0" sz="2950" spc="-10">
                <a:latin typeface="Arial MT"/>
                <a:cs typeface="Arial MT"/>
              </a:rPr>
              <a:t>Horizontal Scaling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4058" y="7806345"/>
            <a:ext cx="4197985" cy="134429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750" spc="80">
                <a:latin typeface="Arial MT"/>
                <a:cs typeface="Arial MT"/>
              </a:rPr>
              <a:t>Limitless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Scale</a:t>
            </a:r>
            <a:endParaRPr sz="2750">
              <a:latin typeface="Arial MT"/>
              <a:cs typeface="Arial MT"/>
            </a:endParaRPr>
          </a:p>
          <a:p>
            <a:pPr marL="17780" marR="5080" indent="-3175">
              <a:lnSpc>
                <a:spcPts val="2900"/>
              </a:lnSpc>
              <a:spcBef>
                <a:spcPts val="730"/>
              </a:spcBef>
            </a:pPr>
            <a:r>
              <a:rPr dirty="0" sz="2500">
                <a:latin typeface="Arial MT"/>
                <a:cs typeface="Arial MT"/>
              </a:rPr>
              <a:t>Breaks</a:t>
            </a:r>
            <a:r>
              <a:rPr dirty="0" sz="2500" spc="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physical</a:t>
            </a:r>
            <a:r>
              <a:rPr dirty="0" sz="2500" spc="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hardware </a:t>
            </a:r>
            <a:r>
              <a:rPr dirty="0" sz="2500">
                <a:latin typeface="Arial MT"/>
                <a:cs typeface="Arial MT"/>
              </a:rPr>
              <a:t>limits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114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single</a:t>
            </a:r>
            <a:r>
              <a:rPr dirty="0" sz="2500" spc="1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machine.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8143" y="7809460"/>
            <a:ext cx="3680460" cy="134302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850">
                <a:latin typeface="Arial MT"/>
                <a:cs typeface="Arial MT"/>
              </a:rPr>
              <a:t>High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Availability</a:t>
            </a:r>
            <a:endParaRPr sz="2850">
              <a:latin typeface="Arial MT"/>
              <a:cs typeface="Arial MT"/>
            </a:endParaRPr>
          </a:p>
          <a:p>
            <a:pPr marL="18415" marR="5080" indent="-1270">
              <a:lnSpc>
                <a:spcPts val="2900"/>
              </a:lnSpc>
              <a:spcBef>
                <a:spcPts val="710"/>
              </a:spcBef>
            </a:pPr>
            <a:r>
              <a:rPr dirty="0" sz="2550">
                <a:latin typeface="Arial MT"/>
                <a:cs typeface="Arial MT"/>
              </a:rPr>
              <a:t>Built-in</a:t>
            </a:r>
            <a:r>
              <a:rPr dirty="0" sz="2550" spc="4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fault</a:t>
            </a:r>
            <a:r>
              <a:rPr dirty="0" sz="2550" spc="5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tolerance</a:t>
            </a:r>
            <a:r>
              <a:rPr dirty="0" sz="2550" spc="5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if</a:t>
            </a:r>
            <a:r>
              <a:rPr dirty="0" sz="2550" spc="140">
                <a:latin typeface="Arial MT"/>
                <a:cs typeface="Arial MT"/>
              </a:rPr>
              <a:t> </a:t>
            </a:r>
            <a:r>
              <a:rPr dirty="0" sz="2550" spc="-335">
                <a:latin typeface="Arial MT"/>
                <a:cs typeface="Arial MT"/>
              </a:rPr>
              <a:t>a </a:t>
            </a:r>
            <a:r>
              <a:rPr dirty="0" sz="2550">
                <a:latin typeface="Arial MT"/>
                <a:cs typeface="Arial MT"/>
              </a:rPr>
              <a:t>single</a:t>
            </a:r>
            <a:r>
              <a:rPr dirty="0" sz="2550" spc="-3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node</a:t>
            </a:r>
            <a:r>
              <a:rPr dirty="0" sz="2550" spc="-8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fails.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60370" y="4418894"/>
            <a:ext cx="1217930" cy="87249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 marR="5080" indent="1270">
              <a:lnSpc>
                <a:spcPts val="3000"/>
              </a:lnSpc>
              <a:spcBef>
                <a:spcPts val="755"/>
              </a:spcBef>
            </a:pPr>
            <a:r>
              <a:rPr dirty="0" sz="3050" spc="-10">
                <a:latin typeface="Arial MT"/>
                <a:cs typeface="Arial MT"/>
              </a:rPr>
              <a:t>Redis </a:t>
            </a:r>
            <a:r>
              <a:rPr dirty="0" sz="3050" spc="-50">
                <a:latin typeface="Arial MT"/>
                <a:cs typeface="Arial MT"/>
              </a:rPr>
              <a:t>Cluster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1866900"/>
            <a:ext cx="3949700" cy="6794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600" y="2654300"/>
            <a:ext cx="6883400" cy="63881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37600" y="1871132"/>
            <a:ext cx="0" cy="7324090"/>
          </a:xfrm>
          <a:custGeom>
            <a:avLst/>
            <a:gdLst/>
            <a:ahLst/>
            <a:cxnLst/>
            <a:rect l="l" t="t" r="r" b="b"/>
            <a:pathLst>
              <a:path w="0" h="7324090">
                <a:moveTo>
                  <a:pt x="0" y="7323667"/>
                </a:moveTo>
                <a:lnTo>
                  <a:pt x="0" y="0"/>
                </a:lnTo>
              </a:path>
            </a:pathLst>
          </a:custGeom>
          <a:ln w="25400">
            <a:solidFill>
              <a:srgbClr val="6464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9081" y="408163"/>
            <a:ext cx="12171680" cy="8616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Arial MT"/>
                <a:cs typeface="Arial MT"/>
              </a:rPr>
              <a:t>Ensuring</a:t>
            </a:r>
            <a:r>
              <a:rPr dirty="0" spc="-14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Resilience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dirty="0" spc="2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Volatile</a:t>
            </a:r>
            <a:r>
              <a:rPr dirty="0" spc="-90">
                <a:latin typeface="Arial MT"/>
                <a:cs typeface="Arial MT"/>
              </a:rPr>
              <a:t> </a:t>
            </a:r>
            <a:r>
              <a:rPr dirty="0" spc="55">
                <a:latin typeface="Arial MT"/>
                <a:cs typeface="Arial MT"/>
              </a:rPr>
              <a:t>Memory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03174" y="4907491"/>
            <a:ext cx="1748155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11250">
              <a:lnSpc>
                <a:spcPts val="2970"/>
              </a:lnSpc>
              <a:spcBef>
                <a:spcPts val="105"/>
              </a:spcBef>
            </a:pPr>
            <a:r>
              <a:rPr dirty="0" sz="2700" spc="-300">
                <a:latin typeface="Arial MT"/>
                <a:cs typeface="Arial MT"/>
              </a:rPr>
              <a:t>RDB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2970"/>
              </a:lnSpc>
            </a:pPr>
            <a:r>
              <a:rPr dirty="0" sz="2700" spc="-95">
                <a:latin typeface="Arial MT"/>
                <a:cs typeface="Arial MT"/>
              </a:rPr>
              <a:t>(Snapshots)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0574" y="4925130"/>
            <a:ext cx="2908300" cy="763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955">
              <a:lnSpc>
                <a:spcPts val="2805"/>
              </a:lnSpc>
              <a:spcBef>
                <a:spcPts val="120"/>
              </a:spcBef>
            </a:pPr>
            <a:r>
              <a:rPr dirty="0" sz="2550" spc="-25">
                <a:latin typeface="Arial MT"/>
                <a:cs typeface="Arial MT"/>
              </a:rPr>
              <a:t>AOF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ts val="2985"/>
              </a:lnSpc>
            </a:pPr>
            <a:r>
              <a:rPr dirty="0" sz="2700" spc="-90">
                <a:latin typeface="Arial MT"/>
                <a:cs typeface="Arial MT"/>
              </a:rPr>
              <a:t>(Append-</a:t>
            </a:r>
            <a:r>
              <a:rPr dirty="0" sz="2700" spc="-55">
                <a:latin typeface="Arial MT"/>
                <a:cs typeface="Arial MT"/>
              </a:rPr>
              <a:t>Only </a:t>
            </a:r>
            <a:r>
              <a:rPr dirty="0" sz="2700" spc="-90">
                <a:latin typeface="Arial MT"/>
                <a:cs typeface="Arial MT"/>
              </a:rPr>
              <a:t>Logs)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295" y="1791758"/>
            <a:ext cx="7447915" cy="2159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solidFill>
                  <a:srgbClr val="1C1C1C"/>
                </a:solidFill>
                <a:latin typeface="Arial MT"/>
                <a:cs typeface="Arial MT"/>
              </a:rPr>
              <a:t>Disk</a:t>
            </a:r>
            <a:r>
              <a:rPr dirty="0" sz="3550" spc="-6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3550">
                <a:solidFill>
                  <a:srgbClr val="131313"/>
                </a:solidFill>
                <a:latin typeface="Arial MT"/>
                <a:cs typeface="Arial MT"/>
              </a:rPr>
              <a:t>Persistence</a:t>
            </a:r>
            <a:r>
              <a:rPr dirty="0" sz="3550" spc="1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550" spc="-10">
                <a:solidFill>
                  <a:srgbClr val="181818"/>
                </a:solidFill>
                <a:latin typeface="Arial MT"/>
                <a:cs typeface="Arial MT"/>
              </a:rPr>
              <a:t>(Crash</a:t>
            </a:r>
            <a:r>
              <a:rPr dirty="0" sz="3550" spc="-8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550" spc="-10">
                <a:solidFill>
                  <a:srgbClr val="111111"/>
                </a:solidFill>
                <a:latin typeface="Arial MT"/>
                <a:cs typeface="Arial MT"/>
              </a:rPr>
              <a:t>Safety)</a:t>
            </a:r>
            <a:endParaRPr sz="3550">
              <a:latin typeface="Arial MT"/>
              <a:cs typeface="Arial MT"/>
            </a:endParaRPr>
          </a:p>
          <a:p>
            <a:pPr marL="5074285" marR="5080" indent="3810">
              <a:lnSpc>
                <a:spcPct val="85700"/>
              </a:lnSpc>
              <a:spcBef>
                <a:spcPts val="3085"/>
              </a:spcBef>
            </a:pPr>
            <a:r>
              <a:rPr dirty="0" sz="2300" spc="-70">
                <a:latin typeface="Arial MT"/>
                <a:cs typeface="Arial MT"/>
              </a:rPr>
              <a:t>Replicas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provide </a:t>
            </a:r>
            <a:r>
              <a:rPr dirty="0" sz="2300">
                <a:latin typeface="Arial MT"/>
                <a:cs typeface="Arial MT"/>
              </a:rPr>
              <a:t>constant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backups. </a:t>
            </a:r>
            <a:r>
              <a:rPr dirty="0" sz="2300">
                <a:latin typeface="Arial MT"/>
                <a:cs typeface="Arial MT"/>
              </a:rPr>
              <a:t>If</a:t>
            </a:r>
            <a:r>
              <a:rPr dirty="0" sz="2300" spc="-1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Master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burns </a:t>
            </a:r>
            <a:r>
              <a:rPr dirty="0" sz="2300" spc="-55">
                <a:latin typeface="Arial MT"/>
                <a:cs typeface="Arial MT"/>
              </a:rPr>
              <a:t>down,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Sentinel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20225" y="3874558"/>
            <a:ext cx="1045844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35">
                <a:latin typeface="Arial MT"/>
                <a:cs typeface="Arial MT"/>
              </a:rPr>
              <a:t>Sentinel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02384" y="3874558"/>
            <a:ext cx="2500630" cy="67310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6510" marR="5080" indent="-4445">
              <a:lnSpc>
                <a:spcPts val="2350"/>
              </a:lnSpc>
              <a:spcBef>
                <a:spcPts val="509"/>
              </a:spcBef>
            </a:pPr>
            <a:r>
              <a:rPr dirty="0" sz="2300" spc="-10">
                <a:latin typeface="Arial MT"/>
                <a:cs typeface="Arial MT"/>
              </a:rPr>
              <a:t>automatically promotes</a:t>
            </a:r>
            <a:r>
              <a:rPr dirty="0" sz="2300" spc="-135">
                <a:latin typeface="Arial MT"/>
                <a:cs typeface="Arial MT"/>
              </a:rPr>
              <a:t> </a:t>
            </a:r>
            <a:r>
              <a:rPr dirty="0" sz="2300" spc="-160">
                <a:latin typeface="Arial MT"/>
                <a:cs typeface="Arial MT"/>
              </a:rPr>
              <a:t>a</a:t>
            </a:r>
            <a:r>
              <a:rPr dirty="0" sz="2300" spc="-75">
                <a:latin typeface="Arial MT"/>
                <a:cs typeface="Arial MT"/>
              </a:rPr>
              <a:t> Replica.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44129" y="7538508"/>
            <a:ext cx="2568575" cy="12636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 marR="5080" indent="7620">
              <a:lnSpc>
                <a:spcPct val="83300"/>
              </a:lnSpc>
              <a:spcBef>
                <a:spcPts val="550"/>
              </a:spcBef>
            </a:pPr>
            <a:r>
              <a:rPr dirty="0" sz="2300" spc="-70">
                <a:latin typeface="Arial MT"/>
                <a:cs typeface="Arial MT"/>
              </a:rPr>
              <a:t>Replicas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provide </a:t>
            </a:r>
            <a:r>
              <a:rPr dirty="0" sz="2350" spc="-20">
                <a:latin typeface="Arial MT"/>
                <a:cs typeface="Arial MT"/>
              </a:rPr>
              <a:t>constant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-85">
                <a:latin typeface="Arial MT"/>
                <a:cs typeface="Arial MT"/>
              </a:rPr>
              <a:t>backups.</a:t>
            </a:r>
            <a:r>
              <a:rPr dirty="0" sz="2350" spc="-9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If </a:t>
            </a:r>
            <a:r>
              <a:rPr dirty="0" sz="2350" spc="-10">
                <a:latin typeface="Arial MT"/>
                <a:cs typeface="Arial MT"/>
              </a:rPr>
              <a:t>the</a:t>
            </a:r>
            <a:r>
              <a:rPr dirty="0" sz="2350" spc="-170">
                <a:latin typeface="Arial MT"/>
                <a:cs typeface="Arial MT"/>
              </a:rPr>
              <a:t> </a:t>
            </a:r>
            <a:r>
              <a:rPr dirty="0" sz="2350" spc="-65">
                <a:latin typeface="Arial MT"/>
                <a:cs typeface="Arial MT"/>
              </a:rPr>
              <a:t>Master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burns </a:t>
            </a:r>
            <a:r>
              <a:rPr dirty="0" sz="2300" spc="-40">
                <a:latin typeface="Arial MT"/>
                <a:cs typeface="Arial MT"/>
              </a:rPr>
              <a:t>down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disk.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8280400"/>
            <a:ext cx="16687800" cy="1117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1700" y="3124200"/>
            <a:ext cx="1231900" cy="2501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7100" y="3111500"/>
            <a:ext cx="1244600" cy="2527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71300" y="5537200"/>
            <a:ext cx="381000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58600" y="4965700"/>
            <a:ext cx="1270000" cy="482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34800" y="4432300"/>
            <a:ext cx="1130300" cy="482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4800" y="3810000"/>
            <a:ext cx="1130300" cy="558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87400" y="5524500"/>
            <a:ext cx="393700" cy="88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93700" y="4965700"/>
            <a:ext cx="787400" cy="431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620500" y="3200400"/>
            <a:ext cx="2324100" cy="558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20700" y="4419600"/>
            <a:ext cx="558800" cy="495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042900" y="3822700"/>
            <a:ext cx="736600" cy="54610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546416" y="3187700"/>
            <a:ext cx="0" cy="2345690"/>
          </a:xfrm>
          <a:custGeom>
            <a:avLst/>
            <a:gdLst/>
            <a:ahLst/>
            <a:cxnLst/>
            <a:rect l="l" t="t" r="r" b="b"/>
            <a:pathLst>
              <a:path w="0" h="2345690">
                <a:moveTo>
                  <a:pt x="0" y="23452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81C2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1535833" y="3187700"/>
            <a:ext cx="2421890" cy="2345690"/>
            <a:chOff x="11535833" y="3187700"/>
            <a:chExt cx="2421890" cy="2345690"/>
          </a:xfrm>
        </p:grpSpPr>
        <p:sp>
          <p:nvSpPr>
            <p:cNvPr id="16" name="object 16"/>
            <p:cNvSpPr/>
            <p:nvPr/>
          </p:nvSpPr>
          <p:spPr>
            <a:xfrm>
              <a:off x="13946712" y="3187700"/>
              <a:ext cx="0" cy="2345690"/>
            </a:xfrm>
            <a:custGeom>
              <a:avLst/>
              <a:gdLst/>
              <a:ahLst/>
              <a:cxnLst/>
              <a:rect l="l" t="t" r="r" b="b"/>
              <a:pathLst>
                <a:path w="0" h="2345690">
                  <a:moveTo>
                    <a:pt x="0" y="2345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535833" y="3198283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 h="0">
                  <a:moveTo>
                    <a:pt x="0" y="0"/>
                  </a:moveTo>
                  <a:lnTo>
                    <a:pt x="2421466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535833" y="5522383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 h="0">
                  <a:moveTo>
                    <a:pt x="0" y="0"/>
                  </a:moveTo>
                  <a:lnTo>
                    <a:pt x="2421466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951883" y="3187700"/>
              <a:ext cx="0" cy="2345690"/>
            </a:xfrm>
            <a:custGeom>
              <a:avLst/>
              <a:gdLst/>
              <a:ahLst/>
              <a:cxnLst/>
              <a:rect l="l" t="t" r="r" b="b"/>
              <a:pathLst>
                <a:path w="0" h="2345690">
                  <a:moveTo>
                    <a:pt x="0" y="2345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535833" y="4967816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 h="0">
                  <a:moveTo>
                    <a:pt x="0" y="0"/>
                  </a:moveTo>
                  <a:lnTo>
                    <a:pt x="2421466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535833" y="4409016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 h="0">
                  <a:moveTo>
                    <a:pt x="0" y="0"/>
                  </a:moveTo>
                  <a:lnTo>
                    <a:pt x="2421466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535833" y="3812116"/>
              <a:ext cx="2421890" cy="0"/>
            </a:xfrm>
            <a:custGeom>
              <a:avLst/>
              <a:gdLst/>
              <a:ahLst/>
              <a:cxnLst/>
              <a:rect l="l" t="t" r="r" b="b"/>
              <a:pathLst>
                <a:path w="2421890" h="0">
                  <a:moveTo>
                    <a:pt x="0" y="0"/>
                  </a:moveTo>
                  <a:lnTo>
                    <a:pt x="2421466" y="0"/>
                  </a:lnTo>
                </a:path>
              </a:pathLst>
            </a:custGeom>
            <a:ln w="21166">
              <a:solidFill>
                <a:srgbClr val="181C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73100" y="2065867"/>
          <a:ext cx="16235044" cy="586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"/>
                <a:gridCol w="7851140"/>
                <a:gridCol w="7838439"/>
                <a:gridCol w="239394"/>
              </a:tblGrid>
              <a:tr h="800100">
                <a:tc gridSpan="2"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3600" spc="125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CDN</a:t>
                      </a:r>
                      <a:r>
                        <a:rPr dirty="0" sz="3600" spc="-245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600" spc="-10">
                          <a:latin typeface="Calibri"/>
                          <a:cs typeface="Calibri"/>
                        </a:rPr>
                        <a:t>(Content</a:t>
                      </a:r>
                      <a:r>
                        <a:rPr dirty="0" sz="3600" spc="-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600">
                          <a:latin typeface="Calibri"/>
                          <a:cs typeface="Calibri"/>
                        </a:rPr>
                        <a:t>Delivery</a:t>
                      </a:r>
                      <a:r>
                        <a:rPr dirty="0" sz="3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600" spc="-10">
                          <a:latin typeface="Calibri"/>
                          <a:cs typeface="Calibri"/>
                        </a:rPr>
                        <a:t>Network)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6350">
                      <a:solidFill>
                        <a:srgbClr val="13131F"/>
                      </a:solidFill>
                      <a:prstDash val="solid"/>
                    </a:lnL>
                    <a:lnR w="6350">
                      <a:solidFill>
                        <a:srgbClr val="13131F"/>
                      </a:solidFill>
                      <a:prstDash val="solid"/>
                    </a:lnR>
                    <a:lnT w="6350">
                      <a:solidFill>
                        <a:srgbClr val="13131F"/>
                      </a:solidFill>
                      <a:prstDash val="solid"/>
                    </a:lnT>
                    <a:lnB w="6350">
                      <a:solidFill>
                        <a:srgbClr val="13131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3400" spc="-35">
                          <a:latin typeface="Arial MT"/>
                          <a:cs typeface="Arial MT"/>
                        </a:rPr>
                        <a:t>In-</a:t>
                      </a:r>
                      <a:r>
                        <a:rPr dirty="0" sz="3400" spc="-25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3400" spc="-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10">
                          <a:latin typeface="Arial MT"/>
                          <a:cs typeface="Arial MT"/>
                        </a:rPr>
                        <a:t>Cache(Redis)</a:t>
                      </a:r>
                      <a:endParaRPr sz="3400">
                        <a:latin typeface="Arial MT"/>
                        <a:cs typeface="Arial MT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13131F"/>
                      </a:solidFill>
                      <a:prstDash val="solid"/>
                    </a:lnL>
                    <a:lnR w="6350">
                      <a:solidFill>
                        <a:srgbClr val="13131F"/>
                      </a:solidFill>
                      <a:prstDash val="solid"/>
                    </a:lnR>
                    <a:lnT w="6350">
                      <a:solidFill>
                        <a:srgbClr val="13131F"/>
                      </a:solidFill>
                      <a:prstDash val="solid"/>
                    </a:lnT>
                    <a:lnB w="6350">
                      <a:solidFill>
                        <a:srgbClr val="13131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060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13131F"/>
                      </a:solidFill>
                      <a:prstDash val="solid"/>
                    </a:lnL>
                    <a:lnT w="6350">
                      <a:solidFill>
                        <a:srgbClr val="1313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8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69265" indent="-269875">
                        <a:lnSpc>
                          <a:spcPct val="100000"/>
                        </a:lnSpc>
                        <a:buClr>
                          <a:srgbClr val="E26B33"/>
                        </a:buClr>
                        <a:buChar char="•"/>
                        <a:tabLst>
                          <a:tab pos="469265" algn="l"/>
                        </a:tabLst>
                      </a:pPr>
                      <a:r>
                        <a:rPr dirty="0" sz="2400" spc="-65">
                          <a:latin typeface="Arial MT"/>
                          <a:cs typeface="Arial MT"/>
                        </a:rPr>
                        <a:t>Edge</a:t>
                      </a:r>
                      <a:r>
                        <a:rPr dirty="0" sz="2400" spc="-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Geography:</a:t>
                      </a:r>
                      <a:r>
                        <a:rPr dirty="0" sz="2400" spc="-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5">
                          <a:latin typeface="Arial MT"/>
                          <a:cs typeface="Arial MT"/>
                        </a:rPr>
                        <a:t>Global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delivery.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481330" indent="-281940">
                        <a:lnSpc>
                          <a:spcPct val="100000"/>
                        </a:lnSpc>
                        <a:spcBef>
                          <a:spcPts val="220"/>
                        </a:spcBef>
                        <a:buClr>
                          <a:srgbClr val="DF672D"/>
                        </a:buClr>
                        <a:buChar char="•"/>
                        <a:tabLst>
                          <a:tab pos="481330" algn="l"/>
                        </a:tabLst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Asset</a:t>
                      </a:r>
                      <a:r>
                        <a:rPr dirty="0" sz="240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Type:</a:t>
                      </a:r>
                      <a:r>
                        <a:rPr dirty="0" sz="240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0">
                          <a:latin typeface="Arial MT"/>
                          <a:cs typeface="Arial MT"/>
                        </a:rPr>
                        <a:t>Stores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static</a:t>
                      </a:r>
                      <a:r>
                        <a:rPr dirty="0" sz="240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files</a:t>
                      </a:r>
                      <a:r>
                        <a:rPr dirty="0" sz="2400" spc="-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5">
                          <a:latin typeface="Arial MT"/>
                          <a:cs typeface="Arial MT"/>
                        </a:rPr>
                        <a:t>(images,</a:t>
                      </a:r>
                      <a:r>
                        <a:rPr dirty="0" sz="24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5">
                          <a:latin typeface="Arial MT"/>
                          <a:cs typeface="Arial MT"/>
                        </a:rPr>
                        <a:t>video,</a:t>
                      </a:r>
                      <a:r>
                        <a:rPr dirty="0" sz="2400" spc="-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HTML).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469900" marR="358140" indent="-271145">
                        <a:lnSpc>
                          <a:spcPts val="2700"/>
                        </a:lnSpc>
                        <a:spcBef>
                          <a:spcPts val="459"/>
                        </a:spcBef>
                        <a:buClr>
                          <a:srgbClr val="E2703B"/>
                        </a:buClr>
                        <a:buChar char="•"/>
                        <a:tabLst>
                          <a:tab pos="474980" algn="l"/>
                        </a:tabLst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Location: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85">
                          <a:latin typeface="Arial MT"/>
                          <a:cs typeface="Arial MT"/>
                        </a:rPr>
                        <a:t>Lives</a:t>
                      </a:r>
                      <a:r>
                        <a:rPr dirty="0" sz="24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240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80">
                          <a:latin typeface="Arial MT"/>
                          <a:cs typeface="Arial MT"/>
                        </a:rPr>
                        <a:t>edge</a:t>
                      </a:r>
                      <a:r>
                        <a:rPr dirty="0" sz="2400" spc="-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0">
                          <a:latin typeface="Arial MT"/>
                          <a:cs typeface="Arial MT"/>
                        </a:rPr>
                        <a:t>servers</a:t>
                      </a:r>
                      <a:r>
                        <a:rPr dirty="0" sz="2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physically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75">
                          <a:latin typeface="Arial MT"/>
                          <a:cs typeface="Arial MT"/>
                        </a:rPr>
                        <a:t>close</a:t>
                      </a:r>
                      <a:r>
                        <a:rPr dirty="0" sz="240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2400" spc="-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400" spc="-75">
                          <a:latin typeface="Arial MT"/>
                          <a:cs typeface="Arial MT"/>
                        </a:rPr>
                        <a:t>user's</a:t>
                      </a:r>
                      <a:r>
                        <a:rPr dirty="0" sz="24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location.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6350">
                      <a:solidFill>
                        <a:srgbClr val="13131F"/>
                      </a:solidFill>
                      <a:prstDash val="solid"/>
                    </a:lnR>
                    <a:lnT w="6350">
                      <a:solidFill>
                        <a:srgbClr val="13131F"/>
                      </a:solidFill>
                      <a:prstDash val="solid"/>
                    </a:lnT>
                    <a:lnB w="6350">
                      <a:solidFill>
                        <a:srgbClr val="1313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697230" indent="-285115">
                        <a:lnSpc>
                          <a:spcPts val="3005"/>
                        </a:lnSpc>
                        <a:buClr>
                          <a:srgbClr val="3446CC"/>
                        </a:buClr>
                        <a:buChar char="•"/>
                        <a:tabLst>
                          <a:tab pos="697230" algn="l"/>
                        </a:tabLst>
                      </a:pPr>
                      <a:r>
                        <a:rPr dirty="0" sz="2550" spc="-45">
                          <a:latin typeface="Arial MT"/>
                          <a:cs typeface="Arial MT"/>
                        </a:rPr>
                        <a:t>Architectural</a:t>
                      </a:r>
                      <a:r>
                        <a:rPr dirty="0" sz="25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25">
                          <a:latin typeface="Arial MT"/>
                          <a:cs typeface="Arial MT"/>
                        </a:rPr>
                        <a:t>Core:</a:t>
                      </a:r>
                      <a:r>
                        <a:rPr dirty="0" sz="255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1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25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35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2550" spc="-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caching.</a:t>
                      </a:r>
                      <a:endParaRPr sz="2550">
                        <a:latin typeface="Arial MT"/>
                        <a:cs typeface="Arial MT"/>
                      </a:endParaRPr>
                    </a:p>
                    <a:p>
                      <a:pPr marL="695325" indent="-284480">
                        <a:lnSpc>
                          <a:spcPts val="2840"/>
                        </a:lnSpc>
                        <a:buClr>
                          <a:srgbClr val="3146C8"/>
                        </a:buClr>
                        <a:buChar char="•"/>
                        <a:tabLst>
                          <a:tab pos="695325" algn="l"/>
                        </a:tabLst>
                      </a:pPr>
                      <a:r>
                        <a:rPr dirty="0" sz="2700" spc="-185">
                          <a:latin typeface="Arial MT"/>
                          <a:cs typeface="Arial MT"/>
                        </a:rPr>
                        <a:t>Asset</a:t>
                      </a:r>
                      <a:r>
                        <a:rPr dirty="0" sz="2700" spc="-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200">
                          <a:latin typeface="Arial MT"/>
                          <a:cs typeface="Arial MT"/>
                        </a:rPr>
                        <a:t>Type:</a:t>
                      </a:r>
                      <a:r>
                        <a:rPr dirty="0" sz="2700" spc="-2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215">
                          <a:latin typeface="Arial MT"/>
                          <a:cs typeface="Arial MT"/>
                        </a:rPr>
                        <a:t>Stores</a:t>
                      </a:r>
                      <a:r>
                        <a:rPr dirty="0" sz="2700" spc="-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225">
                          <a:latin typeface="Arial MT"/>
                          <a:cs typeface="Arial MT"/>
                        </a:rPr>
                        <a:t>dynamic</a:t>
                      </a:r>
                      <a:r>
                        <a:rPr dirty="0" sz="2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25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dirty="0" sz="27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195">
                          <a:latin typeface="Arial MT"/>
                          <a:cs typeface="Arial MT"/>
                        </a:rPr>
                        <a:t>results,</a:t>
                      </a:r>
                      <a:r>
                        <a:rPr dirty="0" sz="27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400">
                          <a:latin typeface="Arial MT"/>
                          <a:cs typeface="Arial MT"/>
                        </a:rPr>
                        <a:t>JSON,</a:t>
                      </a:r>
                      <a:endParaRPr sz="2700">
                        <a:latin typeface="Arial MT"/>
                        <a:cs typeface="Arial MT"/>
                      </a:endParaRPr>
                    </a:p>
                    <a:p>
                      <a:pPr marL="683260">
                        <a:lnSpc>
                          <a:spcPts val="3065"/>
                        </a:lnSpc>
                      </a:pPr>
                      <a:r>
                        <a:rPr dirty="0" sz="2850" spc="-32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850" spc="-2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50" spc="-325">
                          <a:latin typeface="Arial MT"/>
                          <a:cs typeface="Arial MT"/>
                        </a:rPr>
                        <a:t>session</a:t>
                      </a:r>
                      <a:r>
                        <a:rPr dirty="0" sz="285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50" spc="-270">
                          <a:latin typeface="Arial MT"/>
                          <a:cs typeface="Arial MT"/>
                        </a:rPr>
                        <a:t>states.</a:t>
                      </a:r>
                      <a:endParaRPr sz="2850">
                        <a:latin typeface="Arial MT"/>
                        <a:cs typeface="Arial MT"/>
                      </a:endParaRPr>
                    </a:p>
                    <a:p>
                      <a:pPr marL="684530" marR="560705" indent="-273050">
                        <a:lnSpc>
                          <a:spcPts val="2700"/>
                        </a:lnSpc>
                        <a:spcBef>
                          <a:spcPts val="380"/>
                        </a:spcBef>
                        <a:buClr>
                          <a:srgbClr val="3448D4"/>
                        </a:buClr>
                        <a:buChar char="•"/>
                        <a:tabLst>
                          <a:tab pos="690245" algn="l"/>
                        </a:tabLst>
                      </a:pPr>
                      <a:r>
                        <a:rPr dirty="0" sz="2550" spc="-80">
                          <a:latin typeface="Arial MT"/>
                          <a:cs typeface="Arial MT"/>
                        </a:rPr>
                        <a:t>Location:</a:t>
                      </a:r>
                      <a:r>
                        <a:rPr dirty="0" sz="255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60">
                          <a:latin typeface="Arial MT"/>
                          <a:cs typeface="Arial MT"/>
                        </a:rPr>
                        <a:t>Lives</a:t>
                      </a:r>
                      <a:r>
                        <a:rPr dirty="0" sz="255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550" spc="-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65"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25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65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25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75">
                          <a:latin typeface="Arial MT"/>
                          <a:cs typeface="Arial MT"/>
                        </a:rPr>
                        <a:t>directly</a:t>
                      </a:r>
                      <a:r>
                        <a:rPr dirty="0" sz="2550" spc="-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25">
                          <a:latin typeface="Arial MT"/>
                          <a:cs typeface="Arial MT"/>
                        </a:rPr>
                        <a:t>next </a:t>
                      </a:r>
                      <a:r>
                        <a:rPr dirty="0" sz="255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2550" spc="-25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550" spc="-10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255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215">
                          <a:latin typeface="Arial MT"/>
                          <a:cs typeface="Arial MT"/>
                        </a:rPr>
                        <a:t>API</a:t>
                      </a:r>
                      <a:r>
                        <a:rPr dirty="0" sz="2550" spc="-2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6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550" spc="-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70">
                          <a:latin typeface="Arial MT"/>
                          <a:cs typeface="Arial MT"/>
                        </a:rPr>
                        <a:t>Database.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13131F"/>
                      </a:solidFill>
                      <a:prstDash val="solid"/>
                    </a:lnL>
                    <a:lnT w="6350">
                      <a:solidFill>
                        <a:srgbClr val="13131F"/>
                      </a:solidFill>
                      <a:prstDash val="solid"/>
                    </a:lnT>
                    <a:lnB w="6350">
                      <a:solidFill>
                        <a:srgbClr val="1313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13131F"/>
                      </a:solidFill>
                      <a:prstDash val="solid"/>
                    </a:lnR>
                    <a:lnT w="6350">
                      <a:solidFill>
                        <a:srgbClr val="13131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3619500" y="3958166"/>
            <a:ext cx="17145" cy="741045"/>
            <a:chOff x="3619500" y="3958166"/>
            <a:chExt cx="17145" cy="741045"/>
          </a:xfrm>
        </p:grpSpPr>
        <p:sp>
          <p:nvSpPr>
            <p:cNvPr id="25" name="object 25"/>
            <p:cNvSpPr/>
            <p:nvPr/>
          </p:nvSpPr>
          <p:spPr>
            <a:xfrm>
              <a:off x="3621616" y="3996266"/>
              <a:ext cx="0" cy="664845"/>
            </a:xfrm>
            <a:custGeom>
              <a:avLst/>
              <a:gdLst/>
              <a:ahLst/>
              <a:cxnLst/>
              <a:rect l="l" t="t" r="r" b="b"/>
              <a:pathLst>
                <a:path w="0" h="664845">
                  <a:moveTo>
                    <a:pt x="0" y="664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34316" y="3958166"/>
              <a:ext cx="0" cy="741045"/>
            </a:xfrm>
            <a:custGeom>
              <a:avLst/>
              <a:gdLst/>
              <a:ahLst/>
              <a:cxnLst/>
              <a:rect l="l" t="t" r="r" b="b"/>
              <a:pathLst>
                <a:path w="0" h="741045">
                  <a:moveTo>
                    <a:pt x="0" y="740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3799416" y="4008966"/>
            <a:ext cx="0" cy="652145"/>
          </a:xfrm>
          <a:custGeom>
            <a:avLst/>
            <a:gdLst/>
            <a:ahLst/>
            <a:cxnLst/>
            <a:rect l="l" t="t" r="r" b="b"/>
            <a:pathLst>
              <a:path w="0" h="652145">
                <a:moveTo>
                  <a:pt x="0" y="651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203700" y="3831166"/>
            <a:ext cx="42545" cy="1134745"/>
            <a:chOff x="4203700" y="3831166"/>
            <a:chExt cx="42545" cy="1134745"/>
          </a:xfrm>
        </p:grpSpPr>
        <p:sp>
          <p:nvSpPr>
            <p:cNvPr id="29" name="object 29"/>
            <p:cNvSpPr/>
            <p:nvPr/>
          </p:nvSpPr>
          <p:spPr>
            <a:xfrm>
              <a:off x="4205816" y="3920066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43916" y="3831166"/>
              <a:ext cx="0" cy="1134745"/>
            </a:xfrm>
            <a:custGeom>
              <a:avLst/>
              <a:gdLst/>
              <a:ahLst/>
              <a:cxnLst/>
              <a:rect l="l" t="t" r="r" b="b"/>
              <a:pathLst>
                <a:path w="0" h="1134745">
                  <a:moveTo>
                    <a:pt x="0" y="1134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4688416" y="3107267"/>
            <a:ext cx="0" cy="2519045"/>
          </a:xfrm>
          <a:custGeom>
            <a:avLst/>
            <a:gdLst/>
            <a:ahLst/>
            <a:cxnLst/>
            <a:rect l="l" t="t" r="r" b="b"/>
            <a:pathLst>
              <a:path w="0" h="2519045">
                <a:moveTo>
                  <a:pt x="0" y="25188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739216" y="3107267"/>
            <a:ext cx="0" cy="2519045"/>
          </a:xfrm>
          <a:custGeom>
            <a:avLst/>
            <a:gdLst/>
            <a:ahLst/>
            <a:cxnLst/>
            <a:rect l="l" t="t" r="r" b="b"/>
            <a:pathLst>
              <a:path w="0" h="2519045">
                <a:moveTo>
                  <a:pt x="0" y="25188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20216" y="3678766"/>
            <a:ext cx="0" cy="1388745"/>
          </a:xfrm>
          <a:custGeom>
            <a:avLst/>
            <a:gdLst/>
            <a:ahLst/>
            <a:cxnLst/>
            <a:rect l="l" t="t" r="r" b="b"/>
            <a:pathLst>
              <a:path w="0" h="1388745">
                <a:moveTo>
                  <a:pt x="0" y="13885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5181600" y="3767666"/>
            <a:ext cx="42545" cy="1147445"/>
            <a:chOff x="5181600" y="3767666"/>
            <a:chExt cx="42545" cy="1147445"/>
          </a:xfrm>
        </p:grpSpPr>
        <p:sp>
          <p:nvSpPr>
            <p:cNvPr id="35" name="object 35"/>
            <p:cNvSpPr/>
            <p:nvPr/>
          </p:nvSpPr>
          <p:spPr>
            <a:xfrm>
              <a:off x="5183716" y="3767666"/>
              <a:ext cx="0" cy="1147445"/>
            </a:xfrm>
            <a:custGeom>
              <a:avLst/>
              <a:gdLst/>
              <a:ahLst/>
              <a:cxnLst/>
              <a:rect l="l" t="t" r="r" b="b"/>
              <a:pathLst>
                <a:path w="0" h="1147445">
                  <a:moveTo>
                    <a:pt x="0" y="1147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221816" y="3780366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5613400" y="3970866"/>
            <a:ext cx="29845" cy="766445"/>
            <a:chOff x="5613400" y="3970866"/>
            <a:chExt cx="29845" cy="766445"/>
          </a:xfrm>
        </p:grpSpPr>
        <p:sp>
          <p:nvSpPr>
            <p:cNvPr id="38" name="object 38"/>
            <p:cNvSpPr/>
            <p:nvPr/>
          </p:nvSpPr>
          <p:spPr>
            <a:xfrm>
              <a:off x="5615516" y="3970866"/>
              <a:ext cx="0" cy="766445"/>
            </a:xfrm>
            <a:custGeom>
              <a:avLst/>
              <a:gdLst/>
              <a:ahLst/>
              <a:cxnLst/>
              <a:rect l="l" t="t" r="r" b="b"/>
              <a:pathLst>
                <a:path w="0" h="766445">
                  <a:moveTo>
                    <a:pt x="0" y="766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40916" y="4034366"/>
              <a:ext cx="0" cy="677545"/>
            </a:xfrm>
            <a:custGeom>
              <a:avLst/>
              <a:gdLst/>
              <a:ahLst/>
              <a:cxnLst/>
              <a:rect l="l" t="t" r="r" b="b"/>
              <a:pathLst>
                <a:path w="0" h="677545">
                  <a:moveTo>
                    <a:pt x="0" y="677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313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/>
          <p:nvPr/>
        </p:nvSpPr>
        <p:spPr>
          <a:xfrm>
            <a:off x="5806016" y="3945466"/>
            <a:ext cx="0" cy="855344"/>
          </a:xfrm>
          <a:custGeom>
            <a:avLst/>
            <a:gdLst/>
            <a:ahLst/>
            <a:cxnLst/>
            <a:rect l="l" t="t" r="r" b="b"/>
            <a:pathLst>
              <a:path w="0" h="855345">
                <a:moveTo>
                  <a:pt x="0" y="8551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724216" y="3805766"/>
            <a:ext cx="0" cy="1096645"/>
          </a:xfrm>
          <a:custGeom>
            <a:avLst/>
            <a:gdLst/>
            <a:ahLst/>
            <a:cxnLst/>
            <a:rect l="l" t="t" r="r" b="b"/>
            <a:pathLst>
              <a:path w="0" h="1096645">
                <a:moveTo>
                  <a:pt x="0" y="10964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905316" y="3818466"/>
            <a:ext cx="0" cy="1083945"/>
          </a:xfrm>
          <a:custGeom>
            <a:avLst/>
            <a:gdLst/>
            <a:ahLst/>
            <a:cxnLst/>
            <a:rect l="l" t="t" r="r" b="b"/>
            <a:pathLst>
              <a:path w="0" h="1083945">
                <a:moveTo>
                  <a:pt x="0" y="108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045016" y="3818466"/>
            <a:ext cx="0" cy="1083945"/>
          </a:xfrm>
          <a:custGeom>
            <a:avLst/>
            <a:gdLst/>
            <a:ahLst/>
            <a:cxnLst/>
            <a:rect l="l" t="t" r="r" b="b"/>
            <a:pathLst>
              <a:path w="0" h="1083945">
                <a:moveTo>
                  <a:pt x="0" y="10837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121216" y="3996266"/>
            <a:ext cx="0" cy="906144"/>
          </a:xfrm>
          <a:custGeom>
            <a:avLst/>
            <a:gdLst/>
            <a:ahLst/>
            <a:cxnLst/>
            <a:rect l="l" t="t" r="r" b="b"/>
            <a:pathLst>
              <a:path w="0" h="906145">
                <a:moveTo>
                  <a:pt x="0" y="905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210116" y="3932766"/>
            <a:ext cx="0" cy="969644"/>
          </a:xfrm>
          <a:custGeom>
            <a:avLst/>
            <a:gdLst/>
            <a:ahLst/>
            <a:cxnLst/>
            <a:rect l="l" t="t" r="r" b="b"/>
            <a:pathLst>
              <a:path w="0" h="969645">
                <a:moveTo>
                  <a:pt x="0" y="9694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819716" y="3805766"/>
            <a:ext cx="0" cy="1096645"/>
          </a:xfrm>
          <a:custGeom>
            <a:avLst/>
            <a:gdLst/>
            <a:ahLst/>
            <a:cxnLst/>
            <a:rect l="l" t="t" r="r" b="b"/>
            <a:pathLst>
              <a:path w="0" h="1096645">
                <a:moveTo>
                  <a:pt x="0" y="10964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946716" y="3805766"/>
            <a:ext cx="0" cy="1096645"/>
          </a:xfrm>
          <a:custGeom>
            <a:avLst/>
            <a:gdLst/>
            <a:ahLst/>
            <a:cxnLst/>
            <a:rect l="l" t="t" r="r" b="b"/>
            <a:pathLst>
              <a:path w="0" h="1096645">
                <a:moveTo>
                  <a:pt x="0" y="1096433"/>
                </a:moveTo>
                <a:lnTo>
                  <a:pt x="0" y="0"/>
                </a:lnTo>
              </a:path>
            </a:pathLst>
          </a:custGeom>
          <a:ln w="4233">
            <a:solidFill>
              <a:srgbClr val="1313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04900" y="5797550"/>
            <a:ext cx="7188200" cy="0"/>
          </a:xfrm>
          <a:custGeom>
            <a:avLst/>
            <a:gdLst/>
            <a:ahLst/>
            <a:cxnLst/>
            <a:rect l="l" t="t" r="r" b="b"/>
            <a:pathLst>
              <a:path w="7188200" h="0">
                <a:moveTo>
                  <a:pt x="0" y="0"/>
                </a:moveTo>
                <a:lnTo>
                  <a:pt x="7188200" y="0"/>
                </a:lnTo>
              </a:path>
            </a:pathLst>
          </a:custGeom>
          <a:ln w="63500">
            <a:solidFill>
              <a:srgbClr val="01010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182100" y="5797550"/>
            <a:ext cx="7188200" cy="0"/>
          </a:xfrm>
          <a:custGeom>
            <a:avLst/>
            <a:gdLst/>
            <a:ahLst/>
            <a:cxnLst/>
            <a:rect l="l" t="t" r="r" b="b"/>
            <a:pathLst>
              <a:path w="7188200" h="0">
                <a:moveTo>
                  <a:pt x="0" y="0"/>
                </a:moveTo>
                <a:lnTo>
                  <a:pt x="7188200" y="0"/>
                </a:lnTo>
              </a:path>
            </a:pathLst>
          </a:custGeom>
          <a:ln w="63500">
            <a:solidFill>
              <a:srgbClr val="01010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633200" y="3185583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 h="0">
                <a:moveTo>
                  <a:pt x="0" y="0"/>
                </a:moveTo>
                <a:lnTo>
                  <a:pt x="1325033" y="0"/>
                </a:lnTo>
              </a:path>
            </a:pathLst>
          </a:custGeom>
          <a:ln w="29633">
            <a:solidFill>
              <a:srgbClr val="00030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3017500" y="3185583"/>
            <a:ext cx="931544" cy="0"/>
          </a:xfrm>
          <a:custGeom>
            <a:avLst/>
            <a:gdLst/>
            <a:ahLst/>
            <a:cxnLst/>
            <a:rect l="l" t="t" r="r" b="b"/>
            <a:pathLst>
              <a:path w="931544" h="0">
                <a:moveTo>
                  <a:pt x="0" y="0"/>
                </a:moveTo>
                <a:lnTo>
                  <a:pt x="931333" y="0"/>
                </a:lnTo>
              </a:path>
            </a:pathLst>
          </a:custGeom>
          <a:ln w="29633">
            <a:solidFill>
              <a:srgbClr val="0303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$PPTXTitle"/>
          <p:cNvSpPr txBox="1">
            <a:spLocks noGrp="1"/>
          </p:cNvSpPr>
          <p:nvPr>
            <p:ph type="title"/>
          </p:nvPr>
        </p:nvSpPr>
        <p:spPr>
          <a:xfrm>
            <a:off x="626147" y="451908"/>
            <a:ext cx="7649845" cy="1371600"/>
          </a:xfrm>
          <a:prstGeom prst="rect"/>
        </p:spPr>
        <p:txBody>
          <a:bodyPr wrap="square" lIns="0" tIns="128270" rIns="0" bIns="0" rtlCol="0" vert="horz">
            <a:spAutoFit/>
          </a:bodyPr>
          <a:lstStyle/>
          <a:p>
            <a:pPr marL="28575" marR="5080" indent="-16510">
              <a:lnSpc>
                <a:spcPts val="4850"/>
              </a:lnSpc>
              <a:spcBef>
                <a:spcPts val="1010"/>
              </a:spcBef>
            </a:pPr>
            <a:r>
              <a:rPr dirty="0" sz="4800">
                <a:solidFill>
                  <a:srgbClr val="050505"/>
                </a:solidFill>
                <a:latin typeface="Arial MT"/>
                <a:cs typeface="Arial MT"/>
              </a:rPr>
              <a:t>Distinguishing</a:t>
            </a:r>
            <a:r>
              <a:rPr dirty="0" sz="4800" spc="-3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4800" spc="-180">
                <a:solidFill>
                  <a:srgbClr val="050505"/>
                </a:solidFill>
                <a:latin typeface="Arial MT"/>
                <a:cs typeface="Arial MT"/>
              </a:rPr>
              <a:t>Edge</a:t>
            </a:r>
            <a:r>
              <a:rPr dirty="0" sz="4800" spc="-21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4800" spc="-10">
                <a:solidFill>
                  <a:srgbClr val="030303"/>
                </a:solidFill>
                <a:latin typeface="Arial MT"/>
                <a:cs typeface="Arial MT"/>
              </a:rPr>
              <a:t>Delivery </a:t>
            </a:r>
            <a:r>
              <a:rPr dirty="0" sz="4800" spc="70">
                <a:solidFill>
                  <a:srgbClr val="080808"/>
                </a:solidFill>
                <a:latin typeface="Arial MT"/>
                <a:cs typeface="Arial MT"/>
              </a:rPr>
              <a:t>from</a:t>
            </a:r>
            <a:r>
              <a:rPr dirty="0" sz="4800" spc="-40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4800" spc="-85">
                <a:solidFill>
                  <a:srgbClr val="050505"/>
                </a:solidFill>
                <a:latin typeface="Arial MT"/>
                <a:cs typeface="Arial MT"/>
              </a:rPr>
              <a:t>Backend</a:t>
            </a:r>
            <a:r>
              <a:rPr dirty="0" sz="4800" spc="-204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4800" spc="-10">
                <a:solidFill>
                  <a:srgbClr val="070707"/>
                </a:solidFill>
                <a:latin typeface="Arial MT"/>
                <a:cs typeface="Arial MT"/>
              </a:rPr>
              <a:t>Memory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902205" y="8603191"/>
            <a:ext cx="157226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60">
                <a:solidFill>
                  <a:srgbClr val="070707"/>
                </a:solidFill>
                <a:latin typeface="Arial MT"/>
                <a:cs typeface="Arial MT"/>
              </a:rPr>
              <a:t>A</a:t>
            </a:r>
            <a:r>
              <a:rPr dirty="0" sz="2700" spc="-14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700" spc="-185">
                <a:solidFill>
                  <a:srgbClr val="C66E44"/>
                </a:solidFill>
                <a:latin typeface="Arial MT"/>
                <a:cs typeface="Arial MT"/>
              </a:rPr>
              <a:t>CDN</a:t>
            </a:r>
            <a:r>
              <a:rPr dirty="0" sz="2700" spc="-150">
                <a:solidFill>
                  <a:srgbClr val="C66E44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defeats</a:t>
            </a:r>
            <a:r>
              <a:rPr dirty="0" sz="2700" spc="-165">
                <a:latin typeface="Arial MT"/>
                <a:cs typeface="Arial MT"/>
              </a:rPr>
              <a:t> </a:t>
            </a:r>
            <a:r>
              <a:rPr dirty="0" sz="2700" spc="-30">
                <a:latin typeface="Arial MT"/>
                <a:cs typeface="Arial MT"/>
              </a:rPr>
              <a:t>physical</a:t>
            </a:r>
            <a:r>
              <a:rPr dirty="0" sz="2700" spc="-15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distance</a:t>
            </a:r>
            <a:r>
              <a:rPr dirty="0" sz="2700" spc="-15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for</a:t>
            </a:r>
            <a:r>
              <a:rPr dirty="0" sz="2700" spc="-60"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CA723F"/>
                </a:solidFill>
                <a:latin typeface="Arial MT"/>
                <a:cs typeface="Arial MT"/>
              </a:rPr>
              <a:t>static</a:t>
            </a:r>
            <a:r>
              <a:rPr dirty="0" sz="2700" spc="55">
                <a:solidFill>
                  <a:srgbClr val="CA723F"/>
                </a:solidFill>
                <a:latin typeface="Arial MT"/>
                <a:cs typeface="Arial MT"/>
              </a:rPr>
              <a:t> </a:t>
            </a:r>
            <a:r>
              <a:rPr dirty="0" sz="2700" spc="-75">
                <a:latin typeface="Arial MT"/>
                <a:cs typeface="Arial MT"/>
              </a:rPr>
              <a:t>assets.</a:t>
            </a:r>
            <a:r>
              <a:rPr dirty="0" sz="2700" spc="-204">
                <a:latin typeface="Arial MT"/>
                <a:cs typeface="Arial MT"/>
              </a:rPr>
              <a:t> </a:t>
            </a:r>
            <a:r>
              <a:rPr dirty="0" sz="2700" spc="-75">
                <a:solidFill>
                  <a:srgbClr val="3D4B99"/>
                </a:solidFill>
                <a:latin typeface="Arial MT"/>
                <a:cs typeface="Arial MT"/>
              </a:rPr>
              <a:t>Redis</a:t>
            </a:r>
            <a:r>
              <a:rPr dirty="0" sz="2700" spc="-210">
                <a:solidFill>
                  <a:srgbClr val="3D4B9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defeats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40">
                <a:latin typeface="Arial MT"/>
                <a:cs typeface="Arial MT"/>
              </a:rPr>
              <a:t>mechanical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disk</a:t>
            </a:r>
            <a:r>
              <a:rPr dirty="0" sz="2700" spc="-160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latency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for</a:t>
            </a:r>
            <a:r>
              <a:rPr dirty="0" sz="2700" spc="-160"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31419C"/>
                </a:solidFill>
                <a:latin typeface="Arial MT"/>
                <a:cs typeface="Arial MT"/>
              </a:rPr>
              <a:t>dynamic</a:t>
            </a:r>
            <a:r>
              <a:rPr dirty="0" sz="2700" spc="45">
                <a:solidFill>
                  <a:srgbClr val="31419C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data.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2900" y="6438900"/>
            <a:ext cx="3086100" cy="1193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7900" y="6438900"/>
            <a:ext cx="1562100" cy="173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9600" y="2324100"/>
            <a:ext cx="12839700" cy="4051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700" y="4343400"/>
            <a:ext cx="406400" cy="40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1700" y="5194300"/>
            <a:ext cx="406400" cy="406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1300" y="4152900"/>
            <a:ext cx="406400" cy="4064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511300" y="4076700"/>
            <a:ext cx="1422400" cy="1752600"/>
            <a:chOff x="1511300" y="4076700"/>
            <a:chExt cx="1422400" cy="1752600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7500" y="4610100"/>
              <a:ext cx="406400" cy="406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1300" y="4902200"/>
              <a:ext cx="1270000" cy="9271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8200" y="4076700"/>
              <a:ext cx="825500" cy="673100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181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 sz="4850" spc="-40">
                <a:latin typeface="Arial MT"/>
                <a:cs typeface="Arial MT"/>
              </a:rPr>
              <a:t>The</a:t>
            </a:r>
            <a:r>
              <a:rPr dirty="0" sz="4850" spc="-400">
                <a:latin typeface="Arial MT"/>
                <a:cs typeface="Arial MT"/>
              </a:rPr>
              <a:t> </a:t>
            </a:r>
            <a:r>
              <a:rPr dirty="0" sz="4850">
                <a:latin typeface="Arial MT"/>
                <a:cs typeface="Arial MT"/>
              </a:rPr>
              <a:t>Big</a:t>
            </a:r>
            <a:r>
              <a:rPr dirty="0" sz="4850" spc="-330">
                <a:latin typeface="Arial MT"/>
                <a:cs typeface="Arial MT"/>
              </a:rPr>
              <a:t> </a:t>
            </a:r>
            <a:r>
              <a:rPr dirty="0" sz="4850">
                <a:latin typeface="Arial MT"/>
                <a:cs typeface="Arial MT"/>
              </a:rPr>
              <a:t>Picture:</a:t>
            </a:r>
            <a:r>
              <a:rPr dirty="0" sz="4850" spc="-240">
                <a:latin typeface="Arial MT"/>
                <a:cs typeface="Arial MT"/>
              </a:rPr>
              <a:t> </a:t>
            </a:r>
            <a:r>
              <a:rPr dirty="0" sz="4850">
                <a:latin typeface="Arial MT"/>
                <a:cs typeface="Arial MT"/>
              </a:rPr>
              <a:t>Modern</a:t>
            </a:r>
            <a:r>
              <a:rPr dirty="0" sz="4850" spc="-80">
                <a:latin typeface="Arial MT"/>
                <a:cs typeface="Arial MT"/>
              </a:rPr>
              <a:t> </a:t>
            </a:r>
            <a:r>
              <a:rPr dirty="0" sz="4850">
                <a:latin typeface="Arial MT"/>
                <a:cs typeface="Arial MT"/>
              </a:rPr>
              <a:t>Production</a:t>
            </a:r>
            <a:r>
              <a:rPr dirty="0" sz="4850" spc="340">
                <a:latin typeface="Arial MT"/>
                <a:cs typeface="Arial MT"/>
              </a:rPr>
              <a:t> </a:t>
            </a:r>
            <a:r>
              <a:rPr dirty="0" sz="4850" spc="45">
                <a:latin typeface="Arial MT"/>
                <a:cs typeface="Arial MT"/>
              </a:rPr>
              <a:t>Architecture</a:t>
            </a:r>
            <a:endParaRPr sz="485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2068" y="5553471"/>
            <a:ext cx="1858010" cy="122936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575310">
              <a:lnSpc>
                <a:spcPct val="100000"/>
              </a:lnSpc>
              <a:spcBef>
                <a:spcPts val="670"/>
              </a:spcBef>
              <a:tabLst>
                <a:tab pos="1438910" algn="l"/>
              </a:tabLst>
            </a:pPr>
            <a:r>
              <a:rPr dirty="0" sz="4350" spc="-50" i="1">
                <a:solidFill>
                  <a:srgbClr val="3A3A3A"/>
                </a:solidFill>
                <a:latin typeface="Arial"/>
                <a:cs typeface="Arial"/>
              </a:rPr>
              <a:t>H</a:t>
            </a:r>
            <a:r>
              <a:rPr dirty="0" sz="4350" i="1">
                <a:solidFill>
                  <a:srgbClr val="3A3A3A"/>
                </a:solidFill>
                <a:latin typeface="Arial"/>
                <a:cs typeface="Arial"/>
              </a:rPr>
              <a:t>	</a:t>
            </a:r>
            <a:r>
              <a:rPr dirty="0" sz="4350" spc="-50" i="1">
                <a:solidFill>
                  <a:srgbClr val="3B3B3B"/>
                </a:solidFill>
                <a:latin typeface="Arial"/>
                <a:cs typeface="Arial"/>
              </a:rPr>
              <a:t>H</a:t>
            </a:r>
            <a:endParaRPr sz="4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750" spc="-10">
                <a:latin typeface="Arial MT"/>
                <a:cs typeface="Arial MT"/>
              </a:rPr>
              <a:t>User</a:t>
            </a:r>
            <a:r>
              <a:rPr dirty="0" sz="2750" spc="-18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Traffic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8818" y="5825772"/>
            <a:ext cx="192468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60">
                <a:latin typeface="Arial MT"/>
                <a:cs typeface="Arial MT"/>
              </a:rPr>
              <a:t>API</a:t>
            </a:r>
            <a:r>
              <a:rPr dirty="0" sz="2750" spc="-120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Gateway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0066" y="8197850"/>
            <a:ext cx="74002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65">
                <a:latin typeface="Arial MT"/>
                <a:cs typeface="Arial MT"/>
              </a:rPr>
              <a:t>Architecture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35">
                <a:latin typeface="Arial MT"/>
                <a:cs typeface="Arial MT"/>
              </a:rPr>
              <a:t>utilized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00">
                <a:latin typeface="Arial MT"/>
                <a:cs typeface="Arial MT"/>
              </a:rPr>
              <a:t>by: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Netflix,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Uber,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85">
                <a:latin typeface="Arial MT"/>
                <a:cs typeface="Arial MT"/>
              </a:rPr>
              <a:t>Discord,</a:t>
            </a:r>
            <a:r>
              <a:rPr dirty="0" sz="2500" spc="-90">
                <a:latin typeface="Arial MT"/>
                <a:cs typeface="Arial MT"/>
              </a:rPr>
              <a:t> GitHub,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 spc="-335">
                <a:latin typeface="Arial MT"/>
                <a:cs typeface="Arial MT"/>
              </a:rPr>
              <a:t>X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30307" y="4381147"/>
            <a:ext cx="132397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14">
                <a:latin typeface="Arial MT"/>
                <a:cs typeface="Arial MT"/>
              </a:rPr>
              <a:t>Rate</a:t>
            </a:r>
            <a:r>
              <a:rPr dirty="0" sz="2150" spc="-3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Limits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12261" y="1732491"/>
            <a:ext cx="201739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60">
                <a:latin typeface="Arial MT"/>
                <a:cs typeface="Arial MT"/>
              </a:rPr>
              <a:t>Redis</a:t>
            </a:r>
            <a:r>
              <a:rPr dirty="0" sz="2700" spc="-10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Cluster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66919" y="2907947"/>
            <a:ext cx="16370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90">
                <a:latin typeface="Arial MT"/>
                <a:cs typeface="Arial MT"/>
              </a:rPr>
              <a:t>Session</a:t>
            </a:r>
            <a:r>
              <a:rPr dirty="0" sz="2150" spc="-3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Store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00481" y="5143147"/>
            <a:ext cx="189547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60">
                <a:latin typeface="Arial MT"/>
                <a:cs typeface="Arial MT"/>
              </a:rPr>
              <a:t>Cached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 spc="-65">
                <a:latin typeface="Arial MT"/>
                <a:cs typeface="Arial MT"/>
              </a:rPr>
              <a:t>Queries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80519" y="8208433"/>
            <a:ext cx="270954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14">
                <a:latin typeface="Arial MT"/>
                <a:cs typeface="Arial MT"/>
              </a:rPr>
              <a:t>Primary</a:t>
            </a:r>
            <a:r>
              <a:rPr dirty="0" sz="2900" spc="-145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Database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71777" y="1723672"/>
            <a:ext cx="2181860" cy="8413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8910">
              <a:lnSpc>
                <a:spcPts val="3075"/>
              </a:lnSpc>
              <a:spcBef>
                <a:spcPts val="125"/>
              </a:spcBef>
            </a:pPr>
            <a:r>
              <a:rPr dirty="0" sz="2750" spc="-10">
                <a:latin typeface="Arial MT"/>
                <a:cs typeface="Arial MT"/>
              </a:rPr>
              <a:t>Background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ts val="3315"/>
              </a:lnSpc>
            </a:pPr>
            <a:r>
              <a:rPr dirty="0" sz="2950" spc="-180">
                <a:latin typeface="Arial MT"/>
                <a:cs typeface="Arial MT"/>
              </a:rPr>
              <a:t>Worker</a:t>
            </a:r>
            <a:r>
              <a:rPr dirty="0" sz="2950" spc="-55">
                <a:latin typeface="Arial MT"/>
                <a:cs typeface="Arial MT"/>
              </a:rPr>
              <a:t> </a:t>
            </a:r>
            <a:r>
              <a:rPr dirty="0" sz="2950" spc="-145">
                <a:latin typeface="Arial MT"/>
                <a:cs typeface="Arial MT"/>
              </a:rPr>
              <a:t>Nodes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87741" y="6538030"/>
            <a:ext cx="2661920" cy="113919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12700" marR="5080" indent="-22860">
              <a:lnSpc>
                <a:spcPct val="93000"/>
              </a:lnSpc>
              <a:spcBef>
                <a:spcPts val="330"/>
              </a:spcBef>
            </a:pPr>
            <a:r>
              <a:rPr dirty="0" sz="2550" spc="-10">
                <a:latin typeface="Arial MT"/>
                <a:cs typeface="Arial MT"/>
              </a:rPr>
              <a:t>Continuously </a:t>
            </a:r>
            <a:r>
              <a:rPr dirty="0" sz="2600" spc="-85">
                <a:latin typeface="Arial MT"/>
                <a:cs typeface="Arial MT"/>
              </a:rPr>
              <a:t>pulling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10">
                <a:latin typeface="Arial MT"/>
                <a:cs typeface="Arial MT"/>
              </a:rPr>
              <a:t>from </a:t>
            </a:r>
            <a:r>
              <a:rPr dirty="0" sz="2600" spc="-10">
                <a:latin typeface="Arial MT"/>
                <a:cs typeface="Arial MT"/>
              </a:rPr>
              <a:t>Redis </a:t>
            </a:r>
            <a:r>
              <a:rPr dirty="0" sz="2500" spc="-75">
                <a:latin typeface="Arial MT"/>
                <a:cs typeface="Arial MT"/>
              </a:rPr>
              <a:t>Messaging </a:t>
            </a:r>
            <a:r>
              <a:rPr dirty="0" sz="2500" spc="-114">
                <a:latin typeface="Arial MT"/>
                <a:cs typeface="Arial MT"/>
              </a:rPr>
              <a:t>Queues.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59174" y="8947502"/>
            <a:ext cx="1278699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70">
                <a:latin typeface="Arial MT"/>
                <a:cs typeface="Arial MT"/>
              </a:rPr>
              <a:t>Redis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 spc="-120">
                <a:latin typeface="Arial MT"/>
                <a:cs typeface="Arial MT"/>
              </a:rPr>
              <a:t>operates</a:t>
            </a:r>
            <a:r>
              <a:rPr dirty="0" sz="2850" spc="-75">
                <a:latin typeface="Arial MT"/>
                <a:cs typeface="Arial MT"/>
              </a:rPr>
              <a:t> </a:t>
            </a:r>
            <a:r>
              <a:rPr dirty="0" sz="2850" spc="-100">
                <a:latin typeface="Arial MT"/>
                <a:cs typeface="Arial MT"/>
              </a:rPr>
              <a:t>as</a:t>
            </a:r>
            <a:r>
              <a:rPr dirty="0" sz="2850" spc="-280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the</a:t>
            </a:r>
            <a:r>
              <a:rPr dirty="0" sz="2850" spc="-190">
                <a:latin typeface="Arial MT"/>
                <a:cs typeface="Arial MT"/>
              </a:rPr>
              <a:t> </a:t>
            </a:r>
            <a:r>
              <a:rPr dirty="0" sz="2850" spc="-110">
                <a:latin typeface="Arial MT"/>
                <a:cs typeface="Arial MT"/>
              </a:rPr>
              <a:t>performance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125">
                <a:latin typeface="Arial MT"/>
                <a:cs typeface="Arial MT"/>
              </a:rPr>
              <a:t>engine</a:t>
            </a:r>
            <a:r>
              <a:rPr dirty="0" sz="2850" spc="-11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of</a:t>
            </a:r>
            <a:r>
              <a:rPr dirty="0" sz="2850" spc="-75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the</a:t>
            </a:r>
            <a:r>
              <a:rPr dirty="0" sz="2850" spc="-200">
                <a:latin typeface="Arial MT"/>
                <a:cs typeface="Arial MT"/>
              </a:rPr>
              <a:t> </a:t>
            </a:r>
            <a:r>
              <a:rPr dirty="0" sz="2850" spc="-85">
                <a:latin typeface="Arial MT"/>
                <a:cs typeface="Arial MT"/>
              </a:rPr>
              <a:t>entire</a:t>
            </a:r>
            <a:r>
              <a:rPr dirty="0" sz="2850" spc="-114">
                <a:latin typeface="Arial MT"/>
                <a:cs typeface="Arial MT"/>
              </a:rPr>
              <a:t> </a:t>
            </a:r>
            <a:r>
              <a:rPr dirty="0" sz="2850" spc="-85">
                <a:latin typeface="Arial MT"/>
                <a:cs typeface="Arial MT"/>
              </a:rPr>
              <a:t>stack,</a:t>
            </a:r>
            <a:r>
              <a:rPr dirty="0" sz="2850" spc="-225">
                <a:latin typeface="Arial MT"/>
                <a:cs typeface="Arial MT"/>
              </a:rPr>
              <a:t> </a:t>
            </a:r>
            <a:r>
              <a:rPr dirty="0" sz="2850" spc="-45">
                <a:latin typeface="Arial MT"/>
                <a:cs typeface="Arial MT"/>
              </a:rPr>
              <a:t>not</a:t>
            </a:r>
            <a:r>
              <a:rPr dirty="0" sz="2850" spc="-85">
                <a:latin typeface="Arial MT"/>
                <a:cs typeface="Arial MT"/>
              </a:rPr>
              <a:t> </a:t>
            </a:r>
            <a:r>
              <a:rPr dirty="0" sz="2850" spc="-75">
                <a:latin typeface="Arial MT"/>
                <a:cs typeface="Arial MT"/>
              </a:rPr>
              <a:t>just</a:t>
            </a:r>
            <a:r>
              <a:rPr dirty="0" sz="2850" spc="-100">
                <a:latin typeface="Arial MT"/>
                <a:cs typeface="Arial MT"/>
              </a:rPr>
              <a:t> </a:t>
            </a:r>
            <a:r>
              <a:rPr dirty="0" sz="2850" spc="-120">
                <a:latin typeface="Arial MT"/>
                <a:cs typeface="Arial MT"/>
              </a:rPr>
              <a:t>a</a:t>
            </a:r>
            <a:r>
              <a:rPr dirty="0" sz="2850" spc="-245">
                <a:latin typeface="Arial MT"/>
                <a:cs typeface="Arial MT"/>
              </a:rPr>
              <a:t> </a:t>
            </a:r>
            <a:r>
              <a:rPr dirty="0" sz="2850" spc="-110">
                <a:latin typeface="Arial MT"/>
                <a:cs typeface="Arial MT"/>
              </a:rPr>
              <a:t>simple</a:t>
            </a:r>
            <a:r>
              <a:rPr dirty="0" sz="2850" spc="-229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cache.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5892800"/>
            <a:ext cx="1219200" cy="1079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2100" y="5892800"/>
            <a:ext cx="1219200" cy="1079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600" y="2374900"/>
            <a:ext cx="1231900" cy="1092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82100" y="2374900"/>
            <a:ext cx="1231900" cy="109220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3833" y="2070100"/>
          <a:ext cx="16264890" cy="7060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7355"/>
                <a:gridCol w="8119109"/>
              </a:tblGrid>
              <a:tr h="3534410">
                <a:tc>
                  <a:txBody>
                    <a:bodyPr/>
                    <a:lstStyle/>
                    <a:p>
                      <a:pPr algn="ctr" marL="224154">
                        <a:lnSpc>
                          <a:spcPct val="100000"/>
                        </a:lnSpc>
                        <a:spcBef>
                          <a:spcPts val="4065"/>
                        </a:spcBef>
                      </a:pPr>
                      <a:r>
                        <a:rPr dirty="0" sz="3850" spc="-30">
                          <a:latin typeface="Arial MT"/>
                          <a:cs typeface="Arial MT"/>
                        </a:rPr>
                        <a:t>Caching</a:t>
                      </a:r>
                      <a:r>
                        <a:rPr dirty="0" sz="3850" spc="-229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850" spc="-10">
                          <a:latin typeface="Arial MT"/>
                          <a:cs typeface="Arial MT"/>
                        </a:rPr>
                        <a:t>Everything</a:t>
                      </a:r>
                      <a:endParaRPr sz="3850">
                        <a:latin typeface="Arial MT"/>
                        <a:cs typeface="Arial MT"/>
                      </a:endParaRPr>
                    </a:p>
                    <a:p>
                      <a:pPr algn="just" marL="476250" marR="423545" indent="9525">
                        <a:lnSpc>
                          <a:spcPct val="93100"/>
                        </a:lnSpc>
                        <a:spcBef>
                          <a:spcPts val="3945"/>
                        </a:spcBef>
                      </a:pPr>
                      <a:r>
                        <a:rPr dirty="0" sz="3200" spc="-405">
                          <a:latin typeface="Arial MT"/>
                          <a:cs typeface="Arial MT"/>
                        </a:rPr>
                        <a:t>RAM</a:t>
                      </a:r>
                      <a:r>
                        <a:rPr dirty="0" sz="3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4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3200" spc="-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30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3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90">
                          <a:latin typeface="Arial MT"/>
                          <a:cs typeface="Arial MT"/>
                        </a:rPr>
                        <a:t>premium,</a:t>
                      </a:r>
                      <a:r>
                        <a:rPr dirty="0" sz="32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00">
                          <a:latin typeface="Arial MT"/>
                          <a:cs typeface="Arial MT"/>
                        </a:rPr>
                        <a:t>expensive</a:t>
                      </a:r>
                      <a:r>
                        <a:rPr dirty="0" sz="3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65">
                          <a:latin typeface="Arial MT"/>
                          <a:cs typeface="Arial MT"/>
                        </a:rPr>
                        <a:t>asset.</a:t>
                      </a:r>
                      <a:r>
                        <a:rPr dirty="0" sz="32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65">
                          <a:latin typeface="Arial MT"/>
                          <a:cs typeface="Arial MT"/>
                        </a:rPr>
                        <a:t>Storing</a:t>
                      </a:r>
                      <a:r>
                        <a:rPr dirty="0" sz="32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195">
                          <a:latin typeface="Arial MT"/>
                          <a:cs typeface="Arial MT"/>
                        </a:rPr>
                        <a:t>rarely</a:t>
                      </a:r>
                      <a:r>
                        <a:rPr dirty="0" sz="32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215">
                          <a:latin typeface="Arial MT"/>
                          <a:cs typeface="Arial MT"/>
                        </a:rPr>
                        <a:t>accessed</a:t>
                      </a:r>
                      <a:r>
                        <a:rPr dirty="0" sz="32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165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32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190">
                          <a:latin typeface="Arial MT"/>
                          <a:cs typeface="Arial MT"/>
                        </a:rPr>
                        <a:t>wastes</a:t>
                      </a:r>
                      <a:r>
                        <a:rPr dirty="0" sz="32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225">
                          <a:latin typeface="Arial MT"/>
                          <a:cs typeface="Arial MT"/>
                        </a:rPr>
                        <a:t>memory.</a:t>
                      </a:r>
                      <a:r>
                        <a:rPr dirty="0" sz="32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70"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32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60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3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4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33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5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3300" spc="-3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15">
                          <a:latin typeface="Arial MT"/>
                          <a:cs typeface="Arial MT"/>
                        </a:rPr>
                        <a:t>frequently</a:t>
                      </a:r>
                      <a:r>
                        <a:rPr dirty="0" sz="330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55">
                          <a:latin typeface="Arial MT"/>
                          <a:cs typeface="Arial MT"/>
                        </a:rPr>
                        <a:t>read.</a:t>
                      </a:r>
                      <a:endParaRPr sz="3300">
                        <a:latin typeface="Arial MT"/>
                        <a:cs typeface="Arial MT"/>
                      </a:endParaRPr>
                    </a:p>
                  </a:txBody>
                  <a:tcPr marL="0" marR="0" marB="0" marT="516255">
                    <a:lnL w="28575">
                      <a:solidFill>
                        <a:srgbClr val="1C1C1F"/>
                      </a:solidFill>
                      <a:prstDash val="solid"/>
                    </a:lnL>
                    <a:lnR w="28575">
                      <a:solidFill>
                        <a:srgbClr val="1C1C1F"/>
                      </a:solidFill>
                      <a:prstDash val="solid"/>
                    </a:lnR>
                    <a:lnT w="28575">
                      <a:solidFill>
                        <a:srgbClr val="1C1C1F"/>
                      </a:solidFill>
                      <a:prstDash val="solid"/>
                    </a:lnT>
                    <a:lnB w="28575">
                      <a:solidFill>
                        <a:srgbClr val="1C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7875">
                        <a:lnSpc>
                          <a:spcPct val="100000"/>
                        </a:lnSpc>
                        <a:spcBef>
                          <a:spcPts val="4065"/>
                        </a:spcBef>
                      </a:pPr>
                      <a:r>
                        <a:rPr dirty="0" sz="3850">
                          <a:latin typeface="Arial MT"/>
                          <a:cs typeface="Arial MT"/>
                        </a:rPr>
                        <a:t>Missing</a:t>
                      </a:r>
                      <a:r>
                        <a:rPr dirty="0" sz="38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850" spc="-20">
                          <a:latin typeface="Arial MT"/>
                          <a:cs typeface="Arial MT"/>
                        </a:rPr>
                        <a:t>TTLs</a:t>
                      </a:r>
                      <a:endParaRPr sz="3850">
                        <a:latin typeface="Arial MT"/>
                        <a:cs typeface="Arial MT"/>
                      </a:endParaRPr>
                    </a:p>
                    <a:p>
                      <a:pPr marL="506095" marR="247015" indent="-4445">
                        <a:lnSpc>
                          <a:spcPct val="93100"/>
                        </a:lnSpc>
                        <a:spcBef>
                          <a:spcPts val="3945"/>
                        </a:spcBef>
                      </a:pPr>
                      <a:r>
                        <a:rPr dirty="0" sz="3200" spc="-155">
                          <a:latin typeface="Arial MT"/>
                          <a:cs typeface="Arial MT"/>
                        </a:rPr>
                        <a:t>Failing</a:t>
                      </a:r>
                      <a:r>
                        <a:rPr dirty="0" sz="3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200" spc="-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05">
                          <a:latin typeface="Arial MT"/>
                          <a:cs typeface="Arial MT"/>
                        </a:rPr>
                        <a:t>set</a:t>
                      </a:r>
                      <a:r>
                        <a:rPr dirty="0" sz="320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30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3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75">
                          <a:latin typeface="Arial MT"/>
                          <a:cs typeface="Arial MT"/>
                        </a:rPr>
                        <a:t>Time-</a:t>
                      </a:r>
                      <a:r>
                        <a:rPr dirty="0" sz="3200" spc="-170">
                          <a:latin typeface="Arial MT"/>
                          <a:cs typeface="Arial MT"/>
                        </a:rPr>
                        <a:t>To-</a:t>
                      </a:r>
                      <a:r>
                        <a:rPr dirty="0" sz="3200" spc="-60">
                          <a:latin typeface="Arial MT"/>
                          <a:cs typeface="Arial MT"/>
                        </a:rPr>
                        <a:t>Live</a:t>
                      </a:r>
                      <a:r>
                        <a:rPr dirty="0" sz="32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7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3200" spc="-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20">
                          <a:latin typeface="Arial MT"/>
                          <a:cs typeface="Arial MT"/>
                        </a:rPr>
                        <a:t>cached</a:t>
                      </a:r>
                      <a:r>
                        <a:rPr dirty="0" sz="32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70">
                          <a:latin typeface="Arial MT"/>
                          <a:cs typeface="Arial MT"/>
                        </a:rPr>
                        <a:t>data </a:t>
                      </a:r>
                      <a:r>
                        <a:rPr dirty="0" sz="3250" spc="-150">
                          <a:latin typeface="Arial MT"/>
                          <a:cs typeface="Arial MT"/>
                        </a:rPr>
                        <a:t>creates</a:t>
                      </a:r>
                      <a:r>
                        <a:rPr dirty="0" sz="325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21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325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140">
                          <a:latin typeface="Arial MT"/>
                          <a:cs typeface="Arial MT"/>
                        </a:rPr>
                        <a:t>inevitable</a:t>
                      </a:r>
                      <a:r>
                        <a:rPr dirty="0" sz="325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175"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32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215">
                          <a:latin typeface="Arial MT"/>
                          <a:cs typeface="Arial MT"/>
                        </a:rPr>
                        <a:t>leak</a:t>
                      </a:r>
                      <a:r>
                        <a:rPr dirty="0" sz="325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3300" spc="-220">
                          <a:latin typeface="Arial MT"/>
                          <a:cs typeface="Arial MT"/>
                        </a:rPr>
                        <a:t>serves</a:t>
                      </a:r>
                      <a:r>
                        <a:rPr dirty="0" sz="33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170">
                          <a:latin typeface="Arial MT"/>
                          <a:cs typeface="Arial MT"/>
                        </a:rPr>
                        <a:t>permanently</a:t>
                      </a:r>
                      <a:r>
                        <a:rPr dirty="0" sz="33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190">
                          <a:latin typeface="Arial MT"/>
                          <a:cs typeface="Arial MT"/>
                        </a:rPr>
                        <a:t>stale</a:t>
                      </a:r>
                      <a:r>
                        <a:rPr dirty="0" sz="33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204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33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8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300" spc="-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10">
                          <a:latin typeface="Arial MT"/>
                          <a:cs typeface="Arial MT"/>
                        </a:rPr>
                        <a:t>users.</a:t>
                      </a:r>
                      <a:endParaRPr sz="3300">
                        <a:latin typeface="Arial MT"/>
                        <a:cs typeface="Arial MT"/>
                      </a:endParaRPr>
                    </a:p>
                  </a:txBody>
                  <a:tcPr marL="0" marR="0" marB="0" marT="516255">
                    <a:lnL w="28575">
                      <a:solidFill>
                        <a:srgbClr val="1C1C1F"/>
                      </a:solidFill>
                      <a:prstDash val="solid"/>
                    </a:lnL>
                    <a:lnR w="28575">
                      <a:solidFill>
                        <a:srgbClr val="1C1C1F"/>
                      </a:solidFill>
                      <a:prstDash val="solid"/>
                    </a:lnR>
                    <a:lnT w="28575">
                      <a:solidFill>
                        <a:srgbClr val="1C1C1F"/>
                      </a:solidFill>
                      <a:prstDash val="solid"/>
                    </a:lnT>
                    <a:lnB w="28575">
                      <a:solidFill>
                        <a:srgbClr val="1C1C1F"/>
                      </a:solidFill>
                      <a:prstDash val="solid"/>
                    </a:lnB>
                  </a:tcPr>
                </a:tc>
              </a:tr>
              <a:tr h="3526154">
                <a:tc>
                  <a:txBody>
                    <a:bodyPr/>
                    <a:lstStyle/>
                    <a:p>
                      <a:pPr algn="ctr" marR="347345">
                        <a:lnSpc>
                          <a:spcPct val="100000"/>
                        </a:lnSpc>
                        <a:spcBef>
                          <a:spcPts val="3779"/>
                        </a:spcBef>
                      </a:pPr>
                      <a:r>
                        <a:rPr dirty="0" sz="3950" spc="-125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95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950" spc="-10">
                          <a:latin typeface="Arial MT"/>
                          <a:cs typeface="Arial MT"/>
                        </a:rPr>
                        <a:t>Thrashing</a:t>
                      </a:r>
                      <a:endParaRPr sz="3950">
                        <a:latin typeface="Arial MT"/>
                        <a:cs typeface="Arial MT"/>
                      </a:endParaRPr>
                    </a:p>
                    <a:p>
                      <a:pPr marL="479425" marR="795020" indent="6350">
                        <a:lnSpc>
                          <a:spcPct val="92400"/>
                        </a:lnSpc>
                        <a:spcBef>
                          <a:spcPts val="3445"/>
                        </a:spcBef>
                      </a:pPr>
                      <a:r>
                        <a:rPr dirty="0" sz="3100" spc="-165">
                          <a:latin typeface="Arial MT"/>
                          <a:cs typeface="Arial MT"/>
                        </a:rPr>
                        <a:t>Constant</a:t>
                      </a:r>
                      <a:r>
                        <a:rPr dirty="0" sz="3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75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100" spc="-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15">
                          <a:latin typeface="Arial MT"/>
                          <a:cs typeface="Arial MT"/>
                        </a:rPr>
                        <a:t>misses</a:t>
                      </a:r>
                      <a:r>
                        <a:rPr dirty="0" sz="3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85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3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9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31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0">
                          <a:latin typeface="Arial MT"/>
                          <a:cs typeface="Arial MT"/>
                        </a:rPr>
                        <a:t>poor </a:t>
                      </a:r>
                      <a:r>
                        <a:rPr dirty="0" sz="3050" spc="-114">
                          <a:latin typeface="Arial MT"/>
                          <a:cs typeface="Arial MT"/>
                        </a:rPr>
                        <a:t>invalidation</a:t>
                      </a:r>
                      <a:r>
                        <a:rPr dirty="0" sz="30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95">
                          <a:latin typeface="Arial MT"/>
                          <a:cs typeface="Arial MT"/>
                        </a:rPr>
                        <a:t>logic.</a:t>
                      </a:r>
                      <a:r>
                        <a:rPr dirty="0" sz="30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7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05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25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305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60">
                          <a:latin typeface="Arial MT"/>
                          <a:cs typeface="Arial MT"/>
                        </a:rPr>
                        <a:t>spends</a:t>
                      </a:r>
                      <a:r>
                        <a:rPr dirty="0" sz="30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60">
                          <a:latin typeface="Arial MT"/>
                          <a:cs typeface="Arial MT"/>
                        </a:rPr>
                        <a:t>more </a:t>
                      </a:r>
                      <a:r>
                        <a:rPr dirty="0" sz="3100" spc="-145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3100" spc="-1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35">
                          <a:latin typeface="Arial MT"/>
                          <a:cs typeface="Arial MT"/>
                        </a:rPr>
                        <a:t>updating</a:t>
                      </a:r>
                      <a:r>
                        <a:rPr dirty="0" sz="3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9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100" spc="-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75"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31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45"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3100" spc="-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50">
                          <a:latin typeface="Arial MT"/>
                          <a:cs typeface="Arial MT"/>
                        </a:rPr>
                        <a:t>serving</a:t>
                      </a:r>
                      <a:r>
                        <a:rPr dirty="0" sz="3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0">
                          <a:latin typeface="Arial MT"/>
                          <a:cs typeface="Arial MT"/>
                        </a:rPr>
                        <a:t>fast </a:t>
                      </a:r>
                      <a:r>
                        <a:rPr dirty="0" sz="3200" spc="-60">
                          <a:latin typeface="Arial MT"/>
                          <a:cs typeface="Arial MT"/>
                        </a:rPr>
                        <a:t>reads.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480059">
                    <a:lnL w="28575">
                      <a:solidFill>
                        <a:srgbClr val="1C1C1F"/>
                      </a:solidFill>
                      <a:prstDash val="solid"/>
                    </a:lnL>
                    <a:lnR w="28575">
                      <a:solidFill>
                        <a:srgbClr val="1C1C1F"/>
                      </a:solidFill>
                      <a:prstDash val="solid"/>
                    </a:lnR>
                    <a:lnT w="28575">
                      <a:solidFill>
                        <a:srgbClr val="1C1C1F"/>
                      </a:solidFill>
                      <a:prstDash val="solid"/>
                    </a:lnT>
                    <a:lnB w="28575">
                      <a:solidFill>
                        <a:srgbClr val="1C1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7094">
                        <a:lnSpc>
                          <a:spcPct val="100000"/>
                        </a:lnSpc>
                        <a:spcBef>
                          <a:spcPts val="3779"/>
                        </a:spcBef>
                      </a:pPr>
                      <a:r>
                        <a:rPr dirty="0" sz="3950" spc="-10">
                          <a:latin typeface="Arial MT"/>
                          <a:cs typeface="Arial MT"/>
                        </a:rPr>
                        <a:t>Distributed</a:t>
                      </a:r>
                      <a:r>
                        <a:rPr dirty="0" sz="3950" spc="-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950" spc="-10">
                          <a:latin typeface="Arial MT"/>
                          <a:cs typeface="Arial MT"/>
                        </a:rPr>
                        <a:t>Complexity</a:t>
                      </a:r>
                      <a:endParaRPr sz="3950">
                        <a:latin typeface="Arial MT"/>
                        <a:cs typeface="Arial MT"/>
                      </a:endParaRPr>
                    </a:p>
                    <a:p>
                      <a:pPr marL="507365" marR="539750" indent="-3810">
                        <a:lnSpc>
                          <a:spcPct val="92800"/>
                        </a:lnSpc>
                        <a:spcBef>
                          <a:spcPts val="3429"/>
                        </a:spcBef>
                      </a:pPr>
                      <a:r>
                        <a:rPr dirty="0" sz="3100" spc="-150">
                          <a:latin typeface="Arial MT"/>
                          <a:cs typeface="Arial MT"/>
                        </a:rPr>
                        <a:t>Underestimating</a:t>
                      </a:r>
                      <a:r>
                        <a:rPr dirty="0" sz="3100" spc="-2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9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100" spc="-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60">
                          <a:latin typeface="Arial MT"/>
                          <a:cs typeface="Arial MT"/>
                        </a:rPr>
                        <a:t>difficulty</a:t>
                      </a:r>
                      <a:r>
                        <a:rPr dirty="0" sz="3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6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25">
                          <a:latin typeface="Arial MT"/>
                          <a:cs typeface="Arial MT"/>
                        </a:rPr>
                        <a:t>multi-</a:t>
                      </a:r>
                      <a:r>
                        <a:rPr dirty="0" sz="3100" spc="-20">
                          <a:latin typeface="Arial MT"/>
                          <a:cs typeface="Arial MT"/>
                        </a:rPr>
                        <a:t>node </a:t>
                      </a:r>
                      <a:r>
                        <a:rPr dirty="0" sz="3050" spc="-105">
                          <a:latin typeface="Arial MT"/>
                          <a:cs typeface="Arial MT"/>
                        </a:rPr>
                        <a:t>coordination.</a:t>
                      </a:r>
                      <a:r>
                        <a:rPr dirty="0" sz="305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39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30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0">
                          <a:latin typeface="Arial MT"/>
                          <a:cs typeface="Arial MT"/>
                        </a:rPr>
                        <a:t>poorly</a:t>
                      </a:r>
                      <a:r>
                        <a:rPr dirty="0" sz="30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0">
                          <a:latin typeface="Arial MT"/>
                          <a:cs typeface="Arial MT"/>
                        </a:rPr>
                        <a:t>configured</a:t>
                      </a:r>
                      <a:r>
                        <a:rPr dirty="0" sz="30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95">
                          <a:latin typeface="Arial MT"/>
                          <a:cs typeface="Arial MT"/>
                        </a:rPr>
                        <a:t>cluster</a:t>
                      </a:r>
                      <a:r>
                        <a:rPr dirty="0" sz="30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20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3100" spc="-200"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3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100" spc="-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20">
                          <a:latin typeface="Arial MT"/>
                          <a:cs typeface="Arial MT"/>
                        </a:rPr>
                        <a:t>split-</a:t>
                      </a:r>
                      <a:r>
                        <a:rPr dirty="0" sz="3100" spc="-90">
                          <a:latin typeface="Arial MT"/>
                          <a:cs typeface="Arial MT"/>
                        </a:rPr>
                        <a:t>brain</a:t>
                      </a:r>
                      <a:r>
                        <a:rPr dirty="0" sz="3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85">
                          <a:latin typeface="Arial MT"/>
                          <a:cs typeface="Arial MT"/>
                        </a:rPr>
                        <a:t>scenarios</a:t>
                      </a:r>
                      <a:r>
                        <a:rPr dirty="0" sz="3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2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3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75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3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0">
                          <a:latin typeface="Arial MT"/>
                          <a:cs typeface="Arial MT"/>
                        </a:rPr>
                        <a:t>loss.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480059">
                    <a:lnL w="28575">
                      <a:solidFill>
                        <a:srgbClr val="1C1C1F"/>
                      </a:solidFill>
                      <a:prstDash val="solid"/>
                    </a:lnL>
                    <a:lnR w="28575">
                      <a:solidFill>
                        <a:srgbClr val="1C1C1F"/>
                      </a:solidFill>
                      <a:prstDash val="solid"/>
                    </a:lnR>
                    <a:lnT w="28575">
                      <a:solidFill>
                        <a:srgbClr val="1C1C1F"/>
                      </a:solidFill>
                      <a:prstDash val="solid"/>
                    </a:lnT>
                    <a:lnB w="28575">
                      <a:solidFill>
                        <a:srgbClr val="1C1C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24108" y="398991"/>
            <a:ext cx="6233160" cy="1435100"/>
          </a:xfrm>
          <a:prstGeom prst="rect"/>
        </p:spPr>
        <p:txBody>
          <a:bodyPr wrap="square" lIns="0" tIns="190500" rIns="0" bIns="0" rtlCol="0" vert="horz">
            <a:spAutoFit/>
          </a:bodyPr>
          <a:lstStyle/>
          <a:p>
            <a:pPr marL="12700" marR="5080" indent="36830">
              <a:lnSpc>
                <a:spcPct val="77700"/>
              </a:lnSpc>
              <a:spcBef>
                <a:spcPts val="1500"/>
              </a:spcBef>
            </a:pPr>
            <a:r>
              <a:rPr dirty="0" sz="5200" spc="-85">
                <a:latin typeface="Arial MT"/>
                <a:cs typeface="Arial MT"/>
              </a:rPr>
              <a:t>Avoiding</a:t>
            </a:r>
            <a:r>
              <a:rPr dirty="0" sz="5200" spc="-245">
                <a:latin typeface="Arial MT"/>
                <a:cs typeface="Arial MT"/>
              </a:rPr>
              <a:t> </a:t>
            </a:r>
            <a:r>
              <a:rPr dirty="0" sz="5200" spc="-10">
                <a:latin typeface="Arial MT"/>
                <a:cs typeface="Arial MT"/>
              </a:rPr>
              <a:t>Common Implementation</a:t>
            </a:r>
            <a:r>
              <a:rPr dirty="0" sz="5200" spc="-605">
                <a:latin typeface="Arial MT"/>
                <a:cs typeface="Arial MT"/>
              </a:rPr>
              <a:t> </a:t>
            </a:r>
            <a:r>
              <a:rPr dirty="0" sz="5200" spc="-145">
                <a:latin typeface="Arial MT"/>
                <a:cs typeface="Arial MT"/>
              </a:rPr>
              <a:t>Traps</a:t>
            </a:r>
            <a:endParaRPr sz="5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0400" y="7719483"/>
            <a:ext cx="16171544" cy="0"/>
          </a:xfrm>
          <a:custGeom>
            <a:avLst/>
            <a:gdLst/>
            <a:ahLst/>
            <a:cxnLst/>
            <a:rect l="l" t="t" r="r" b="b"/>
            <a:pathLst>
              <a:path w="16171544" h="0">
                <a:moveTo>
                  <a:pt x="0" y="0"/>
                </a:moveTo>
                <a:lnTo>
                  <a:pt x="16171334" y="0"/>
                </a:lnTo>
              </a:path>
            </a:pathLst>
          </a:custGeom>
          <a:ln w="29633">
            <a:solidFill>
              <a:srgbClr val="13131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60400" y="6714066"/>
            <a:ext cx="16171544" cy="80645"/>
            <a:chOff x="660400" y="6714066"/>
            <a:chExt cx="16171544" cy="80645"/>
          </a:xfrm>
        </p:grpSpPr>
        <p:sp>
          <p:nvSpPr>
            <p:cNvPr id="4" name="object 4"/>
            <p:cNvSpPr/>
            <p:nvPr/>
          </p:nvSpPr>
          <p:spPr>
            <a:xfrm>
              <a:off x="660400" y="6779683"/>
              <a:ext cx="16171544" cy="0"/>
            </a:xfrm>
            <a:custGeom>
              <a:avLst/>
              <a:gdLst/>
              <a:ahLst/>
              <a:cxnLst/>
              <a:rect l="l" t="t" r="r" b="b"/>
              <a:pathLst>
                <a:path w="16171544" h="0">
                  <a:moveTo>
                    <a:pt x="0" y="0"/>
                  </a:moveTo>
                  <a:lnTo>
                    <a:pt x="16171334" y="0"/>
                  </a:lnTo>
                </a:path>
              </a:pathLst>
            </a:custGeom>
            <a:ln w="29633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0400" y="6728883"/>
              <a:ext cx="16171544" cy="0"/>
            </a:xfrm>
            <a:custGeom>
              <a:avLst/>
              <a:gdLst/>
              <a:ahLst/>
              <a:cxnLst/>
              <a:rect l="l" t="t" r="r" b="b"/>
              <a:pathLst>
                <a:path w="16171544" h="0">
                  <a:moveTo>
                    <a:pt x="0" y="0"/>
                  </a:moveTo>
                  <a:lnTo>
                    <a:pt x="16171334" y="0"/>
                  </a:lnTo>
                </a:path>
              </a:pathLst>
            </a:custGeom>
            <a:ln w="29633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660400" y="5776383"/>
            <a:ext cx="16171544" cy="0"/>
          </a:xfrm>
          <a:custGeom>
            <a:avLst/>
            <a:gdLst/>
            <a:ahLst/>
            <a:cxnLst/>
            <a:rect l="l" t="t" r="r" b="b"/>
            <a:pathLst>
              <a:path w="16171544" h="0">
                <a:moveTo>
                  <a:pt x="0" y="0"/>
                </a:moveTo>
                <a:lnTo>
                  <a:pt x="16171334" y="0"/>
                </a:lnTo>
              </a:path>
            </a:pathLst>
          </a:custGeom>
          <a:ln w="29633">
            <a:solidFill>
              <a:srgbClr val="13131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635000" y="7924800"/>
            <a:ext cx="16243300" cy="1447800"/>
            <a:chOff x="635000" y="7924800"/>
            <a:chExt cx="16243300" cy="14478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00" y="7924800"/>
              <a:ext cx="16243300" cy="1447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000" y="7924800"/>
              <a:ext cx="16243300" cy="1447800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310"/>
              <a:t> </a:t>
            </a:r>
            <a:r>
              <a:rPr dirty="0" spc="90"/>
              <a:t>60-</a:t>
            </a:r>
            <a:r>
              <a:rPr dirty="0" spc="100"/>
              <a:t>Second</a:t>
            </a:r>
            <a:r>
              <a:rPr dirty="0" spc="-310"/>
              <a:t> </a:t>
            </a:r>
            <a:r>
              <a:rPr dirty="0" spc="-55"/>
              <a:t>Blueprint</a:t>
            </a:r>
            <a:r>
              <a:rPr dirty="0" spc="15"/>
              <a:t> </a:t>
            </a:r>
            <a:r>
              <a:rPr dirty="0" spc="-150"/>
              <a:t>for</a:t>
            </a:r>
            <a:r>
              <a:rPr dirty="0" spc="-160"/>
              <a:t> </a:t>
            </a:r>
            <a:r>
              <a:rPr dirty="0" spc="75"/>
              <a:t>System</a:t>
            </a:r>
            <a:r>
              <a:rPr dirty="0" spc="-270"/>
              <a:t> </a:t>
            </a:r>
            <a:r>
              <a:rPr dirty="0" spc="-10"/>
              <a:t>Speed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90"/>
              </a:lnSpc>
            </a:pPr>
            <a:r>
              <a:rPr dirty="0" spc="70"/>
              <a:t>Discensy</a:t>
            </a:r>
            <a:r>
              <a:rPr dirty="0" spc="-70"/>
              <a:t> </a:t>
            </a:r>
            <a:r>
              <a:rPr dirty="0" spc="-50"/>
              <a:t>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63510" y="1630186"/>
            <a:ext cx="2263140" cy="3981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20955">
              <a:lnSpc>
                <a:spcPct val="132700"/>
              </a:lnSpc>
              <a:spcBef>
                <a:spcPts val="90"/>
              </a:spcBef>
            </a:pPr>
            <a:r>
              <a:rPr dirty="0" sz="4900" spc="-10">
                <a:latin typeface="Calibri"/>
                <a:cs typeface="Calibri"/>
              </a:rPr>
              <a:t>Redis </a:t>
            </a:r>
            <a:r>
              <a:rPr dirty="0" sz="4900">
                <a:latin typeface="Calibri"/>
                <a:cs typeface="Calibri"/>
              </a:rPr>
              <a:t>Hit/</a:t>
            </a:r>
            <a:r>
              <a:rPr dirty="0" sz="4900" spc="-285">
                <a:latin typeface="Calibri"/>
                <a:cs typeface="Calibri"/>
              </a:rPr>
              <a:t> </a:t>
            </a:r>
            <a:r>
              <a:rPr dirty="0" sz="4900" spc="-30">
                <a:latin typeface="Calibri"/>
                <a:cs typeface="Calibri"/>
              </a:rPr>
              <a:t>Miss </a:t>
            </a:r>
            <a:r>
              <a:rPr dirty="0" sz="4900" spc="-25">
                <a:latin typeface="Calibri"/>
                <a:cs typeface="Calibri"/>
              </a:rPr>
              <a:t>TTL</a:t>
            </a:r>
            <a:endParaRPr sz="4900">
              <a:latin typeface="Calibri"/>
              <a:cs typeface="Calibri"/>
            </a:endParaRPr>
          </a:p>
          <a:p>
            <a:pPr algn="ctr" marR="22860">
              <a:lnSpc>
                <a:spcPct val="100000"/>
              </a:lnSpc>
              <a:spcBef>
                <a:spcPts val="1870"/>
              </a:spcBef>
            </a:pPr>
            <a:r>
              <a:rPr dirty="0" sz="4900" spc="-10">
                <a:latin typeface="Calibri"/>
                <a:cs typeface="Calibri"/>
              </a:rPr>
              <a:t>Eviction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5"/>
              </a:spcBef>
            </a:pPr>
            <a:r>
              <a:rPr dirty="0" spc="-345"/>
              <a:t>In-</a:t>
            </a:r>
            <a:r>
              <a:rPr dirty="0" spc="-545"/>
              <a:t>Memory</a:t>
            </a:r>
            <a:r>
              <a:rPr dirty="0" spc="305"/>
              <a:t> </a:t>
            </a:r>
            <a:r>
              <a:rPr dirty="0" spc="-365"/>
              <a:t>Engine</a:t>
            </a:r>
            <a:r>
              <a:rPr dirty="0" spc="75"/>
              <a:t> </a:t>
            </a:r>
            <a:r>
              <a:rPr dirty="0" spc="-325"/>
              <a:t>(Bypassing</a:t>
            </a:r>
            <a:r>
              <a:rPr dirty="0" spc="215"/>
              <a:t> </a:t>
            </a:r>
            <a:r>
              <a:rPr dirty="0" spc="-390"/>
              <a:t>mechanical</a:t>
            </a:r>
            <a:r>
              <a:rPr dirty="0" spc="200"/>
              <a:t> </a:t>
            </a:r>
            <a:r>
              <a:rPr dirty="0" spc="-260"/>
              <a:t>disk</a:t>
            </a:r>
            <a:r>
              <a:rPr dirty="0" spc="-240"/>
              <a:t> </a:t>
            </a:r>
            <a:r>
              <a:rPr dirty="0" spc="-630"/>
              <a:t>1/0) </a:t>
            </a:r>
            <a:r>
              <a:rPr dirty="0" spc="-400"/>
              <a:t>Request</a:t>
            </a:r>
            <a:r>
              <a:rPr dirty="0" spc="50"/>
              <a:t> </a:t>
            </a:r>
            <a:r>
              <a:rPr dirty="0" spc="-409"/>
              <a:t>Flow</a:t>
            </a:r>
            <a:r>
              <a:rPr dirty="0"/>
              <a:t> </a:t>
            </a:r>
            <a:r>
              <a:rPr dirty="0" spc="-340"/>
              <a:t>(The</a:t>
            </a:r>
            <a:r>
              <a:rPr dirty="0" spc="-10"/>
              <a:t> </a:t>
            </a:r>
            <a:r>
              <a:rPr dirty="0" spc="-370"/>
              <a:t>Tax</a:t>
            </a:r>
            <a:r>
              <a:rPr dirty="0" spc="-185"/>
              <a:t> </a:t>
            </a:r>
            <a:r>
              <a:rPr dirty="0" spc="-405"/>
              <a:t>and</a:t>
            </a:r>
            <a:r>
              <a:rPr dirty="0" spc="-90"/>
              <a:t> </a:t>
            </a:r>
            <a:r>
              <a:rPr dirty="0" spc="-425"/>
              <a:t>the</a:t>
            </a:r>
            <a:r>
              <a:rPr dirty="0" spc="-260"/>
              <a:t> </a:t>
            </a:r>
            <a:r>
              <a:rPr dirty="0" spc="-400"/>
              <a:t>Dividend) </a:t>
            </a:r>
            <a:r>
              <a:rPr dirty="0" spc="-509"/>
              <a:t>Automated</a:t>
            </a:r>
            <a:r>
              <a:rPr dirty="0" spc="140"/>
              <a:t> </a:t>
            </a:r>
            <a:r>
              <a:rPr dirty="0" spc="-390"/>
              <a:t>Expiration</a:t>
            </a:r>
            <a:r>
              <a:rPr dirty="0" spc="360"/>
              <a:t> </a:t>
            </a:r>
            <a:r>
              <a:rPr dirty="0" spc="-425"/>
              <a:t>(Preventing</a:t>
            </a:r>
            <a:r>
              <a:rPr dirty="0" spc="525"/>
              <a:t> </a:t>
            </a:r>
            <a:r>
              <a:rPr dirty="0" spc="-310"/>
              <a:t>stale</a:t>
            </a:r>
            <a:r>
              <a:rPr dirty="0" spc="-125"/>
              <a:t> </a:t>
            </a:r>
            <a:r>
              <a:rPr dirty="0" spc="-385"/>
              <a:t>data) </a:t>
            </a:r>
            <a:r>
              <a:rPr dirty="0" spc="-265"/>
              <a:t>Space</a:t>
            </a:r>
            <a:r>
              <a:rPr dirty="0" spc="-195"/>
              <a:t> </a:t>
            </a:r>
            <a:r>
              <a:rPr dirty="0" spc="-515"/>
              <a:t>Management</a:t>
            </a:r>
            <a:r>
              <a:rPr dirty="0" spc="420"/>
              <a:t> </a:t>
            </a:r>
            <a:r>
              <a:rPr dirty="0" spc="-310"/>
              <a:t>(LRU</a:t>
            </a:r>
            <a:r>
              <a:rPr dirty="0" spc="-60"/>
              <a:t> </a:t>
            </a:r>
            <a:r>
              <a:rPr dirty="0" spc="-720"/>
              <a:t>/</a:t>
            </a:r>
            <a:r>
              <a:rPr dirty="0" spc="-190"/>
              <a:t> </a:t>
            </a:r>
            <a:r>
              <a:rPr dirty="0" spc="-235"/>
              <a:t>LFU </a:t>
            </a:r>
            <a:r>
              <a:rPr dirty="0" spc="-434"/>
              <a:t>dropping</a:t>
            </a:r>
            <a:r>
              <a:rPr dirty="0" spc="250"/>
              <a:t> </a:t>
            </a:r>
            <a:r>
              <a:rPr dirty="0" spc="-385"/>
              <a:t>old</a:t>
            </a:r>
            <a:r>
              <a:rPr dirty="0" spc="-190"/>
              <a:t> </a:t>
            </a:r>
            <a:r>
              <a:rPr dirty="0" spc="-409"/>
              <a:t>data)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15044" y="5819069"/>
            <a:ext cx="1760220" cy="777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00" spc="-50">
                <a:latin typeface="Calibri"/>
                <a:cs typeface="Calibri"/>
              </a:rPr>
              <a:t>Cluster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8410" y="5819069"/>
            <a:ext cx="10378440" cy="777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00" spc="-295">
                <a:latin typeface="Calibri"/>
                <a:cs typeface="Calibri"/>
              </a:rPr>
              <a:t>Limitless</a:t>
            </a:r>
            <a:r>
              <a:rPr dirty="0" sz="4900" spc="95">
                <a:latin typeface="Calibri"/>
                <a:cs typeface="Calibri"/>
              </a:rPr>
              <a:t> </a:t>
            </a:r>
            <a:r>
              <a:rPr dirty="0" sz="4900" spc="-254">
                <a:latin typeface="Calibri"/>
                <a:cs typeface="Calibri"/>
              </a:rPr>
              <a:t>Scale</a:t>
            </a:r>
            <a:r>
              <a:rPr dirty="0" sz="4900" spc="10">
                <a:latin typeface="Calibri"/>
                <a:cs typeface="Calibri"/>
              </a:rPr>
              <a:t> </a:t>
            </a:r>
            <a:r>
              <a:rPr dirty="0" sz="4900" spc="-385">
                <a:latin typeface="Calibri"/>
                <a:cs typeface="Calibri"/>
              </a:rPr>
              <a:t>(Sharding</a:t>
            </a:r>
            <a:r>
              <a:rPr dirty="0" sz="4900" spc="260">
                <a:latin typeface="Calibri"/>
                <a:cs typeface="Calibri"/>
              </a:rPr>
              <a:t> </a:t>
            </a:r>
            <a:r>
              <a:rPr dirty="0" sz="4900" spc="-540">
                <a:latin typeface="Calibri"/>
                <a:cs typeface="Calibri"/>
              </a:rPr>
              <a:t>memory</a:t>
            </a:r>
            <a:r>
              <a:rPr dirty="0" sz="4900" spc="200">
                <a:latin typeface="Calibri"/>
                <a:cs typeface="Calibri"/>
              </a:rPr>
              <a:t> </a:t>
            </a:r>
            <a:r>
              <a:rPr dirty="0" sz="4900" spc="-280">
                <a:latin typeface="Calibri"/>
                <a:cs typeface="Calibri"/>
              </a:rPr>
              <a:t>across</a:t>
            </a:r>
            <a:r>
              <a:rPr dirty="0" sz="4900" spc="-15">
                <a:latin typeface="Calibri"/>
                <a:cs typeface="Calibri"/>
              </a:rPr>
              <a:t> </a:t>
            </a:r>
            <a:r>
              <a:rPr dirty="0" sz="4900" spc="-380">
                <a:latin typeface="Calibri"/>
                <a:cs typeface="Calibri"/>
              </a:rPr>
              <a:t>nodes)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644" y="6809669"/>
            <a:ext cx="3696335" cy="777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60425" algn="l"/>
              </a:tabLst>
            </a:pPr>
            <a:r>
              <a:rPr dirty="0" sz="4900" spc="-855">
                <a:latin typeface="Calibri"/>
                <a:cs typeface="Calibri"/>
              </a:rPr>
              <a:t>)</a:t>
            </a:r>
            <a:r>
              <a:rPr dirty="0" sz="4900">
                <a:latin typeface="Calibri"/>
                <a:cs typeface="Calibri"/>
              </a:rPr>
              <a:t>	</a:t>
            </a:r>
            <a:r>
              <a:rPr dirty="0" sz="4900" spc="-55">
                <a:latin typeface="Calibri"/>
                <a:cs typeface="Calibri"/>
              </a:rPr>
              <a:t>Persistence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0744" y="6809669"/>
            <a:ext cx="9861550" cy="777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00" spc="-805">
                <a:latin typeface="Calibri"/>
                <a:cs typeface="Calibri"/>
              </a:rPr>
              <a:t>)</a:t>
            </a:r>
            <a:r>
              <a:rPr dirty="0" sz="4900" spc="780">
                <a:latin typeface="Calibri"/>
                <a:cs typeface="Calibri"/>
              </a:rPr>
              <a:t> </a:t>
            </a:r>
            <a:r>
              <a:rPr dirty="0" sz="4900" spc="-320">
                <a:latin typeface="Calibri"/>
                <a:cs typeface="Calibri"/>
              </a:rPr>
              <a:t>Crash</a:t>
            </a:r>
            <a:r>
              <a:rPr dirty="0" sz="4900" spc="114">
                <a:latin typeface="Calibri"/>
                <a:cs typeface="Calibri"/>
              </a:rPr>
              <a:t> </a:t>
            </a:r>
            <a:r>
              <a:rPr dirty="0" sz="4900" spc="-360">
                <a:latin typeface="Calibri"/>
                <a:cs typeface="Calibri"/>
              </a:rPr>
              <a:t>Safety</a:t>
            </a:r>
            <a:r>
              <a:rPr dirty="0" sz="4900" spc="120">
                <a:latin typeface="Calibri"/>
                <a:cs typeface="Calibri"/>
              </a:rPr>
              <a:t> </a:t>
            </a:r>
            <a:r>
              <a:rPr dirty="0" sz="4900" spc="-400">
                <a:latin typeface="Calibri"/>
                <a:cs typeface="Calibri"/>
              </a:rPr>
              <a:t>(RDB</a:t>
            </a:r>
            <a:r>
              <a:rPr dirty="0" sz="4900" spc="-50">
                <a:latin typeface="Calibri"/>
                <a:cs typeface="Calibri"/>
              </a:rPr>
              <a:t> </a:t>
            </a:r>
            <a:r>
              <a:rPr dirty="0" sz="4900" spc="-345">
                <a:latin typeface="Calibri"/>
                <a:cs typeface="Calibri"/>
              </a:rPr>
              <a:t>Snapshots</a:t>
            </a:r>
            <a:r>
              <a:rPr dirty="0" sz="4900" spc="120">
                <a:latin typeface="Calibri"/>
                <a:cs typeface="Calibri"/>
              </a:rPr>
              <a:t> </a:t>
            </a:r>
            <a:r>
              <a:rPr dirty="0" sz="4900" spc="-430">
                <a:latin typeface="Calibri"/>
                <a:cs typeface="Calibri"/>
              </a:rPr>
              <a:t>and</a:t>
            </a:r>
            <a:r>
              <a:rPr dirty="0" sz="4900" spc="-114">
                <a:latin typeface="Calibri"/>
                <a:cs typeface="Calibri"/>
              </a:rPr>
              <a:t> </a:t>
            </a:r>
            <a:r>
              <a:rPr dirty="0" sz="4900" spc="-425">
                <a:latin typeface="Calibri"/>
                <a:cs typeface="Calibri"/>
              </a:rPr>
              <a:t>AOF</a:t>
            </a:r>
            <a:r>
              <a:rPr dirty="0" sz="4900" spc="-254">
                <a:latin typeface="Calibri"/>
                <a:cs typeface="Calibri"/>
              </a:rPr>
              <a:t> </a:t>
            </a:r>
            <a:r>
              <a:rPr dirty="0" sz="4900" spc="-130">
                <a:latin typeface="Calibri"/>
                <a:cs typeface="Calibri"/>
              </a:rPr>
              <a:t>Logs)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26648" y="6809669"/>
            <a:ext cx="113030" cy="777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00" spc="-855">
                <a:latin typeface="Calibri"/>
                <a:cs typeface="Calibri"/>
              </a:rPr>
              <a:t>)</a:t>
            </a:r>
            <a:endParaRPr sz="4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2026-05-09T07:39:33Z</dcterms:created>
  <dcterms:modified xsi:type="dcterms:W3CDTF">2026-05-09T07:39:33Z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LastSaved">
    <vt:filetime>2026-05-09T00:00:00Z</vt:filetime>
  </property>
</Properties>
</file>