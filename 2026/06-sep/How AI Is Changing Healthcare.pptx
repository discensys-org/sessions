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914400"/>
            <a:ext cx="54864" cy="54864"/>
          </a:xfrm>
          <a:prstGeom prst="ellipse">
            <a:avLst/>
          </a:prstGeom>
          <a:solidFill>
            <a:srgbClr val="1F4E4C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914400"/>
            <a:ext cx="54864" cy="54864"/>
          </a:xfrm>
          <a:prstGeom prst="ellipse">
            <a:avLst/>
          </a:prstGeom>
          <a:solidFill>
            <a:srgbClr val="1F4E4C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914400"/>
            <a:ext cx="54864" cy="54864"/>
          </a:xfrm>
          <a:prstGeom prst="ellipse">
            <a:avLst/>
          </a:prstGeom>
          <a:solidFill>
            <a:srgbClr val="1F4E4C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1737360"/>
            <a:ext cx="54864" cy="54864"/>
          </a:xfrm>
          <a:prstGeom prst="ellipse">
            <a:avLst/>
          </a:prstGeom>
          <a:solidFill>
            <a:srgbClr val="1F4E4C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0" y="1737360"/>
            <a:ext cx="54864" cy="54864"/>
          </a:xfrm>
          <a:prstGeom prst="ellipse">
            <a:avLst/>
          </a:prstGeom>
          <a:solidFill>
            <a:srgbClr val="1F4E4C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0" y="1737360"/>
            <a:ext cx="54864" cy="54864"/>
          </a:xfrm>
          <a:prstGeom prst="ellipse">
            <a:avLst/>
          </a:prstGeom>
          <a:solidFill>
            <a:srgbClr val="1F4E4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DIAGNOSED, DELIVERED, MANAGED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234440"/>
            <a:ext cx="7040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Is Changing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63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pPr indent="0" marL="0">
              <a:buNone/>
            </a:pPr>
            <a:r>
              <a:rPr lang="en-US" sz="1550" dirty="0">
                <a:solidFill>
                  <a:srgbClr val="C2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AI  →  Insight  →  Decision  →  Patient Care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0332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medical data at a scale humans cannot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 doctors rather than simply replacing them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span imaging to drug discovery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0" y="1371600"/>
            <a:ext cx="3154680" cy="777240"/>
          </a:xfrm>
          <a:prstGeom prst="roundRect">
            <a:avLst>
              <a:gd name="adj" fmla="val 11765"/>
            </a:avLst>
          </a:prstGeom>
          <a:solidFill>
            <a:srgbClr val="2E86AB"/>
          </a:solidFill>
          <a:ln/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0" y="13716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806940" y="2148840"/>
            <a:ext cx="9144" cy="201168"/>
          </a:xfrm>
          <a:prstGeom prst="line">
            <a:avLst/>
          </a:prstGeom>
          <a:noFill/>
          <a:ln w="25400">
            <a:solidFill>
              <a:srgbClr val="3D666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0" y="2350008"/>
            <a:ext cx="3154680" cy="777240"/>
          </a:xfrm>
          <a:prstGeom prst="roundRect">
            <a:avLst>
              <a:gd name="adj" fmla="val 11765"/>
            </a:avLst>
          </a:prstGeom>
          <a:solidFill>
            <a:srgbClr val="56A4C4"/>
          </a:solidFill>
          <a:ln/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0" y="235000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806940" y="3127248"/>
            <a:ext cx="9144" cy="201168"/>
          </a:xfrm>
          <a:prstGeom prst="line">
            <a:avLst/>
          </a:prstGeom>
          <a:noFill/>
          <a:ln w="25400">
            <a:solidFill>
              <a:srgbClr val="3D666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29600" y="3328416"/>
            <a:ext cx="3154680" cy="777240"/>
          </a:xfrm>
          <a:prstGeom prst="roundRect">
            <a:avLst>
              <a:gd name="adj" fmla="val 11765"/>
            </a:avLst>
          </a:prstGeom>
          <a:solidFill>
            <a:srgbClr val="2FBF9F"/>
          </a:solidFill>
          <a:ln/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0" y="332841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Insights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806940" y="4105656"/>
            <a:ext cx="9144" cy="201168"/>
          </a:xfrm>
          <a:prstGeom prst="line">
            <a:avLst/>
          </a:prstGeom>
          <a:noFill/>
          <a:ln w="25400">
            <a:solidFill>
              <a:srgbClr val="3D666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0" y="4306824"/>
            <a:ext cx="3154680" cy="777240"/>
          </a:xfrm>
          <a:prstGeom prst="roundRect">
            <a:avLst>
              <a:gd name="adj" fmla="val 11765"/>
            </a:avLst>
          </a:prstGeom>
          <a:solidFill>
            <a:srgbClr val="1F4E4C"/>
          </a:solidFill>
          <a:ln/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29600" y="430682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Decisions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E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CHALLENGE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Healthcare Need AI?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is a fundamentally data-heavy field, and much of it is too complex to review manually.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8483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127000" dist="38100" dir="5400000">
              <a:srgbClr val="0D2B2E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33172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536192" y="2231136"/>
            <a:ext cx="109728" cy="10972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8" name="Shape 6"/>
          <p:cNvSpPr/>
          <p:nvPr/>
        </p:nvSpPr>
        <p:spPr>
          <a:xfrm>
            <a:off x="2816352" y="2331720"/>
            <a:ext cx="208483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127000" dist="38100" dir="5400000">
              <a:srgbClr val="0D2B2E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907792" y="233172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Results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803904" y="2231136"/>
            <a:ext cx="109728" cy="109728"/>
          </a:xfrm>
          <a:prstGeom prst="ellipse">
            <a:avLst/>
          </a:prstGeom>
          <a:solidFill>
            <a:srgbClr val="56A4C4"/>
          </a:solidFill>
          <a:ln/>
        </p:spPr>
      </p:sp>
      <p:sp>
        <p:nvSpPr>
          <p:cNvPr id="11" name="Shape 9"/>
          <p:cNvSpPr/>
          <p:nvPr/>
        </p:nvSpPr>
        <p:spPr>
          <a:xfrm>
            <a:off x="5084064" y="2331720"/>
            <a:ext cx="208483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127000" dist="38100" dir="5400000">
              <a:srgbClr val="0D2B2E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175504" y="233172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71616" y="2231136"/>
            <a:ext cx="109728" cy="109728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4" name="Shape 12"/>
          <p:cNvSpPr/>
          <p:nvPr/>
        </p:nvSpPr>
        <p:spPr>
          <a:xfrm>
            <a:off x="7351776" y="2331720"/>
            <a:ext cx="208483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127000" dist="38100" dir="5400000">
              <a:srgbClr val="0D2B2E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443216" y="233172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Data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39328" y="2231136"/>
            <a:ext cx="109728" cy="10972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7" name="Shape 15"/>
          <p:cNvSpPr/>
          <p:nvPr/>
        </p:nvSpPr>
        <p:spPr>
          <a:xfrm>
            <a:off x="9619488" y="2331720"/>
            <a:ext cx="208483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127000" dist="38100" dir="5400000">
              <a:srgbClr val="0D2B2E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710928" y="233172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607040" y="2231136"/>
            <a:ext cx="109728" cy="109728"/>
          </a:xfrm>
          <a:prstGeom prst="ellipse">
            <a:avLst/>
          </a:prstGeom>
          <a:solidFill>
            <a:srgbClr val="56A4C4"/>
          </a:solidFill>
          <a:ln/>
        </p:spPr>
      </p:sp>
      <p:sp>
        <p:nvSpPr>
          <p:cNvPr id="20" name="Shape 18"/>
          <p:cNvSpPr/>
          <p:nvPr/>
        </p:nvSpPr>
        <p:spPr>
          <a:xfrm>
            <a:off x="1591056" y="3337560"/>
            <a:ext cx="4535424" cy="457200"/>
          </a:xfrm>
          <a:prstGeom prst="line">
            <a:avLst/>
          </a:prstGeom>
          <a:noFill/>
          <a:ln w="1651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858768" y="3337560"/>
            <a:ext cx="2267712" cy="457200"/>
          </a:xfrm>
          <a:prstGeom prst="line">
            <a:avLst/>
          </a:prstGeom>
          <a:noFill/>
          <a:ln w="1651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26480" y="3337560"/>
            <a:ext cx="0" cy="457200"/>
          </a:xfrm>
          <a:prstGeom prst="line">
            <a:avLst/>
          </a:prstGeom>
          <a:noFill/>
          <a:ln w="1651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6126480" y="3337560"/>
            <a:ext cx="2267712" cy="457200"/>
          </a:xfrm>
          <a:prstGeom prst="line">
            <a:avLst/>
          </a:prstGeom>
          <a:noFill/>
          <a:ln w="1651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6126480" y="3337560"/>
            <a:ext cx="4535424" cy="457200"/>
          </a:xfrm>
          <a:prstGeom prst="line">
            <a:avLst/>
          </a:prstGeom>
          <a:noFill/>
          <a:ln w="1651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114800" y="379476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0D2B2E"/>
          </a:solidFill>
          <a:ln/>
          <a:effectLst>
            <a:outerShdw sx="100000" sy="100000" kx="0" ky="0" algn="bl" rotWithShape="0" blurRad="101600" dist="25400" dir="5400000">
              <a:srgbClr val="0D2B2E">
                <a:alpha val="2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114800" y="37947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8006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helps surface patterns, risks, and relevant information that would otherwise take too long to find manually.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486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decide under time and information constraints</a:t>
            </a:r>
            <a:endParaRPr lang="en-US" sz="125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diseases are difficult to detect early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943600" y="54864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information comes in many different formats</a:t>
            </a:r>
            <a:endParaRPr lang="en-US" sz="125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does not scale with data volume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Can AI Understand?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AI systems are designed to work with different forms of medical information.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V="1">
            <a:off x="3749040" y="2468880"/>
            <a:ext cx="9144" cy="1691640"/>
          </a:xfrm>
          <a:prstGeom prst="line">
            <a:avLst/>
          </a:prstGeom>
          <a:noFill/>
          <a:ln w="1905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3749040" y="3637774"/>
            <a:ext cx="1608845" cy="522746"/>
          </a:xfrm>
          <a:prstGeom prst="line">
            <a:avLst/>
          </a:prstGeom>
          <a:noFill/>
          <a:ln w="1905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49040" y="4160520"/>
            <a:ext cx="994321" cy="1368566"/>
          </a:xfrm>
          <a:prstGeom prst="line">
            <a:avLst/>
          </a:prstGeom>
          <a:noFill/>
          <a:ln w="1905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2754719" y="4160520"/>
            <a:ext cx="994321" cy="1368566"/>
          </a:xfrm>
          <a:prstGeom prst="line">
            <a:avLst/>
          </a:prstGeom>
          <a:noFill/>
          <a:ln w="1905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 flipV="1">
            <a:off x="2140195" y="3637774"/>
            <a:ext cx="1608845" cy="522746"/>
          </a:xfrm>
          <a:prstGeom prst="line">
            <a:avLst/>
          </a:prstGeom>
          <a:noFill/>
          <a:ln w="1905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40380" y="3451860"/>
            <a:ext cx="1417320" cy="1417320"/>
          </a:xfrm>
          <a:prstGeom prst="ellipse">
            <a:avLst/>
          </a:prstGeom>
          <a:solidFill>
            <a:srgbClr val="0D2B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71800" y="386791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Healthcare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06140" y="2125980"/>
            <a:ext cx="685800" cy="6858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3" name="Shape 11"/>
          <p:cNvSpPr/>
          <p:nvPr/>
        </p:nvSpPr>
        <p:spPr>
          <a:xfrm>
            <a:off x="5014985" y="3294874"/>
            <a:ext cx="685800" cy="68580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4" name="Shape 12"/>
          <p:cNvSpPr/>
          <p:nvPr/>
        </p:nvSpPr>
        <p:spPr>
          <a:xfrm>
            <a:off x="4400461" y="5186186"/>
            <a:ext cx="685800" cy="685800"/>
          </a:xfrm>
          <a:prstGeom prst="ellipse">
            <a:avLst/>
          </a:prstGeom>
          <a:solidFill>
            <a:srgbClr val="56A4C4"/>
          </a:solidFill>
          <a:ln/>
        </p:spPr>
      </p:sp>
      <p:sp>
        <p:nvSpPr>
          <p:cNvPr id="15" name="Shape 13"/>
          <p:cNvSpPr/>
          <p:nvPr/>
        </p:nvSpPr>
        <p:spPr>
          <a:xfrm>
            <a:off x="2411819" y="5186186"/>
            <a:ext cx="685800" cy="68580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6" name="Shape 14"/>
          <p:cNvSpPr/>
          <p:nvPr/>
        </p:nvSpPr>
        <p:spPr>
          <a:xfrm>
            <a:off x="1797295" y="3294874"/>
            <a:ext cx="685800" cy="6858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7" name="Shape 15"/>
          <p:cNvSpPr/>
          <p:nvPr/>
        </p:nvSpPr>
        <p:spPr>
          <a:xfrm>
            <a:off x="6693408" y="1911096"/>
            <a:ext cx="365760" cy="3657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8040" y="18745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21671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X-rays, CT, MRI, ultrasound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93408" y="2752344"/>
            <a:ext cx="365760" cy="36576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78040" y="27157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Records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00837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Diagnoses, medications, history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93408" y="3593592"/>
            <a:ext cx="365760" cy="365760"/>
          </a:xfrm>
          <a:prstGeom prst="ellipse">
            <a:avLst/>
          </a:prstGeom>
          <a:solidFill>
            <a:srgbClr val="56A4C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78040" y="355701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Data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8496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tests and other measurements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93408" y="4434840"/>
            <a:ext cx="365760" cy="36576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78040" y="439826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Data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69087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and molecular information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93408" y="5276088"/>
            <a:ext cx="365760" cy="3657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78040" y="52395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Data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55321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rate, activity, sleep signals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VS. DIAGNOSIS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Helps Diagnose Diseases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may identify a suspicious pattern, but clinical diagnosis requires medical context and judgment.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993392" cy="868680"/>
          </a:xfrm>
          <a:prstGeom prst="roundRect">
            <a:avLst>
              <a:gd name="adj" fmla="val 12632"/>
            </a:avLst>
          </a:prstGeom>
          <a:solidFill>
            <a:srgbClr val="2E86AB"/>
          </a:solidFill>
          <a:ln/>
          <a:effectLst>
            <a:outerShdw sx="100000" sy="100000" kx="0" ky="0" algn="bl" rotWithShape="0" blurRad="76200" dist="25400" dir="5400000">
              <a:srgbClr val="0D2B2E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21792" y="301752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Scan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42032" y="3451860"/>
            <a:ext cx="201168" cy="9144"/>
          </a:xfrm>
          <a:prstGeom prst="line">
            <a:avLst/>
          </a:prstGeom>
          <a:noFill/>
          <a:ln w="2540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43200" y="3017520"/>
            <a:ext cx="1993392" cy="868680"/>
          </a:xfrm>
          <a:prstGeom prst="roundRect">
            <a:avLst>
              <a:gd name="adj" fmla="val 12632"/>
            </a:avLst>
          </a:prstGeom>
          <a:solidFill>
            <a:srgbClr val="56A4C4"/>
          </a:solidFill>
          <a:ln/>
          <a:effectLst>
            <a:outerShdw sx="100000" sy="100000" kx="0" ky="0" algn="bl" rotWithShape="0" blurRad="76200" dist="25400" dir="5400000">
              <a:srgbClr val="0D2B2E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816352" y="301752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 Analysis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36592" y="3451860"/>
            <a:ext cx="201168" cy="9144"/>
          </a:xfrm>
          <a:prstGeom prst="line">
            <a:avLst/>
          </a:prstGeom>
          <a:noFill/>
          <a:ln w="2540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37760" y="3017520"/>
            <a:ext cx="1993392" cy="868680"/>
          </a:xfrm>
          <a:prstGeom prst="roundRect">
            <a:avLst>
              <a:gd name="adj" fmla="val 12632"/>
            </a:avLst>
          </a:prstGeom>
          <a:solidFill>
            <a:srgbClr val="E8615A"/>
          </a:solidFill>
          <a:ln/>
          <a:effectLst>
            <a:outerShdw sx="100000" sy="100000" kx="0" ky="0" algn="bl" rotWithShape="0" blurRad="76200" dist="25400" dir="5400000">
              <a:srgbClr val="0D2B2E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010912" y="301752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Region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31152" y="3451860"/>
            <a:ext cx="201168" cy="9144"/>
          </a:xfrm>
          <a:prstGeom prst="line">
            <a:avLst/>
          </a:prstGeom>
          <a:noFill/>
          <a:ln w="2540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32320" y="3017520"/>
            <a:ext cx="1993392" cy="868680"/>
          </a:xfrm>
          <a:prstGeom prst="roundRect">
            <a:avLst>
              <a:gd name="adj" fmla="val 12632"/>
            </a:avLst>
          </a:prstGeom>
          <a:solidFill>
            <a:srgbClr val="2FBF9F"/>
          </a:solidFill>
          <a:ln/>
          <a:effectLst>
            <a:outerShdw sx="100000" sy="100000" kx="0" ky="0" algn="bl" rotWithShape="0" blurRad="76200" dist="25400" dir="5400000">
              <a:srgbClr val="0D2B2E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205472" y="301752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Review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25712" y="3451860"/>
            <a:ext cx="201168" cy="9144"/>
          </a:xfrm>
          <a:prstGeom prst="line">
            <a:avLst/>
          </a:prstGeom>
          <a:noFill/>
          <a:ln w="2540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26880" y="3017520"/>
            <a:ext cx="1993392" cy="868680"/>
          </a:xfrm>
          <a:prstGeom prst="roundRect">
            <a:avLst>
              <a:gd name="adj" fmla="val 12632"/>
            </a:avLst>
          </a:prstGeom>
          <a:solidFill>
            <a:srgbClr val="0D2B2E"/>
          </a:solidFill>
          <a:ln/>
          <a:effectLst>
            <a:outerShdw sx="100000" sy="100000" kx="0" ky="0" algn="bl" rotWithShape="0" blurRad="76200" dist="25400" dir="5400000">
              <a:srgbClr val="0D2B2E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400032" y="301752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062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Review is the step where AI output becomes a clinical decision.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9377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highlight areas that require closer examination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identifies abnormalities; machine learning estimates risk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use these outputs alongside other medical evidence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structured visual data that machine-learning systems can analyze directly.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127000" dist="38100" dir="5400000">
              <a:srgbClr val="0D2B2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31720"/>
            <a:ext cx="3429000" cy="548640"/>
          </a:xfrm>
          <a:prstGeom prst="roundRect">
            <a:avLst>
              <a:gd name="adj" fmla="val 13333"/>
            </a:avLst>
          </a:prstGeom>
          <a:solidFill>
            <a:srgbClr val="2E86A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97480"/>
            <a:ext cx="342900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089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Scan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03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X-ray, CT, or MRI image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05072" y="3566160"/>
            <a:ext cx="219456" cy="9144"/>
          </a:xfrm>
          <a:prstGeom prst="line">
            <a:avLst/>
          </a:prstGeom>
          <a:noFill/>
          <a:ln w="2540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51960" y="233172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127000" dist="38100" dir="5400000">
              <a:srgbClr val="0D2B2E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2331720"/>
            <a:ext cx="3429000" cy="548640"/>
          </a:xfrm>
          <a:prstGeom prst="roundRect">
            <a:avLst>
              <a:gd name="adj" fmla="val 13333"/>
            </a:avLst>
          </a:prstGeom>
          <a:solidFill>
            <a:srgbClr val="2FBF9F"/>
          </a:solidFill>
          <a:ln/>
        </p:spPr>
      </p:sp>
      <p:sp>
        <p:nvSpPr>
          <p:cNvPr id="14" name="Shape 12"/>
          <p:cNvSpPr/>
          <p:nvPr/>
        </p:nvSpPr>
        <p:spPr>
          <a:xfrm>
            <a:off x="4251960" y="2697480"/>
            <a:ext cx="342900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34840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31089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 Overlay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703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subtle patterns and potential abnormalities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08392" y="3566160"/>
            <a:ext cx="219456" cy="9144"/>
          </a:xfrm>
          <a:prstGeom prst="line">
            <a:avLst/>
          </a:prstGeom>
          <a:noFill/>
          <a:ln w="2540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955280" y="233172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127000" dist="38100" dir="5400000">
              <a:srgbClr val="0D2B2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55280" y="2331720"/>
            <a:ext cx="3429000" cy="548640"/>
          </a:xfrm>
          <a:prstGeom prst="roundRect">
            <a:avLst>
              <a:gd name="adj" fmla="val 13333"/>
            </a:avLst>
          </a:prstGeom>
          <a:solidFill>
            <a:srgbClr val="0D2B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2697480"/>
            <a:ext cx="342900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38160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31089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 Review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183880" y="3703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interprets AI output with clinical context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1663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prioritize potentially urgent cases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radiologists with image interpretation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repetitive analysis tasks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HEALTHCARE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Predicting Health Risks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only asking “What is happening now?”, AI helps estimate “What might happen next?”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88720" y="2651760"/>
            <a:ext cx="2377440" cy="868680"/>
          </a:xfrm>
          <a:prstGeom prst="roundRect">
            <a:avLst>
              <a:gd name="adj" fmla="val 12632"/>
            </a:avLst>
          </a:prstGeom>
          <a:solidFill>
            <a:srgbClr val="2E86AB"/>
          </a:solidFill>
          <a:ln/>
          <a:effectLst>
            <a:outerShdw sx="100000" sy="100000" kx="0" ky="0" algn="bl" rotWithShape="0" blurRad="76200" dist="25400" dir="5400000">
              <a:srgbClr val="0D2B2E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80160" y="2651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History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3086100"/>
            <a:ext cx="320040" cy="9144"/>
          </a:xfrm>
          <a:prstGeom prst="line">
            <a:avLst/>
          </a:prstGeom>
          <a:noFill/>
          <a:ln w="2540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886200" y="2651760"/>
            <a:ext cx="2377440" cy="868680"/>
          </a:xfrm>
          <a:prstGeom prst="roundRect">
            <a:avLst>
              <a:gd name="adj" fmla="val 12632"/>
            </a:avLst>
          </a:prstGeom>
          <a:solidFill>
            <a:srgbClr val="56A4C4"/>
          </a:solidFill>
          <a:ln/>
          <a:effectLst>
            <a:outerShdw sx="100000" sy="100000" kx="0" ky="0" algn="bl" rotWithShape="0" blurRad="76200" dist="25400" dir="5400000">
              <a:srgbClr val="0D2B2E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977640" y="2651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Model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3086100"/>
            <a:ext cx="320040" cy="9144"/>
          </a:xfrm>
          <a:prstGeom prst="line">
            <a:avLst/>
          </a:prstGeom>
          <a:noFill/>
          <a:ln w="2540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583680" y="2651760"/>
            <a:ext cx="2377440" cy="868680"/>
          </a:xfrm>
          <a:prstGeom prst="roundRect">
            <a:avLst>
              <a:gd name="adj" fmla="val 12632"/>
            </a:avLst>
          </a:prstGeom>
          <a:solidFill>
            <a:srgbClr val="E8615A"/>
          </a:solidFill>
          <a:ln/>
          <a:effectLst>
            <a:outerShdw sx="100000" sy="100000" kx="0" ky="0" algn="bl" rotWithShape="0" blurRad="76200" dist="25400" dir="5400000">
              <a:srgbClr val="0D2B2E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675120" y="2651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0" y="3086100"/>
            <a:ext cx="320040" cy="9144"/>
          </a:xfrm>
          <a:prstGeom prst="line">
            <a:avLst/>
          </a:prstGeom>
          <a:noFill/>
          <a:ln w="2540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281160" y="2651760"/>
            <a:ext cx="2377440" cy="868680"/>
          </a:xfrm>
          <a:prstGeom prst="roundRect">
            <a:avLst>
              <a:gd name="adj" fmla="val 12632"/>
            </a:avLst>
          </a:prstGeom>
          <a:solidFill>
            <a:srgbClr val="2FBF9F"/>
          </a:solidFill>
          <a:ln/>
          <a:effectLst>
            <a:outerShdw sx="100000" sy="100000" kx="0" ky="0" algn="bl" rotWithShape="0" blurRad="76200" dist="25400" dir="5400000">
              <a:srgbClr val="0D2B2E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372600" y="2651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Action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3840480"/>
            <a:ext cx="792480" cy="201168"/>
          </a:xfrm>
          <a:prstGeom prst="rect">
            <a:avLst/>
          </a:prstGeom>
          <a:solidFill>
            <a:srgbClr val="7FD8A8"/>
          </a:solidFill>
          <a:ln/>
        </p:spPr>
      </p:sp>
      <p:sp>
        <p:nvSpPr>
          <p:cNvPr id="17" name="Shape 15"/>
          <p:cNvSpPr/>
          <p:nvPr/>
        </p:nvSpPr>
        <p:spPr>
          <a:xfrm>
            <a:off x="7376160" y="3840480"/>
            <a:ext cx="792480" cy="201168"/>
          </a:xfrm>
          <a:prstGeom prst="rect">
            <a:avLst/>
          </a:prstGeom>
          <a:solidFill>
            <a:srgbClr val="F4C561"/>
          </a:solidFill>
          <a:ln/>
        </p:spPr>
      </p:sp>
      <p:sp>
        <p:nvSpPr>
          <p:cNvPr id="18" name="Shape 16"/>
          <p:cNvSpPr/>
          <p:nvPr/>
        </p:nvSpPr>
        <p:spPr>
          <a:xfrm>
            <a:off x="8168640" y="3840480"/>
            <a:ext cx="792480" cy="201168"/>
          </a:xfrm>
          <a:prstGeom prst="rect">
            <a:avLst/>
          </a:prstGeom>
          <a:solidFill>
            <a:srgbClr val="E8615A"/>
          </a:solidFill>
          <a:ln/>
        </p:spPr>
      </p:sp>
      <p:sp>
        <p:nvSpPr>
          <p:cNvPr id="19" name="Shape 17"/>
          <p:cNvSpPr/>
          <p:nvPr/>
        </p:nvSpPr>
        <p:spPr>
          <a:xfrm rot="10800000">
            <a:off x="8200339" y="4041648"/>
            <a:ext cx="146304" cy="128016"/>
          </a:xfrm>
          <a:prstGeom prst="triangle">
            <a:avLst/>
          </a:prstGeom>
          <a:solidFill>
            <a:srgbClr val="1425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          Medium            High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0292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patterns associated with future complications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prioritize patients who may need attention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earlier intervention before conditions worsen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INDIVIDUALIZED CARE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Personalized Medicine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helps analyze relationships between patient characteristics and treatments — clinical expertise decides.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377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2766060"/>
            <a:ext cx="2286000" cy="1069848"/>
          </a:xfrm>
          <a:prstGeom prst="line">
            <a:avLst/>
          </a:prstGeom>
          <a:noFill/>
          <a:ln w="1651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3447288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56A4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44728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68880" y="3835908"/>
            <a:ext cx="2286000" cy="9144"/>
          </a:xfrm>
          <a:prstGeom prst="line">
            <a:avLst/>
          </a:prstGeom>
          <a:noFill/>
          <a:ln w="1651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4517136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2FB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51713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V="1">
            <a:off x="2468880" y="3835908"/>
            <a:ext cx="2286000" cy="1069848"/>
          </a:xfrm>
          <a:prstGeom prst="line">
            <a:avLst/>
          </a:prstGeom>
          <a:noFill/>
          <a:ln w="1651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54880" y="2967228"/>
            <a:ext cx="1737360" cy="1737360"/>
          </a:xfrm>
          <a:prstGeom prst="ellipse">
            <a:avLst/>
          </a:prstGeom>
          <a:solidFill>
            <a:srgbClr val="0D2B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00600" y="3543300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 flipV="1">
            <a:off x="6492240" y="2766060"/>
            <a:ext cx="2560320" cy="1069848"/>
          </a:xfrm>
          <a:prstGeom prst="line">
            <a:avLst/>
          </a:prstGeom>
          <a:noFill/>
          <a:ln w="1651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52560" y="237744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76200" dist="25400" dir="5400000">
              <a:srgbClr val="0D2B2E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189720" y="2377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Pathway 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92240" y="3835908"/>
            <a:ext cx="2560320" cy="9144"/>
          </a:xfrm>
          <a:prstGeom prst="line">
            <a:avLst/>
          </a:prstGeom>
          <a:noFill/>
          <a:ln w="1651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52560" y="3447288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76200" dist="25400" dir="5400000">
              <a:srgbClr val="0D2B2E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189720" y="344728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Pathway 2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3835908"/>
            <a:ext cx="2560320" cy="1069848"/>
          </a:xfrm>
          <a:prstGeom prst="line">
            <a:avLst/>
          </a:prstGeom>
          <a:noFill/>
          <a:ln w="1651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52560" y="4517136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76200" dist="25400" dir="5400000">
              <a:srgbClr val="0D2B2E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189720" y="4517136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Pathway 3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3492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patient profiles can lead the model toward different potential treatment pathways.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BIOLOGY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Drug Discovery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doesn't create a finished medicine — it helps researchers search a huge space more efficiently.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2E86AB"/>
          </a:solidFill>
          <a:ln/>
          <a:effectLst>
            <a:outerShdw sx="100000" sy="100000" kx="0" ky="0" algn="bl" rotWithShape="0" blurRad="76200" dist="25400" dir="5400000">
              <a:srgbClr val="0D2B2E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926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54096" y="292608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56A4C4"/>
          </a:solidFill>
          <a:ln/>
          <a:effectLst>
            <a:outerShdw sx="100000" sy="100000" kx="0" ky="0" algn="bl" rotWithShape="0" blurRad="76200" dist="25400" dir="5400000">
              <a:srgbClr val="0D2B2E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054096" y="292608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Screening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30952" y="292608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2FBF9F"/>
          </a:solidFill>
          <a:ln/>
          <a:effectLst>
            <a:outerShdw sx="100000" sy="100000" kx="0" ky="0" algn="bl" rotWithShape="0" blurRad="76200" dist="25400" dir="5400000">
              <a:srgbClr val="0D2B2E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330952" y="2926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79208" y="292608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56A4C4"/>
          </a:solidFill>
          <a:ln/>
          <a:effectLst>
            <a:outerShdw sx="100000" sy="100000" kx="0" ky="0" algn="bl" rotWithShape="0" blurRad="76200" dist="25400" dir="5400000">
              <a:srgbClr val="0D2B2E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79208" y="2926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244584" y="292608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0D2B2E"/>
          </a:solidFill>
          <a:ln/>
          <a:effectLst>
            <a:outerShdw sx="100000" sy="100000" kx="0" ky="0" algn="bl" rotWithShape="0" blurRad="76200" dist="25400" dir="5400000">
              <a:srgbClr val="0D2B2E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44584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34640" y="3383280"/>
            <a:ext cx="219456" cy="9144"/>
          </a:xfrm>
          <a:prstGeom prst="line">
            <a:avLst/>
          </a:prstGeom>
          <a:noFill/>
          <a:ln w="2540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11496" y="3383280"/>
            <a:ext cx="219456" cy="9144"/>
          </a:xfrm>
          <a:prstGeom prst="line">
            <a:avLst/>
          </a:prstGeom>
          <a:noFill/>
          <a:ln w="2540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159752" y="3383280"/>
            <a:ext cx="219456" cy="9144"/>
          </a:xfrm>
          <a:prstGeom prst="line">
            <a:avLst/>
          </a:prstGeom>
          <a:noFill/>
          <a:ln w="2540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25128" y="3383280"/>
            <a:ext cx="219456" cy="9144"/>
          </a:xfrm>
          <a:prstGeom prst="line">
            <a:avLst/>
          </a:prstGeom>
          <a:noFill/>
          <a:ln w="2540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548640" y="41605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narrows a huge search space down to a small set of viable candidates.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drug discovery can take many years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must evaluate enormous numbers of molecules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predict molecular properties and interactions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number of possibilities researchers must investigate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CARE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Wearables &amp; Remote Monitoring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provide a much larger stream of real-world data; AI helps identify meaningful changes.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1993392" cy="868680"/>
          </a:xfrm>
          <a:prstGeom prst="roundRect">
            <a:avLst>
              <a:gd name="adj" fmla="val 12632"/>
            </a:avLst>
          </a:prstGeom>
          <a:solidFill>
            <a:srgbClr val="2E86AB"/>
          </a:solidFill>
          <a:ln/>
          <a:effectLst>
            <a:outerShdw sx="100000" sy="100000" kx="0" ky="0" algn="bl" rotWithShape="0" blurRad="76200" dist="25400" dir="5400000">
              <a:srgbClr val="0D2B2E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21792" y="306324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42032" y="3497580"/>
            <a:ext cx="201168" cy="9144"/>
          </a:xfrm>
          <a:prstGeom prst="line">
            <a:avLst/>
          </a:prstGeom>
          <a:noFill/>
          <a:ln w="2540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43200" y="3063240"/>
            <a:ext cx="1993392" cy="868680"/>
          </a:xfrm>
          <a:prstGeom prst="roundRect">
            <a:avLst>
              <a:gd name="adj" fmla="val 12632"/>
            </a:avLst>
          </a:prstGeom>
          <a:solidFill>
            <a:srgbClr val="56A4C4"/>
          </a:solidFill>
          <a:ln/>
          <a:effectLst>
            <a:outerShdw sx="100000" sy="100000" kx="0" ky="0" algn="bl" rotWithShape="0" blurRad="76200" dist="25400" dir="5400000">
              <a:srgbClr val="0D2B2E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816352" y="306324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36592" y="3497580"/>
            <a:ext cx="201168" cy="9144"/>
          </a:xfrm>
          <a:prstGeom prst="line">
            <a:avLst/>
          </a:prstGeom>
          <a:noFill/>
          <a:ln w="2540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37760" y="3063240"/>
            <a:ext cx="1993392" cy="868680"/>
          </a:xfrm>
          <a:prstGeom prst="roundRect">
            <a:avLst>
              <a:gd name="adj" fmla="val 12632"/>
            </a:avLst>
          </a:prstGeom>
          <a:solidFill>
            <a:srgbClr val="2FBF9F"/>
          </a:solidFill>
          <a:ln/>
          <a:effectLst>
            <a:outerShdw sx="100000" sy="100000" kx="0" ky="0" algn="bl" rotWithShape="0" blurRad="76200" dist="25400" dir="5400000">
              <a:srgbClr val="0D2B2E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010912" y="306324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31152" y="3497580"/>
            <a:ext cx="201168" cy="9144"/>
          </a:xfrm>
          <a:prstGeom prst="line">
            <a:avLst/>
          </a:prstGeom>
          <a:noFill/>
          <a:ln w="2540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32320" y="3063240"/>
            <a:ext cx="1993392" cy="868680"/>
          </a:xfrm>
          <a:prstGeom prst="roundRect">
            <a:avLst>
              <a:gd name="adj" fmla="val 12632"/>
            </a:avLst>
          </a:prstGeom>
          <a:solidFill>
            <a:srgbClr val="E8615A"/>
          </a:solidFill>
          <a:ln/>
          <a:effectLst>
            <a:outerShdw sx="100000" sy="100000" kx="0" ky="0" algn="bl" rotWithShape="0" blurRad="76200" dist="25400" dir="5400000">
              <a:srgbClr val="0D2B2E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205472" y="306324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25712" y="3497580"/>
            <a:ext cx="201168" cy="9144"/>
          </a:xfrm>
          <a:prstGeom prst="line">
            <a:avLst/>
          </a:prstGeom>
          <a:noFill/>
          <a:ln w="2540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26880" y="3063240"/>
            <a:ext cx="1993392" cy="868680"/>
          </a:xfrm>
          <a:prstGeom prst="roundRect">
            <a:avLst>
              <a:gd name="adj" fmla="val 12632"/>
            </a:avLst>
          </a:prstGeom>
          <a:solidFill>
            <a:srgbClr val="0D2B2E"/>
          </a:solidFill>
          <a:ln/>
          <a:effectLst>
            <a:outerShdw sx="100000" sy="100000" kx="0" ky="0" algn="bl" rotWithShape="0" blurRad="76200" dist="25400" dir="5400000">
              <a:srgbClr val="0D2B2E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400032" y="306324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0" y="4389120"/>
            <a:ext cx="221488" cy="45720"/>
          </a:xfrm>
          <a:prstGeom prst="line">
            <a:avLst/>
          </a:prstGeom>
          <a:noFill/>
          <a:ln w="25400">
            <a:solidFill>
              <a:srgbClr val="2FBF9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2964688" y="4389120"/>
            <a:ext cx="221488" cy="45720"/>
          </a:xfrm>
          <a:prstGeom prst="line">
            <a:avLst/>
          </a:prstGeom>
          <a:noFill/>
          <a:ln w="25400">
            <a:solidFill>
              <a:srgbClr val="2FBF9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3186176" y="4251960"/>
            <a:ext cx="221488" cy="137160"/>
          </a:xfrm>
          <a:prstGeom prst="line">
            <a:avLst/>
          </a:prstGeom>
          <a:noFill/>
          <a:ln w="25400">
            <a:solidFill>
              <a:srgbClr val="2FBF9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07664" y="4251960"/>
            <a:ext cx="221488" cy="365760"/>
          </a:xfrm>
          <a:prstGeom prst="line">
            <a:avLst/>
          </a:prstGeom>
          <a:noFill/>
          <a:ln w="25400">
            <a:solidFill>
              <a:srgbClr val="2FBF9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3629152" y="4069080"/>
            <a:ext cx="221488" cy="548640"/>
          </a:xfrm>
          <a:prstGeom prst="line">
            <a:avLst/>
          </a:prstGeom>
          <a:noFill/>
          <a:ln w="25400">
            <a:solidFill>
              <a:srgbClr val="2FBF9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50640" y="4069080"/>
            <a:ext cx="221488" cy="548640"/>
          </a:xfrm>
          <a:prstGeom prst="line">
            <a:avLst/>
          </a:prstGeom>
          <a:noFill/>
          <a:ln w="25400">
            <a:solidFill>
              <a:srgbClr val="2FBF9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4072128" y="4389120"/>
            <a:ext cx="221488" cy="228600"/>
          </a:xfrm>
          <a:prstGeom prst="line">
            <a:avLst/>
          </a:prstGeom>
          <a:noFill/>
          <a:ln w="25400">
            <a:solidFill>
              <a:srgbClr val="2FBF9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3616" y="4389120"/>
            <a:ext cx="221488" cy="45720"/>
          </a:xfrm>
          <a:prstGeom prst="line">
            <a:avLst/>
          </a:prstGeom>
          <a:noFill/>
          <a:ln w="25400">
            <a:solidFill>
              <a:srgbClr val="2FBF9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4515104" y="4389120"/>
            <a:ext cx="221488" cy="45720"/>
          </a:xfrm>
          <a:prstGeom prst="line">
            <a:avLst/>
          </a:prstGeom>
          <a:noFill/>
          <a:ln w="25400">
            <a:solidFill>
              <a:srgbClr val="2FBF9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51206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unusual changes in physiological signals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remote monitoring of patients over time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becomes continuous rather than occasional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WORKFLOW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for Doctors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affect the workflow around medicine, not just the medical decision itself.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H="1" flipV="1">
            <a:off x="2171086" y="2625736"/>
            <a:ext cx="1120754" cy="940424"/>
          </a:xfrm>
          <a:prstGeom prst="line">
            <a:avLst/>
          </a:prstGeom>
          <a:noFill/>
          <a:ln w="1905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3291840" y="2625736"/>
            <a:ext cx="1120754" cy="940424"/>
          </a:xfrm>
          <a:prstGeom prst="line">
            <a:avLst/>
          </a:prstGeom>
          <a:noFill/>
          <a:ln w="1905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91840" y="3566160"/>
            <a:ext cx="1120754" cy="940424"/>
          </a:xfrm>
          <a:prstGeom prst="line">
            <a:avLst/>
          </a:prstGeom>
          <a:noFill/>
          <a:ln w="1905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2171086" y="3566160"/>
            <a:ext cx="1120754" cy="940424"/>
          </a:xfrm>
          <a:prstGeom prst="line">
            <a:avLst/>
          </a:prstGeom>
          <a:noFill/>
          <a:ln w="1905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66060" y="3040380"/>
            <a:ext cx="1051560" cy="10515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0" y="34198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782466" y="2237116"/>
            <a:ext cx="777240" cy="7772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85286" y="30097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23974" y="2237116"/>
            <a:ext cx="777240" cy="777240"/>
          </a:xfrm>
          <a:prstGeom prst="ellipse">
            <a:avLst/>
          </a:prstGeom>
          <a:solidFill>
            <a:srgbClr val="56A4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26794" y="30097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23974" y="4117964"/>
            <a:ext cx="777240" cy="77724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26794" y="48906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Literature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782466" y="4117964"/>
            <a:ext cx="777240" cy="777240"/>
          </a:xfrm>
          <a:prstGeom prst="ellipse">
            <a:avLst/>
          </a:prstGeom>
          <a:solidFill>
            <a:srgbClr val="0D2B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485286" y="48906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5349240"/>
            <a:ext cx="9144" cy="320040"/>
          </a:xfrm>
          <a:prstGeom prst="line">
            <a:avLst/>
          </a:prstGeom>
          <a:noFill/>
          <a:ln w="25400">
            <a:solidFill>
              <a:srgbClr val="2FBF9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874520" y="5669280"/>
            <a:ext cx="2834640" cy="594360"/>
          </a:xfrm>
          <a:prstGeom prst="roundRect">
            <a:avLst>
              <a:gd name="adj" fmla="val 18462"/>
            </a:avLst>
          </a:prstGeom>
          <a:solidFill>
            <a:srgbClr val="2FBF9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874520" y="56692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Clinical Summary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46888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large amounts of patient information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organize clinical documentation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medical information quickly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with administrative tasks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clinicians more time to focus on patients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Hospitals &amp; Healthcare Operations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are complex systems — AI can help optimize the processes that keep them running.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V="1">
            <a:off x="3108960" y="2514600"/>
            <a:ext cx="9144" cy="1691640"/>
          </a:xfrm>
          <a:prstGeom prst="line">
            <a:avLst/>
          </a:prstGeom>
          <a:noFill/>
          <a:ln w="1905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3108960" y="3360420"/>
            <a:ext cx="1465003" cy="845820"/>
          </a:xfrm>
          <a:prstGeom prst="line">
            <a:avLst/>
          </a:prstGeom>
          <a:noFill/>
          <a:ln w="1905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108960" y="4206240"/>
            <a:ext cx="1465003" cy="845820"/>
          </a:xfrm>
          <a:prstGeom prst="line">
            <a:avLst/>
          </a:prstGeom>
          <a:noFill/>
          <a:ln w="1905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08960" y="4206240"/>
            <a:ext cx="9144" cy="1691640"/>
          </a:xfrm>
          <a:prstGeom prst="line">
            <a:avLst/>
          </a:prstGeom>
          <a:noFill/>
          <a:ln w="1905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1643957" y="4206240"/>
            <a:ext cx="1465003" cy="845820"/>
          </a:xfrm>
          <a:prstGeom prst="line">
            <a:avLst/>
          </a:prstGeom>
          <a:noFill/>
          <a:ln w="1905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H="1" flipV="1">
            <a:off x="1643957" y="3360420"/>
            <a:ext cx="1465003" cy="845820"/>
          </a:xfrm>
          <a:prstGeom prst="line">
            <a:avLst/>
          </a:prstGeom>
          <a:noFill/>
          <a:ln w="19050">
            <a:solidFill>
              <a:srgbClr val="C3D4D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91740" y="3589020"/>
            <a:ext cx="1234440" cy="1234440"/>
          </a:xfrm>
          <a:prstGeom prst="ellipse">
            <a:avLst/>
          </a:prstGeom>
          <a:solidFill>
            <a:srgbClr val="0D2B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14600" y="3931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79776" y="2185416"/>
            <a:ext cx="658368" cy="65836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505456" y="235000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44779" y="3031236"/>
            <a:ext cx="658368" cy="658368"/>
          </a:xfrm>
          <a:prstGeom prst="ellipse">
            <a:avLst/>
          </a:prstGeom>
          <a:solidFill>
            <a:srgbClr val="56A4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970459" y="319582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44779" y="4722876"/>
            <a:ext cx="658368" cy="658368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970459" y="488746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79776" y="5568696"/>
            <a:ext cx="658368" cy="65836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505456" y="573328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14773" y="4722876"/>
            <a:ext cx="658368" cy="658368"/>
          </a:xfrm>
          <a:prstGeom prst="ellipse">
            <a:avLst/>
          </a:prstGeom>
          <a:solidFill>
            <a:srgbClr val="56A4C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40453" y="488746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14773" y="3031236"/>
            <a:ext cx="658368" cy="658368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40453" y="319582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246888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patient demand and resource requirements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scheduling and clinical workflows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hospital logistics and supply chains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manage beds, staff, and equipment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overall operational efficiency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LIMITS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Still Cannot Reliably 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performance depends heavily on data, model, environment, and task.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5216" y="2459736"/>
            <a:ext cx="329184" cy="329184"/>
          </a:xfrm>
          <a:prstGeom prst="ellipse">
            <a:avLst/>
          </a:prstGeom>
          <a:solidFill>
            <a:srgbClr val="E861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4231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make incorrect predictions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" y="3145536"/>
            <a:ext cx="329184" cy="329184"/>
          </a:xfrm>
          <a:prstGeom prst="ellipse">
            <a:avLst/>
          </a:prstGeom>
          <a:solidFill>
            <a:srgbClr val="E8615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1089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can be incomplete or biased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" y="3831336"/>
            <a:ext cx="329184" cy="329184"/>
          </a:xfrm>
          <a:prstGeom prst="ellipse">
            <a:avLst/>
          </a:prstGeom>
          <a:solidFill>
            <a:srgbClr val="E861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794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may fail on unfamiliar cases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5216" y="4517136"/>
            <a:ext cx="329184" cy="329184"/>
          </a:xfrm>
          <a:prstGeom prst="ellipse">
            <a:avLst/>
          </a:prstGeom>
          <a:solidFill>
            <a:srgbClr val="E861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44805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not understand patients like human clinicians 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2331720"/>
            <a:ext cx="5120640" cy="3886200"/>
          </a:xfrm>
          <a:prstGeom prst="roundRect">
            <a:avLst>
              <a:gd name="adj" fmla="val 1882"/>
            </a:avLst>
          </a:prstGeom>
          <a:solidFill>
            <a:srgbClr val="0D2B2E"/>
          </a:solidFill>
          <a:ln/>
          <a:effectLst>
            <a:outerShdw sx="100000" sy="100000" kx="0" ky="0" algn="bl" rotWithShape="0" blurRad="127000" dist="38100" dir="5400000">
              <a:srgbClr val="0D2B2E">
                <a:alpha val="2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6656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in the Loop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310896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17403F"/>
          </a:solidFill>
          <a:ln w="12700">
            <a:solidFill>
              <a:srgbClr val="2FBF9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3108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52560" y="3657600"/>
            <a:ext cx="9144" cy="320040"/>
          </a:xfrm>
          <a:prstGeom prst="line">
            <a:avLst/>
          </a:prstGeom>
          <a:noFill/>
          <a:ln w="25400">
            <a:solidFill>
              <a:srgbClr val="2FBF9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629400" y="3977640"/>
            <a:ext cx="4846320" cy="777240"/>
          </a:xfrm>
          <a:prstGeom prst="roundRect">
            <a:avLst>
              <a:gd name="adj" fmla="val 14118"/>
            </a:avLst>
          </a:prstGeom>
          <a:solidFill>
            <a:srgbClr val="2FBF9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39776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Clinical Review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52560" y="4754880"/>
            <a:ext cx="9144" cy="320040"/>
          </a:xfrm>
          <a:prstGeom prst="line">
            <a:avLst/>
          </a:prstGeom>
          <a:noFill/>
          <a:ln w="25400">
            <a:solidFill>
              <a:srgbClr val="2FBF9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766560" y="507492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17403F"/>
          </a:solidFill>
          <a:ln w="12700">
            <a:solidFill>
              <a:srgbClr val="2FBF9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0" y="5074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AWARE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Challenges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can directly affect people's health — reliability and accountability are critical.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71700" y="3543300"/>
            <a:ext cx="1143000" cy="1143000"/>
          </a:xfrm>
          <a:prstGeom prst="ellipse">
            <a:avLst/>
          </a:prstGeom>
          <a:solidFill>
            <a:srgbClr val="E861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057400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flipV="1">
            <a:off x="2743200" y="2377440"/>
            <a:ext cx="9144" cy="1737360"/>
          </a:xfrm>
          <a:prstGeom prst="line">
            <a:avLst/>
          </a:prstGeom>
          <a:noFill/>
          <a:ln w="19050">
            <a:solidFill>
              <a:srgbClr val="F0C4C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23160" y="2057400"/>
            <a:ext cx="640080" cy="640080"/>
          </a:xfrm>
          <a:prstGeom prst="ellipse">
            <a:avLst/>
          </a:prstGeom>
          <a:solidFill>
            <a:srgbClr val="E8615A"/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2743200" y="3577926"/>
            <a:ext cx="1652328" cy="536874"/>
          </a:xfrm>
          <a:prstGeom prst="line">
            <a:avLst/>
          </a:prstGeom>
          <a:noFill/>
          <a:ln w="19050">
            <a:solidFill>
              <a:srgbClr val="F0C4C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075488" y="3257886"/>
            <a:ext cx="640080" cy="640080"/>
          </a:xfrm>
          <a:prstGeom prst="ellipse">
            <a:avLst/>
          </a:prstGeom>
          <a:solidFill>
            <a:srgbClr val="E8615A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4114800"/>
            <a:ext cx="1021195" cy="1405554"/>
          </a:xfrm>
          <a:prstGeom prst="line">
            <a:avLst/>
          </a:prstGeom>
          <a:noFill/>
          <a:ln w="19050">
            <a:solidFill>
              <a:srgbClr val="F0C4C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44355" y="5200314"/>
            <a:ext cx="640080" cy="640080"/>
          </a:xfrm>
          <a:prstGeom prst="ellipse">
            <a:avLst/>
          </a:prstGeom>
          <a:solidFill>
            <a:srgbClr val="E8615A"/>
          </a:solidFill>
          <a:ln/>
        </p:spPr>
      </p:sp>
      <p:sp>
        <p:nvSpPr>
          <p:cNvPr id="13" name="Shape 11"/>
          <p:cNvSpPr/>
          <p:nvPr/>
        </p:nvSpPr>
        <p:spPr>
          <a:xfrm flipH="1">
            <a:off x="1722005" y="4114800"/>
            <a:ext cx="1021195" cy="1405554"/>
          </a:xfrm>
          <a:prstGeom prst="line">
            <a:avLst/>
          </a:prstGeom>
          <a:noFill/>
          <a:ln w="19050">
            <a:solidFill>
              <a:srgbClr val="F0C4C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401965" y="5200314"/>
            <a:ext cx="640080" cy="640080"/>
          </a:xfrm>
          <a:prstGeom prst="ellipse">
            <a:avLst/>
          </a:prstGeom>
          <a:solidFill>
            <a:srgbClr val="E8615A"/>
          </a:solidFill>
          <a:ln/>
        </p:spPr>
      </p:sp>
      <p:sp>
        <p:nvSpPr>
          <p:cNvPr id="15" name="Shape 13"/>
          <p:cNvSpPr/>
          <p:nvPr/>
        </p:nvSpPr>
        <p:spPr>
          <a:xfrm flipH="1" flipV="1">
            <a:off x="1090872" y="3577926"/>
            <a:ext cx="1652328" cy="536874"/>
          </a:xfrm>
          <a:prstGeom prst="line">
            <a:avLst/>
          </a:prstGeom>
          <a:noFill/>
          <a:ln w="19050">
            <a:solidFill>
              <a:srgbClr val="F0C4C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0832" y="3257886"/>
            <a:ext cx="640080" cy="640080"/>
          </a:xfrm>
          <a:prstGeom prst="ellipse">
            <a:avLst/>
          </a:prstGeom>
          <a:solidFill>
            <a:srgbClr val="E8615A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0" y="233172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127000" dist="38100" dir="5400000">
              <a:srgbClr val="0D2B2E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92140" y="2743200"/>
            <a:ext cx="411480" cy="411480"/>
          </a:xfrm>
          <a:prstGeom prst="ellipse">
            <a:avLst/>
          </a:prstGeom>
          <a:solidFill>
            <a:srgbClr val="E861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25328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8986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is extremely sensitive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23960" y="233172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127000" dist="38100" dir="5400000">
              <a:srgbClr val="0D2B2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29700" y="2743200"/>
            <a:ext cx="411480" cy="411480"/>
          </a:xfrm>
          <a:prstGeom prst="ellipse">
            <a:avLst/>
          </a:prstGeom>
          <a:solidFill>
            <a:srgbClr val="E861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01200" y="25328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601200" y="28986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Unrepresentative data can produce unfair results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0" y="379476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127000" dist="38100" dir="5400000">
              <a:srgbClr val="0D2B2E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92140" y="4206240"/>
            <a:ext cx="411480" cy="411480"/>
          </a:xfrm>
          <a:prstGeom prst="ellipse">
            <a:avLst/>
          </a:prstGeom>
          <a:solidFill>
            <a:srgbClr val="E8615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63640" y="39959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43616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can have serious consequences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823960" y="379476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127000" dist="38100" dir="5400000">
              <a:srgbClr val="0D2B2E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029700" y="4206240"/>
            <a:ext cx="411480" cy="411480"/>
          </a:xfrm>
          <a:prstGeom prst="ellipse">
            <a:avLst/>
          </a:prstGeom>
          <a:solidFill>
            <a:srgbClr val="E861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01200" y="39959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9601200" y="43616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need to understand a model's reasoning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0" y="525780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6"/>
            </a:solidFill>
            <a:prstDash val="solid"/>
          </a:ln>
          <a:effectLst>
            <a:outerShdw sx="100000" sy="100000" kx="0" ky="0" algn="bl" rotWithShape="0" blurRad="127000" dist="38100" dir="5400000">
              <a:srgbClr val="0D2B2E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692140" y="5669280"/>
            <a:ext cx="411480" cy="411480"/>
          </a:xfrm>
          <a:prstGeom prst="ellipse">
            <a:avLst/>
          </a:prstGeom>
          <a:solidFill>
            <a:srgbClr val="E861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63640" y="54589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6263640" y="58247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 must meet strict requirements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= Data + Intelligence + Human Expertise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103120" y="2286000"/>
            <a:ext cx="3657600" cy="3657600"/>
          </a:xfrm>
          <a:prstGeom prst="ellipse">
            <a:avLst/>
          </a:prstGeom>
          <a:ln w="25400">
            <a:solidFill>
              <a:srgbClr val="2E86AB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511296" y="1865376"/>
            <a:ext cx="841248" cy="8412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BF9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8328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95083" y="2779776"/>
            <a:ext cx="841248" cy="841248"/>
          </a:xfrm>
          <a:prstGeom prst="ellipse">
            <a:avLst/>
          </a:prstGeom>
          <a:solidFill>
            <a:srgbClr val="17403F"/>
          </a:solidFill>
          <a:ln w="19050">
            <a:solidFill>
              <a:srgbClr val="2FBF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67067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95083" y="4608576"/>
            <a:ext cx="841248" cy="841248"/>
          </a:xfrm>
          <a:prstGeom prst="ellipse">
            <a:avLst/>
          </a:prstGeom>
          <a:solidFill>
            <a:srgbClr val="17403F"/>
          </a:solidFill>
          <a:ln w="19050">
            <a:solidFill>
              <a:srgbClr val="2FBF9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67067" y="4892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11296" y="5522976"/>
            <a:ext cx="841248" cy="841248"/>
          </a:xfrm>
          <a:prstGeom prst="ellipse">
            <a:avLst/>
          </a:prstGeom>
          <a:solidFill>
            <a:srgbClr val="17403F"/>
          </a:solidFill>
          <a:ln w="19050">
            <a:solidFill>
              <a:srgbClr val="2FBF9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5806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27509" y="4608576"/>
            <a:ext cx="841248" cy="841248"/>
          </a:xfrm>
          <a:prstGeom prst="ellipse">
            <a:avLst/>
          </a:prstGeom>
          <a:solidFill>
            <a:srgbClr val="17403F"/>
          </a:solidFill>
          <a:ln w="19050">
            <a:solidFill>
              <a:srgbClr val="2FBF9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99493" y="4892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927509" y="2779776"/>
            <a:ext cx="841248" cy="841248"/>
          </a:xfrm>
          <a:prstGeom prst="ellipse">
            <a:avLst/>
          </a:prstGeom>
          <a:solidFill>
            <a:srgbClr val="2FBF9F"/>
          </a:solidFill>
          <a:ln w="19050">
            <a:solidFill>
              <a:srgbClr val="2FBF9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99493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 rot="1800000">
            <a:off x="4773168" y="2457861"/>
            <a:ext cx="146304" cy="146304"/>
          </a:xfrm>
          <a:prstGeom prst="triangle">
            <a:avLst/>
          </a:prstGeom>
          <a:solidFill>
            <a:srgbClr val="2E86AB"/>
          </a:solidFill>
          <a:ln/>
        </p:spPr>
      </p:sp>
      <p:sp>
        <p:nvSpPr>
          <p:cNvPr id="18" name="Shape 16"/>
          <p:cNvSpPr/>
          <p:nvPr/>
        </p:nvSpPr>
        <p:spPr>
          <a:xfrm rot="5400000">
            <a:off x="5687568" y="4041648"/>
            <a:ext cx="146304" cy="146304"/>
          </a:xfrm>
          <a:prstGeom prst="triangle">
            <a:avLst/>
          </a:prstGeom>
          <a:solidFill>
            <a:srgbClr val="2E86AB"/>
          </a:solidFill>
          <a:ln/>
        </p:spPr>
      </p:sp>
      <p:sp>
        <p:nvSpPr>
          <p:cNvPr id="19" name="Shape 17"/>
          <p:cNvSpPr/>
          <p:nvPr/>
        </p:nvSpPr>
        <p:spPr>
          <a:xfrm rot="9000000">
            <a:off x="4773168" y="5625435"/>
            <a:ext cx="146304" cy="146304"/>
          </a:xfrm>
          <a:prstGeom prst="triangle">
            <a:avLst/>
          </a:prstGeom>
          <a:solidFill>
            <a:srgbClr val="2E86AB"/>
          </a:solidFill>
          <a:ln/>
        </p:spPr>
      </p:sp>
      <p:sp>
        <p:nvSpPr>
          <p:cNvPr id="20" name="Shape 18"/>
          <p:cNvSpPr/>
          <p:nvPr/>
        </p:nvSpPr>
        <p:spPr>
          <a:xfrm rot="12600000">
            <a:off x="2944368" y="5625435"/>
            <a:ext cx="146304" cy="146304"/>
          </a:xfrm>
          <a:prstGeom prst="triangle">
            <a:avLst/>
          </a:prstGeom>
          <a:solidFill>
            <a:srgbClr val="2E86AB"/>
          </a:solidFill>
          <a:ln/>
        </p:spPr>
      </p:sp>
      <p:sp>
        <p:nvSpPr>
          <p:cNvPr id="21" name="Shape 19"/>
          <p:cNvSpPr/>
          <p:nvPr/>
        </p:nvSpPr>
        <p:spPr>
          <a:xfrm rot="16200000">
            <a:off x="2029968" y="4041648"/>
            <a:ext cx="146304" cy="146304"/>
          </a:xfrm>
          <a:prstGeom prst="triangle">
            <a:avLst/>
          </a:prstGeom>
          <a:solidFill>
            <a:srgbClr val="2E86AB"/>
          </a:solidFill>
          <a:ln/>
        </p:spPr>
      </p:sp>
      <p:sp>
        <p:nvSpPr>
          <p:cNvPr id="22" name="Shape 20"/>
          <p:cNvSpPr/>
          <p:nvPr/>
        </p:nvSpPr>
        <p:spPr>
          <a:xfrm rot="19800000">
            <a:off x="2944368" y="2457861"/>
            <a:ext cx="146304" cy="146304"/>
          </a:xfrm>
          <a:prstGeom prst="triangle">
            <a:avLst/>
          </a:prstGeom>
          <a:solidFill>
            <a:srgbClr val="2E86AB"/>
          </a:solidFill>
          <a:ln/>
        </p:spPr>
      </p:sp>
      <p:sp>
        <p:nvSpPr>
          <p:cNvPr id="23" name="Shape 21"/>
          <p:cNvSpPr/>
          <p:nvPr/>
        </p:nvSpPr>
        <p:spPr>
          <a:xfrm>
            <a:off x="6949440" y="26974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7403F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840980" y="288036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4944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38130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patterns, predicts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537192" y="26974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7403F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428732" y="2880360"/>
            <a:ext cx="548640" cy="548640"/>
          </a:xfrm>
          <a:prstGeom prst="ellipse">
            <a:avLst/>
          </a:prstGeom>
          <a:solidFill>
            <a:srgbClr val="56A4C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537192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537192" y="38130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and validate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49440" y="42976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7403F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840980" y="4480560"/>
            <a:ext cx="548640" cy="54864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949440" y="5166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54132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care data-driven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537192" y="42976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7403F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428732" y="4480560"/>
            <a:ext cx="548640" cy="548640"/>
          </a:xfrm>
          <a:prstGeom prst="ellipse">
            <a:avLst/>
          </a:prstGeom>
          <a:solidFill>
            <a:srgbClr val="17403F"/>
          </a:solidFill>
          <a:ln w="19050">
            <a:solidFill>
              <a:srgbClr val="2FBF9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537192" y="5166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537192" y="54132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 at the center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E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2026-09-12T10:30:04Z</dcterms:created>
  <dcterms:modified xsi:type="dcterms:W3CDTF">2026-09-12T10:30:04Z</dcterms:modified>
</cp:coreProperties>
</file>