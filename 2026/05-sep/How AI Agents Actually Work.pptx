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914400"/>
            <a:ext cx="54864" cy="54864"/>
          </a:xfrm>
          <a:prstGeom prst="ellipse">
            <a:avLst/>
          </a:prstGeom>
          <a:solidFill>
            <a:srgbClr val="2A307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914400"/>
            <a:ext cx="54864" cy="54864"/>
          </a:xfrm>
          <a:prstGeom prst="ellipse">
            <a:avLst/>
          </a:prstGeom>
          <a:solidFill>
            <a:srgbClr val="2A3070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914400"/>
            <a:ext cx="54864" cy="54864"/>
          </a:xfrm>
          <a:prstGeom prst="ellipse">
            <a:avLst/>
          </a:prstGeom>
          <a:solidFill>
            <a:srgbClr val="2A3070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1737360"/>
            <a:ext cx="54864" cy="54864"/>
          </a:xfrm>
          <a:prstGeom prst="ellipse">
            <a:avLst/>
          </a:prstGeom>
          <a:solidFill>
            <a:srgbClr val="2A3070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0" y="1737360"/>
            <a:ext cx="54864" cy="54864"/>
          </a:xfrm>
          <a:prstGeom prst="ellipse">
            <a:avLst/>
          </a:prstGeom>
          <a:solidFill>
            <a:srgbClr val="2A3070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0" y="1737360"/>
            <a:ext cx="54864" cy="54864"/>
          </a:xfrm>
          <a:prstGeom prst="ellipse">
            <a:avLst/>
          </a:prstGeom>
          <a:solidFill>
            <a:srgbClr val="2A307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INTELLIGENT SYSTEMS GET THINGS DONE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23444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Agents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Work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632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pPr indent="0" marL="0">
              <a:buNone/>
            </a:pPr>
            <a:r>
              <a:rPr lang="en-US" sz="1800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Action  →  Feedback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0332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beyond generating responses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Reason, use tools, and take actions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continuously toward a defined goal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2743200"/>
            <a:ext cx="2834640" cy="2834640"/>
          </a:xfrm>
          <a:prstGeom prst="ellipse">
            <a:avLst/>
          </a:prstGeom>
          <a:ln w="19050">
            <a:solidFill>
              <a:srgbClr val="2A307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 flipV="1">
            <a:off x="9509760" y="2743200"/>
            <a:ext cx="9144" cy="1417320"/>
          </a:xfrm>
          <a:prstGeom prst="line">
            <a:avLst/>
          </a:prstGeom>
          <a:noFill/>
          <a:ln w="12700">
            <a:solidFill>
              <a:srgbClr val="2A307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226296" y="2459736"/>
            <a:ext cx="566928" cy="566928"/>
          </a:xfrm>
          <a:prstGeom prst="ellipse">
            <a:avLst/>
          </a:prstGeom>
          <a:solidFill>
            <a:srgbClr val="00E0B8"/>
          </a:solidFill>
          <a:ln/>
        </p:spPr>
      </p:sp>
      <p:sp>
        <p:nvSpPr>
          <p:cNvPr id="15" name="Shape 13"/>
          <p:cNvSpPr/>
          <p:nvPr/>
        </p:nvSpPr>
        <p:spPr>
          <a:xfrm flipV="1">
            <a:off x="9509760" y="3722544"/>
            <a:ext cx="1347951" cy="437976"/>
          </a:xfrm>
          <a:prstGeom prst="line">
            <a:avLst/>
          </a:prstGeom>
          <a:noFill/>
          <a:ln w="12700">
            <a:solidFill>
              <a:srgbClr val="2A30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574247" y="3439080"/>
            <a:ext cx="566928" cy="56692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9509760" y="4160520"/>
            <a:ext cx="833080" cy="1146636"/>
          </a:xfrm>
          <a:prstGeom prst="line">
            <a:avLst/>
          </a:prstGeom>
          <a:noFill/>
          <a:ln w="12700">
            <a:solidFill>
              <a:srgbClr val="2A307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59376" y="5023692"/>
            <a:ext cx="566928" cy="566928"/>
          </a:xfrm>
          <a:prstGeom prst="ellipse">
            <a:avLst/>
          </a:prstGeom>
          <a:solidFill>
            <a:srgbClr val="6C7BFF"/>
          </a:solidFill>
          <a:ln/>
        </p:spPr>
      </p:sp>
      <p:sp>
        <p:nvSpPr>
          <p:cNvPr id="19" name="Shape 17"/>
          <p:cNvSpPr/>
          <p:nvPr/>
        </p:nvSpPr>
        <p:spPr>
          <a:xfrm flipH="1">
            <a:off x="8676680" y="4160520"/>
            <a:ext cx="833080" cy="1146636"/>
          </a:xfrm>
          <a:prstGeom prst="line">
            <a:avLst/>
          </a:prstGeom>
          <a:noFill/>
          <a:ln w="12700">
            <a:solidFill>
              <a:srgbClr val="2A307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393216" y="5023692"/>
            <a:ext cx="566928" cy="56692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1" name="Shape 19"/>
          <p:cNvSpPr/>
          <p:nvPr/>
        </p:nvSpPr>
        <p:spPr>
          <a:xfrm flipH="1" flipV="1">
            <a:off x="8161809" y="3722544"/>
            <a:ext cx="1347951" cy="437976"/>
          </a:xfrm>
          <a:prstGeom prst="line">
            <a:avLst/>
          </a:prstGeom>
          <a:noFill/>
          <a:ln w="12700">
            <a:solidFill>
              <a:srgbClr val="2A307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878345" y="3439080"/>
            <a:ext cx="566928" cy="566928"/>
          </a:xfrm>
          <a:prstGeom prst="ellipse">
            <a:avLst/>
          </a:prstGeom>
          <a:solidFill>
            <a:srgbClr val="00E0B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82396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171911" y="4042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657040" y="56271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990880" y="56271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476009" y="4042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83980" y="3634740"/>
            <a:ext cx="1051560" cy="1051560"/>
          </a:xfrm>
          <a:prstGeom prst="ellipse">
            <a:avLst/>
          </a:prstGeom>
          <a:solidFill>
            <a:srgbClr val="1C2354"/>
          </a:solidFill>
          <a:ln w="25400">
            <a:solidFill>
              <a:srgbClr val="00E0B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61120" y="386791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Chatbots to Agents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an answer is not the same as completing a task.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5074920" cy="594360"/>
          </a:xfrm>
          <a:prstGeom prst="roundRect">
            <a:avLst>
              <a:gd name="adj" fmla="val 12308"/>
            </a:avLst>
          </a:prstGeom>
          <a:solidFill>
            <a:srgbClr val="E9EBF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14600"/>
            <a:ext cx="50749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2128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 answer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639312"/>
            <a:ext cx="1005840" cy="585216"/>
          </a:xfrm>
          <a:prstGeom prst="roundRect">
            <a:avLst>
              <a:gd name="adj" fmla="val 15625"/>
            </a:avLst>
          </a:prstGeom>
          <a:solidFill>
            <a:srgbClr val="EE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63931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45920" y="3931920"/>
            <a:ext cx="822960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14600" y="3639312"/>
            <a:ext cx="1005840" cy="585216"/>
          </a:xfrm>
          <a:prstGeom prst="roundRect">
            <a:avLst>
              <a:gd name="adj" fmla="val 15625"/>
            </a:avLst>
          </a:prstGeom>
          <a:solidFill>
            <a:srgbClr val="3D5AF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514600" y="363931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66160" y="3931920"/>
            <a:ext cx="822960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34840" y="3639312"/>
            <a:ext cx="1005840" cy="585216"/>
          </a:xfrm>
          <a:prstGeom prst="roundRect">
            <a:avLst>
              <a:gd name="adj" fmla="val 15625"/>
            </a:avLst>
          </a:prstGeom>
          <a:solidFill>
            <a:srgbClr val="EEF0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34840" y="363931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548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reply, then the interaction ends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goal beyond this turn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210312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2103120"/>
            <a:ext cx="5074920" cy="594360"/>
          </a:xfrm>
          <a:prstGeom prst="roundRect">
            <a:avLst>
              <a:gd name="adj" fmla="val 12308"/>
            </a:avLst>
          </a:prstGeom>
          <a:solidFill>
            <a:srgbClr val="00E0B8"/>
          </a:solidFill>
          <a:ln/>
        </p:spPr>
      </p:sp>
      <p:sp>
        <p:nvSpPr>
          <p:cNvPr id="21" name="Shape 19"/>
          <p:cNvSpPr/>
          <p:nvPr/>
        </p:nvSpPr>
        <p:spPr>
          <a:xfrm>
            <a:off x="6263640" y="2514600"/>
            <a:ext cx="50749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22128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28803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a task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3657600"/>
            <a:ext cx="822960" cy="548640"/>
          </a:xfrm>
          <a:prstGeom prst="roundRect">
            <a:avLst>
              <a:gd name="adj" fmla="val 16667"/>
            </a:avLst>
          </a:prstGeom>
          <a:solidFill>
            <a:srgbClr val="EAF9F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3657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60920" y="3931920"/>
            <a:ext cx="411480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72400" y="3657600"/>
            <a:ext cx="822960" cy="548640"/>
          </a:xfrm>
          <a:prstGeom prst="roundRect">
            <a:avLst>
              <a:gd name="adj" fmla="val 16667"/>
            </a:avLst>
          </a:prstGeom>
          <a:solidFill>
            <a:srgbClr val="EAF9F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0" y="3657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95360" y="3931920"/>
            <a:ext cx="411480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06840" y="3657600"/>
            <a:ext cx="822960" cy="548640"/>
          </a:xfrm>
          <a:prstGeom prst="roundRect">
            <a:avLst>
              <a:gd name="adj" fmla="val 16667"/>
            </a:avLst>
          </a:prstGeom>
          <a:solidFill>
            <a:srgbClr val="3D5AF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006840" y="3657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829800" y="3931920"/>
            <a:ext cx="411480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241280" y="3657600"/>
            <a:ext cx="822960" cy="548640"/>
          </a:xfrm>
          <a:prstGeom prst="roundRect">
            <a:avLst>
              <a:gd name="adj" fmla="val 16667"/>
            </a:avLst>
          </a:prstGeom>
          <a:solidFill>
            <a:srgbClr val="EAF9F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241280" y="3657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 flipH="1">
            <a:off x="6949440" y="4251960"/>
            <a:ext cx="3566160" cy="9144"/>
          </a:xfrm>
          <a:prstGeom prst="line">
            <a:avLst/>
          </a:prstGeom>
          <a:noFill/>
          <a:ln w="19050">
            <a:solidFill>
              <a:srgbClr val="00E0B8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6537960" y="43434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 feeds back into the loop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537960" y="493776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Interacts with external systems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its next move based on results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Inside an AI Agent?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 system built around an AI model — not simply an LLM by itself.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V="1">
            <a:off x="3749040" y="2468880"/>
            <a:ext cx="9144" cy="1691640"/>
          </a:xfrm>
          <a:prstGeom prst="line">
            <a:avLst/>
          </a:prstGeom>
          <a:noFill/>
          <a:ln w="19050">
            <a:solidFill>
              <a:srgbClr val="C7CAE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3749040" y="3637774"/>
            <a:ext cx="1608845" cy="522746"/>
          </a:xfrm>
          <a:prstGeom prst="line">
            <a:avLst/>
          </a:prstGeom>
          <a:noFill/>
          <a:ln w="19050">
            <a:solidFill>
              <a:srgbClr val="C7CAE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49040" y="4160520"/>
            <a:ext cx="994321" cy="1368566"/>
          </a:xfrm>
          <a:prstGeom prst="line">
            <a:avLst/>
          </a:prstGeom>
          <a:noFill/>
          <a:ln w="19050">
            <a:solidFill>
              <a:srgbClr val="C7CAE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2754719" y="4160520"/>
            <a:ext cx="994321" cy="1368566"/>
          </a:xfrm>
          <a:prstGeom prst="line">
            <a:avLst/>
          </a:prstGeom>
          <a:noFill/>
          <a:ln w="19050">
            <a:solidFill>
              <a:srgbClr val="C7CAE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 flipV="1">
            <a:off x="2140195" y="3637774"/>
            <a:ext cx="1608845" cy="522746"/>
          </a:xfrm>
          <a:prstGeom prst="line">
            <a:avLst/>
          </a:prstGeom>
          <a:noFill/>
          <a:ln w="19050">
            <a:solidFill>
              <a:srgbClr val="C7CAE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63240" y="3474720"/>
            <a:ext cx="1371600" cy="1371600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63240" y="39959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06140" y="2125980"/>
            <a:ext cx="685800" cy="6858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014985" y="3294874"/>
            <a:ext cx="685800" cy="685800"/>
          </a:xfrm>
          <a:prstGeom prst="ellipse">
            <a:avLst/>
          </a:prstGeom>
          <a:solidFill>
            <a:srgbClr val="00E0B8"/>
          </a:solidFill>
          <a:ln/>
        </p:spPr>
      </p:sp>
      <p:sp>
        <p:nvSpPr>
          <p:cNvPr id="14" name="Shape 12"/>
          <p:cNvSpPr/>
          <p:nvPr/>
        </p:nvSpPr>
        <p:spPr>
          <a:xfrm>
            <a:off x="4400461" y="5186186"/>
            <a:ext cx="685800" cy="685800"/>
          </a:xfrm>
          <a:prstGeom prst="ellipse">
            <a:avLst/>
          </a:prstGeom>
          <a:solidFill>
            <a:srgbClr val="6C7B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411819" y="5186186"/>
            <a:ext cx="685800" cy="685800"/>
          </a:xfrm>
          <a:prstGeom prst="ellipse">
            <a:avLst/>
          </a:prstGeom>
          <a:solidFill>
            <a:srgbClr val="00E0B8"/>
          </a:solidFill>
          <a:ln/>
        </p:spPr>
      </p:sp>
      <p:sp>
        <p:nvSpPr>
          <p:cNvPr id="16" name="Shape 14"/>
          <p:cNvSpPr/>
          <p:nvPr/>
        </p:nvSpPr>
        <p:spPr>
          <a:xfrm>
            <a:off x="1797295" y="3294874"/>
            <a:ext cx="685800" cy="6858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693408" y="1911096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18745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21671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reasoning and decision-making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93408" y="2752344"/>
            <a:ext cx="365760" cy="365760"/>
          </a:xfrm>
          <a:prstGeom prst="ellipse">
            <a:avLst/>
          </a:prstGeom>
          <a:solidFill>
            <a:srgbClr val="00E0B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27157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0083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context and running state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93408" y="3593592"/>
            <a:ext cx="365760" cy="365760"/>
          </a:xfrm>
          <a:prstGeom prst="ellipse">
            <a:avLst/>
          </a:prstGeom>
          <a:solidFill>
            <a:srgbClr val="6C7B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78040" y="355701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8496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capabilities the agent can call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93408" y="4434840"/>
            <a:ext cx="365760" cy="365760"/>
          </a:xfrm>
          <a:prstGeom prst="ellipse">
            <a:avLst/>
          </a:prstGeom>
          <a:solidFill>
            <a:srgbClr val="00E0B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78040" y="43982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69087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overall workflow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93408" y="5276088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78040" y="52395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55321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where actions take effect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Goal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acting, the agent must understand the objective and the conditions it must satisfy.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423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871216"/>
            <a:ext cx="566928" cy="56692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3776" y="299008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Goal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160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the user's objective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71800" y="3154680"/>
            <a:ext cx="347472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19272" y="2651760"/>
            <a:ext cx="2423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8728" y="2871216"/>
            <a:ext cx="566928" cy="566928"/>
          </a:xfrm>
          <a:prstGeom prst="ellipse">
            <a:avLst/>
          </a:prstGeom>
          <a:solidFill>
            <a:srgbClr val="6C7B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64408" y="299008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3611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47872" y="4160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surrounding information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42432" y="3154680"/>
            <a:ext cx="347472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89904" y="2651760"/>
            <a:ext cx="2423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2871216"/>
            <a:ext cx="566928" cy="566928"/>
          </a:xfrm>
          <a:prstGeom prst="ellipse">
            <a:avLst/>
          </a:prstGeom>
          <a:solidFill>
            <a:srgbClr val="00E0B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35040" y="299008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18504" y="3611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18504" y="4160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what applies and what's needed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13064" y="3154680"/>
            <a:ext cx="347472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860536" y="2651760"/>
            <a:ext cx="2423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79992" y="2871216"/>
            <a:ext cx="566928" cy="566928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805672" y="299008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089136" y="3611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Condition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089136" y="4160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“success” means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Task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converts a broad objective into actionable steps — and the plan may change as new information appears.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goal into smaller steps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dependencies between steps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appropriate tools for each step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next action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4663440"/>
            <a:ext cx="1234440" cy="640080"/>
          </a:xfrm>
          <a:prstGeom prst="roundRect">
            <a:avLst>
              <a:gd name="adj" fmla="val 17143"/>
            </a:avLst>
          </a:prstGeom>
          <a:solidFill>
            <a:srgbClr val="12163A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343400" y="46634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flipV="1">
            <a:off x="5577840" y="4160520"/>
            <a:ext cx="256032" cy="822960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33872" y="3840480"/>
            <a:ext cx="1234440" cy="640080"/>
          </a:xfrm>
          <a:prstGeom prst="roundRect">
            <a:avLst>
              <a:gd name="adj" fmla="val 17143"/>
            </a:avLst>
          </a:prstGeom>
          <a:solidFill>
            <a:srgbClr val="3D5AFE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833872" y="38404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68312" y="4160520"/>
            <a:ext cx="256032" cy="365760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24344" y="4206240"/>
            <a:ext cx="1234440" cy="640080"/>
          </a:xfrm>
          <a:prstGeom prst="roundRect">
            <a:avLst>
              <a:gd name="adj" fmla="val 17143"/>
            </a:avLst>
          </a:prstGeom>
          <a:solidFill>
            <a:srgbClr val="3D5AFE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24344" y="42062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 flipV="1">
            <a:off x="8558784" y="4160520"/>
            <a:ext cx="256032" cy="365760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814816" y="3840480"/>
            <a:ext cx="1234440" cy="640080"/>
          </a:xfrm>
          <a:prstGeom prst="roundRect">
            <a:avLst>
              <a:gd name="adj" fmla="val 17143"/>
            </a:avLst>
          </a:prstGeom>
          <a:solidFill>
            <a:srgbClr val="3D5AFE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814816" y="38404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 flipV="1">
            <a:off x="10049256" y="4069080"/>
            <a:ext cx="256032" cy="91440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305288" y="3749040"/>
            <a:ext cx="1234440" cy="640080"/>
          </a:xfrm>
          <a:prstGeom prst="roundRect">
            <a:avLst>
              <a:gd name="adj" fmla="val 17143"/>
            </a:avLst>
          </a:prstGeom>
          <a:solidFill>
            <a:srgbClr val="00E0B8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305288" y="37490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57607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may be revised as each task completes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Through Tools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give agents capabilities beyond what the model can do by itself. The model decides which tool to use.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1216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3154680"/>
            <a:ext cx="502920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06040" y="2834640"/>
            <a:ext cx="1828800" cy="640080"/>
          </a:xfrm>
          <a:prstGeom prst="roundRect">
            <a:avLst>
              <a:gd name="adj" fmla="val 17143"/>
            </a:avLst>
          </a:prstGeom>
          <a:solidFill>
            <a:srgbClr val="3D5A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06040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3154680"/>
            <a:ext cx="640080" cy="9144"/>
          </a:xfrm>
          <a:prstGeom prst="line">
            <a:avLst/>
          </a:prstGeom>
          <a:noFill/>
          <a:ln w="12700">
            <a:solidFill>
              <a:srgbClr val="D7D9F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74920" y="2331720"/>
            <a:ext cx="1481328" cy="16916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64124" y="2446020"/>
            <a:ext cx="502920" cy="502920"/>
          </a:xfrm>
          <a:prstGeom prst="ellipse">
            <a:avLst/>
          </a:prstGeom>
          <a:solidFill>
            <a:srgbClr val="00E0B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74920" y="31546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148072" y="34747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services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3154680"/>
            <a:ext cx="2340864" cy="9144"/>
          </a:xfrm>
          <a:prstGeom prst="line">
            <a:avLst/>
          </a:prstGeom>
          <a:noFill/>
          <a:ln w="12700">
            <a:solidFill>
              <a:srgbClr val="D7D9F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75704" y="2331720"/>
            <a:ext cx="1481328" cy="16916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64908" y="2446020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75704" y="31546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48856" y="34747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information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3154680"/>
            <a:ext cx="4041648" cy="9144"/>
          </a:xfrm>
          <a:prstGeom prst="line">
            <a:avLst/>
          </a:prstGeom>
          <a:noFill/>
          <a:ln w="12700">
            <a:solidFill>
              <a:srgbClr val="D7D9F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476488" y="2331720"/>
            <a:ext cx="1481328" cy="16916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65692" y="2446020"/>
            <a:ext cx="502920" cy="502920"/>
          </a:xfrm>
          <a:prstGeom prst="ellipse">
            <a:avLst/>
          </a:prstGeom>
          <a:solidFill>
            <a:srgbClr val="6C7B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76488" y="31546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549640" y="34747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records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34840" y="3154680"/>
            <a:ext cx="5742432" cy="9144"/>
          </a:xfrm>
          <a:prstGeom prst="line">
            <a:avLst/>
          </a:prstGeom>
          <a:noFill/>
          <a:ln w="12700">
            <a:solidFill>
              <a:srgbClr val="D7D9F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177272" y="2331720"/>
            <a:ext cx="1481328" cy="16916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666476" y="2446020"/>
            <a:ext cx="502920" cy="502920"/>
          </a:xfrm>
          <a:prstGeom prst="ellipse">
            <a:avLst/>
          </a:prstGeom>
          <a:solidFill>
            <a:srgbClr val="00E0B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177272" y="31546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250424" y="34747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compute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66760" y="4023360"/>
            <a:ext cx="9144" cy="502920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52360" y="4526280"/>
            <a:ext cx="1828800" cy="594360"/>
          </a:xfrm>
          <a:prstGeom prst="roundRect">
            <a:avLst>
              <a:gd name="adj" fmla="val 18462"/>
            </a:avLst>
          </a:prstGeom>
          <a:solidFill>
            <a:srgbClr val="00E0B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52360" y="4526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Returned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&amp; Evaluate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does not assume every action succeeds — it evaluates the result before deciding what happens next.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3D5AFE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926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3310128"/>
            <a:ext cx="292608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15768" y="292608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6C7BFF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715768" y="2926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90288" y="3310128"/>
            <a:ext cx="292608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82896" y="292608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3D5AFE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82896" y="2926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57416" y="3310128"/>
            <a:ext cx="292608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50024" y="292608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00E0B8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050024" y="2926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24544" y="3310128"/>
            <a:ext cx="292608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217152" y="292608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12163A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17152" y="2926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Decision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154412" y="3703320"/>
            <a:ext cx="9144" cy="457200"/>
          </a:xfrm>
          <a:prstGeom prst="line">
            <a:avLst/>
          </a:prstGeom>
          <a:noFill/>
          <a:ln w="25400">
            <a:solidFill>
              <a:srgbClr val="00E0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85900" y="4160520"/>
            <a:ext cx="8668512" cy="9144"/>
          </a:xfrm>
          <a:prstGeom prst="line">
            <a:avLst/>
          </a:prstGeom>
          <a:noFill/>
          <a:ln w="25400">
            <a:solidFill>
              <a:srgbClr val="00E0B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 flipV="1">
            <a:off x="1485900" y="3703320"/>
            <a:ext cx="9144" cy="457200"/>
          </a:xfrm>
          <a:prstGeom prst="line">
            <a:avLst/>
          </a:prstGeom>
          <a:noFill/>
          <a:ln w="25400">
            <a:solidFill>
              <a:srgbClr val="00E0B8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48640" y="4270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Decision feeds back into a new Action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091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result of the action taken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it against what was expected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errors or missing information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agent's current state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MECHANISM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Control Loop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9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continuously use feedback from their environment to determine their next step.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51760" y="2423160"/>
            <a:ext cx="3108960" cy="3108960"/>
          </a:xfrm>
          <a:prstGeom prst="ellipse">
            <a:avLst/>
          </a:prstGeom>
          <a:ln w="38100">
            <a:solidFill>
              <a:srgbClr val="3D5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26180" y="1943100"/>
            <a:ext cx="960120" cy="960120"/>
          </a:xfrm>
          <a:prstGeom prst="ellipse">
            <a:avLst/>
          </a:prstGeom>
          <a:solidFill>
            <a:srgbClr val="1C2354"/>
          </a:solidFill>
          <a:ln w="25400">
            <a:solidFill>
              <a:srgbClr val="00E0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22768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80660" y="3497580"/>
            <a:ext cx="960120" cy="960120"/>
          </a:xfrm>
          <a:prstGeom prst="ellipse">
            <a:avLst/>
          </a:prstGeom>
          <a:solidFill>
            <a:srgbClr val="1C2354"/>
          </a:solidFill>
          <a:ln w="25400">
            <a:solidFill>
              <a:srgbClr val="00E0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66360" y="38313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26180" y="5052060"/>
            <a:ext cx="960120" cy="960120"/>
          </a:xfrm>
          <a:prstGeom prst="ellipse">
            <a:avLst/>
          </a:prstGeom>
          <a:solidFill>
            <a:srgbClr val="00E0B8"/>
          </a:solidFill>
          <a:ln w="25400">
            <a:solidFill>
              <a:srgbClr val="00E0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53858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71700" y="3497580"/>
            <a:ext cx="960120" cy="960120"/>
          </a:xfrm>
          <a:prstGeom prst="ellipse">
            <a:avLst/>
          </a:prstGeom>
          <a:solidFill>
            <a:srgbClr val="1C2354"/>
          </a:solidFill>
          <a:ln w="25400">
            <a:solidFill>
              <a:srgbClr val="00E0B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313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2700000">
            <a:off x="5223127" y="2796161"/>
            <a:ext cx="164592" cy="164592"/>
          </a:xfrm>
          <a:prstGeom prst="triangle">
            <a:avLst/>
          </a:prstGeom>
          <a:solidFill>
            <a:srgbClr val="3D5AFE"/>
          </a:solidFill>
          <a:ln/>
        </p:spPr>
      </p:sp>
      <p:sp>
        <p:nvSpPr>
          <p:cNvPr id="15" name="Shape 13"/>
          <p:cNvSpPr/>
          <p:nvPr/>
        </p:nvSpPr>
        <p:spPr>
          <a:xfrm rot="8100000">
            <a:off x="5223127" y="4994527"/>
            <a:ext cx="164592" cy="164592"/>
          </a:xfrm>
          <a:prstGeom prst="triangle">
            <a:avLst/>
          </a:prstGeom>
          <a:solidFill>
            <a:srgbClr val="3D5AFE"/>
          </a:solidFill>
          <a:ln/>
        </p:spPr>
      </p:sp>
      <p:sp>
        <p:nvSpPr>
          <p:cNvPr id="16" name="Shape 14"/>
          <p:cNvSpPr/>
          <p:nvPr/>
        </p:nvSpPr>
        <p:spPr>
          <a:xfrm rot="13500000">
            <a:off x="3024761" y="4994527"/>
            <a:ext cx="164592" cy="164592"/>
          </a:xfrm>
          <a:prstGeom prst="triangle">
            <a:avLst/>
          </a:prstGeom>
          <a:solidFill>
            <a:srgbClr val="3D5AFE"/>
          </a:solidFill>
          <a:ln/>
        </p:spPr>
      </p:sp>
      <p:sp>
        <p:nvSpPr>
          <p:cNvPr id="17" name="Shape 15"/>
          <p:cNvSpPr/>
          <p:nvPr/>
        </p:nvSpPr>
        <p:spPr>
          <a:xfrm rot="18900000">
            <a:off x="3024761" y="2796161"/>
            <a:ext cx="164592" cy="164592"/>
          </a:xfrm>
          <a:prstGeom prst="triangle">
            <a:avLst/>
          </a:prstGeom>
          <a:solidFill>
            <a:srgbClr val="3D5AFE"/>
          </a:solidFill>
          <a:ln/>
        </p:spPr>
      </p:sp>
      <p:sp>
        <p:nvSpPr>
          <p:cNvPr id="18" name="Shape 16"/>
          <p:cNvSpPr/>
          <p:nvPr/>
        </p:nvSpPr>
        <p:spPr>
          <a:xfrm>
            <a:off x="3794760" y="35661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794760" y="3840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6099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3760" y="2377440"/>
            <a:ext cx="4434840" cy="3566160"/>
          </a:xfrm>
          <a:prstGeom prst="roundRect">
            <a:avLst>
              <a:gd name="adj" fmla="val 2051"/>
            </a:avLst>
          </a:prstGeom>
          <a:solidFill>
            <a:srgbClr val="1C2354"/>
          </a:solidFill>
          <a:ln/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88936" y="2688336"/>
            <a:ext cx="384048" cy="384048"/>
          </a:xfrm>
          <a:prstGeom prst="ellipse">
            <a:avLst/>
          </a:prstGeom>
          <a:solidFill>
            <a:srgbClr val="00E0B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14616" y="271576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2697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goal is achieved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488936" y="3739896"/>
            <a:ext cx="384048" cy="384048"/>
          </a:xfrm>
          <a:prstGeom prst="ellipse">
            <a:avLst/>
          </a:prstGeom>
          <a:solidFill>
            <a:srgbClr val="00E0B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214616" y="376732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001000" y="3749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result influences the next action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488936" y="4791456"/>
            <a:ext cx="384048" cy="384048"/>
          </a:xfrm>
          <a:prstGeom prst="ellipse">
            <a:avLst/>
          </a:prstGeom>
          <a:solidFill>
            <a:srgbClr val="00E0B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214616" y="481888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0" y="4800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enables adaptive behavior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AI Research Agent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384048"/>
          </a:xfrm>
          <a:prstGeom prst="roundRect">
            <a:avLst>
              <a:gd name="adj" fmla="val 19048"/>
            </a:avLst>
          </a:prstGeom>
          <a:solidFill>
            <a:srgbClr val="EAF9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300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reliable research report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353312" cy="731520"/>
          </a:xfrm>
          <a:prstGeom prst="roundRect">
            <a:avLst>
              <a:gd name="adj" fmla="val 15000"/>
            </a:avLst>
          </a:prstGeom>
          <a:solidFill>
            <a:srgbClr val="3D5AFE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324612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44348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multiple sources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01952" y="3611880"/>
            <a:ext cx="146304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48256" y="3246120"/>
            <a:ext cx="1353312" cy="731520"/>
          </a:xfrm>
          <a:prstGeom prst="roundRect">
            <a:avLst>
              <a:gd name="adj" fmla="val 15000"/>
            </a:avLst>
          </a:prstGeom>
          <a:solidFill>
            <a:srgbClr val="3D5AFE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048256" y="324612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911096" y="44348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analyze info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01568" y="3611880"/>
            <a:ext cx="146304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47872" y="3108960"/>
            <a:ext cx="1353312" cy="1005840"/>
          </a:xfrm>
          <a:prstGeom prst="diamond">
            <a:avLst/>
          </a:prstGeom>
          <a:solidFill>
            <a:srgbClr val="00E0B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47872" y="310896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Gap?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410712" y="44348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gaps or conflicts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01184" y="3611880"/>
            <a:ext cx="146304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47488" y="3246120"/>
            <a:ext cx="1353312" cy="731520"/>
          </a:xfrm>
          <a:prstGeom prst="roundRect">
            <a:avLst>
              <a:gd name="adj" fmla="val 15000"/>
            </a:avLst>
          </a:prstGeom>
          <a:solidFill>
            <a:srgbClr val="3D5AFE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047488" y="324612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Again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910328" y="44348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needed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3611880"/>
            <a:ext cx="146304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47104" y="3246120"/>
            <a:ext cx="1353312" cy="731520"/>
          </a:xfrm>
          <a:prstGeom prst="roundRect">
            <a:avLst>
              <a:gd name="adj" fmla="val 15000"/>
            </a:avLst>
          </a:prstGeom>
          <a:solidFill>
            <a:srgbClr val="12163A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547104" y="324612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44348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report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900416" y="3611880"/>
            <a:ext cx="146304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046720" y="3246120"/>
            <a:ext cx="1353312" cy="731520"/>
          </a:xfrm>
          <a:prstGeom prst="roundRect">
            <a:avLst>
              <a:gd name="adj" fmla="val 15000"/>
            </a:avLst>
          </a:prstGeom>
          <a:solidFill>
            <a:srgbClr val="3D5AFE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046720" y="324612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909560" y="44348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accuracy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24528" y="2743200"/>
            <a:ext cx="9144" cy="365760"/>
          </a:xfrm>
          <a:prstGeom prst="line">
            <a:avLst/>
          </a:prstGeom>
          <a:noFill/>
          <a:ln w="25400">
            <a:solidFill>
              <a:srgbClr val="00E0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25296" y="2743200"/>
            <a:ext cx="2999232" cy="9144"/>
          </a:xfrm>
          <a:prstGeom prst="line">
            <a:avLst/>
          </a:prstGeom>
          <a:noFill/>
          <a:ln w="25400">
            <a:solidFill>
              <a:srgbClr val="00E0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225296" y="2743200"/>
            <a:ext cx="9144" cy="502920"/>
          </a:xfrm>
          <a:prstGeom prst="line">
            <a:avLst/>
          </a:prstGeom>
          <a:noFill/>
          <a:ln w="25400">
            <a:solidFill>
              <a:srgbClr val="00E0B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F9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back if information is incomplete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83496" y="324612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00E0B8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683496" y="32461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400032" y="3611880"/>
            <a:ext cx="283464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48640" y="53035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matters: a good agent re-checks its own work before finishing.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How Agents Maintain Context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usually external storage or retrieval, not the model permanently learning every interaction.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468880"/>
            <a:ext cx="91440" cy="201168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743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461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conversation and task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94760" y="3474720"/>
            <a:ext cx="320040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14800" y="246888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0" y="2468880"/>
            <a:ext cx="91440" cy="2011680"/>
          </a:xfrm>
          <a:prstGeom prst="rect">
            <a:avLst/>
          </a:prstGeom>
          <a:solidFill>
            <a:srgbClr val="6C7B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34840" y="2743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State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32461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results in progress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60920" y="3474720"/>
            <a:ext cx="320040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80960" y="246888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0" y="2468880"/>
            <a:ext cx="91440" cy="2011680"/>
          </a:xfrm>
          <a:prstGeom prst="rect">
            <a:avLst/>
          </a:prstGeom>
          <a:solidFill>
            <a:srgbClr val="00E0B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000" y="2743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32461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information across sessions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2514600" cy="594360"/>
          </a:xfrm>
          <a:prstGeom prst="roundRect">
            <a:avLst>
              <a:gd name="adj" fmla="val 49231"/>
            </a:avLst>
          </a:prstGeom>
          <a:solidFill>
            <a:srgbClr val="1216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074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63240" y="5367528"/>
            <a:ext cx="228600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3063240" y="5440680"/>
            <a:ext cx="228600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291840" y="5074920"/>
            <a:ext cx="2514600" cy="594360"/>
          </a:xfrm>
          <a:prstGeom prst="roundRect">
            <a:avLst>
              <a:gd name="adj" fmla="val 49231"/>
            </a:avLst>
          </a:prstGeom>
          <a:solidFill>
            <a:srgbClr val="EEF0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91840" y="5074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06440" y="5367528"/>
            <a:ext cx="228600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5806440" y="5440680"/>
            <a:ext cx="228600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35040" y="5074920"/>
            <a:ext cx="2514600" cy="594360"/>
          </a:xfrm>
          <a:prstGeom prst="roundRect">
            <a:avLst>
              <a:gd name="adj" fmla="val 49231"/>
            </a:avLst>
          </a:prstGeom>
          <a:solidFill>
            <a:srgbClr val="EEF0F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035040" y="5074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State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49640" y="5367528"/>
            <a:ext cx="228600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>
            <a:off x="8549640" y="5440680"/>
            <a:ext cx="228600" cy="914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778240" y="5074920"/>
            <a:ext cx="2514600" cy="594360"/>
          </a:xfrm>
          <a:prstGeom prst="roundRect">
            <a:avLst>
              <a:gd name="adj" fmla="val 49231"/>
            </a:avLst>
          </a:prstGeom>
          <a:solidFill>
            <a:srgbClr val="EEF0F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78240" y="5074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Storage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RELIABILITY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Production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comes from the complete system, not just model intelligence.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7589520" cy="512064"/>
          </a:xfrm>
          <a:prstGeom prst="roundRect">
            <a:avLst>
              <a:gd name="adj" fmla="val 17857"/>
            </a:avLst>
          </a:prstGeom>
          <a:solidFill>
            <a:srgbClr val="12163A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2843784"/>
            <a:ext cx="9144" cy="14630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990088"/>
            <a:ext cx="7589520" cy="512064"/>
          </a:xfrm>
          <a:prstGeom prst="roundRect">
            <a:avLst>
              <a:gd name="adj" fmla="val 17857"/>
            </a:avLst>
          </a:prstGeom>
          <a:solidFill>
            <a:srgbClr val="3D5AFE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990088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3502152"/>
            <a:ext cx="9144" cy="14630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3648456"/>
            <a:ext cx="7589520" cy="512064"/>
          </a:xfrm>
          <a:prstGeom prst="roundRect">
            <a:avLst>
              <a:gd name="adj" fmla="val 17857"/>
            </a:avLst>
          </a:prstGeom>
          <a:solidFill>
            <a:srgbClr val="6C7B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3648456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4160520"/>
            <a:ext cx="9144" cy="14630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4306824"/>
            <a:ext cx="7589520" cy="512064"/>
          </a:xfrm>
          <a:prstGeom prst="roundRect">
            <a:avLst>
              <a:gd name="adj" fmla="val 17857"/>
            </a:avLst>
          </a:prstGeom>
          <a:solidFill>
            <a:srgbClr val="3D5AFE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4306824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43400" y="4818888"/>
            <a:ext cx="9144" cy="146304"/>
          </a:xfrm>
          <a:prstGeom prst="line">
            <a:avLst/>
          </a:prstGeom>
          <a:noFill/>
          <a:ln w="25400">
            <a:solidFill>
              <a:srgbClr val="B7BBD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4965192"/>
            <a:ext cx="7589520" cy="512064"/>
          </a:xfrm>
          <a:prstGeom prst="roundRect">
            <a:avLst>
              <a:gd name="adj" fmla="val 17857"/>
            </a:avLst>
          </a:prstGeom>
          <a:solidFill>
            <a:srgbClr val="00E0B8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4965192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49640" y="2331720"/>
            <a:ext cx="3063240" cy="3145536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823960" y="25420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Every Layer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05672" y="3017520"/>
            <a:ext cx="402336" cy="402336"/>
          </a:xfrm>
          <a:prstGeom prst="ellipse">
            <a:avLst/>
          </a:prstGeom>
          <a:solidFill>
            <a:srgbClr val="00E0B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26880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persistent state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05672" y="4160520"/>
            <a:ext cx="402336" cy="40233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2688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4453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cost, and failures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715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agents only necessary tools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reasoning from execution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5715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state reliably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important actions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Agents Are Used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useful when tasks are multi-step, dynamic, and require interaction with external systems.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71700" y="3543300"/>
            <a:ext cx="1143000" cy="1143000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76272" y="3822192"/>
            <a:ext cx="1133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V="1">
            <a:off x="2743200" y="2377440"/>
            <a:ext cx="9144" cy="1737360"/>
          </a:xfrm>
          <a:prstGeom prst="line">
            <a:avLst/>
          </a:prstGeom>
          <a:noFill/>
          <a:ln w="19050">
            <a:solidFill>
              <a:srgbClr val="C7CAE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23160" y="2057400"/>
            <a:ext cx="640080" cy="64008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2743200" y="3577926"/>
            <a:ext cx="1652328" cy="536874"/>
          </a:xfrm>
          <a:prstGeom prst="line">
            <a:avLst/>
          </a:prstGeom>
          <a:noFill/>
          <a:ln w="19050">
            <a:solidFill>
              <a:srgbClr val="C7CAE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075488" y="3257886"/>
            <a:ext cx="640080" cy="640080"/>
          </a:xfrm>
          <a:prstGeom prst="ellipse">
            <a:avLst/>
          </a:prstGeom>
          <a:solidFill>
            <a:srgbClr val="00E0B8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4114800"/>
            <a:ext cx="1021195" cy="1405554"/>
          </a:xfrm>
          <a:prstGeom prst="line">
            <a:avLst/>
          </a:prstGeom>
          <a:noFill/>
          <a:ln w="19050">
            <a:solidFill>
              <a:srgbClr val="C7CAE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44355" y="5200314"/>
            <a:ext cx="640080" cy="640080"/>
          </a:xfrm>
          <a:prstGeom prst="ellipse">
            <a:avLst/>
          </a:prstGeom>
          <a:solidFill>
            <a:srgbClr val="6C7BFF"/>
          </a:solidFill>
          <a:ln/>
        </p:spPr>
      </p:sp>
      <p:sp>
        <p:nvSpPr>
          <p:cNvPr id="13" name="Shape 11"/>
          <p:cNvSpPr/>
          <p:nvPr/>
        </p:nvSpPr>
        <p:spPr>
          <a:xfrm flipH="1">
            <a:off x="1722005" y="4114800"/>
            <a:ext cx="1021195" cy="1405554"/>
          </a:xfrm>
          <a:prstGeom prst="line">
            <a:avLst/>
          </a:prstGeom>
          <a:noFill/>
          <a:ln w="19050">
            <a:solidFill>
              <a:srgbClr val="C7CAE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401965" y="5200314"/>
            <a:ext cx="640080" cy="64008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5" name="Shape 13"/>
          <p:cNvSpPr/>
          <p:nvPr/>
        </p:nvSpPr>
        <p:spPr>
          <a:xfrm flipH="1" flipV="1">
            <a:off x="1090872" y="3577926"/>
            <a:ext cx="1652328" cy="536874"/>
          </a:xfrm>
          <a:prstGeom prst="line">
            <a:avLst/>
          </a:prstGeom>
          <a:noFill/>
          <a:ln w="19050">
            <a:solidFill>
              <a:srgbClr val="C7CAE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0832" y="3257886"/>
            <a:ext cx="640080" cy="640080"/>
          </a:xfrm>
          <a:prstGeom prst="ellipse">
            <a:avLst/>
          </a:prstGeom>
          <a:solidFill>
            <a:srgbClr val="00E0B8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0" y="233172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92140" y="2743200"/>
            <a:ext cx="411480" cy="41148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25328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8986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Coding, testing, debugging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23960" y="233172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29700" y="2743200"/>
            <a:ext cx="411480" cy="411480"/>
          </a:xfrm>
          <a:prstGeom prst="ellipse">
            <a:avLst/>
          </a:prstGeom>
          <a:solidFill>
            <a:srgbClr val="00E0B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01200" y="25328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601200" y="28986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analysis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379476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92140" y="4206240"/>
            <a:ext cx="411480" cy="411480"/>
          </a:xfrm>
          <a:prstGeom prst="ellipse">
            <a:avLst/>
          </a:prstGeom>
          <a:solidFill>
            <a:srgbClr val="6C7B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63640" y="39959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43616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823960" y="379476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29700" y="4206240"/>
            <a:ext cx="411480" cy="41148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01200" y="39959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9601200" y="43616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problem solving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0" y="525780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5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92140" y="5669280"/>
            <a:ext cx="411480" cy="411480"/>
          </a:xfrm>
          <a:prstGeom prst="ellipse">
            <a:avLst/>
          </a:prstGeom>
          <a:solidFill>
            <a:srgbClr val="00E0B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63640" y="54589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6263640" y="58247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→ Plan → Act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AWARE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Limitations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act makes agents more powerful — and introduces greater risk.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5216" y="2459736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4231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can cause incorrect actions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" y="3099816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0632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 creates security risks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" y="3739896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7033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may make poor decisions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" y="4379976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3434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can increase cost and latency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" y="5020056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834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actions may require human approval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2331720"/>
            <a:ext cx="5120640" cy="3886200"/>
          </a:xfrm>
          <a:prstGeom prst="roundRect">
            <a:avLst>
              <a:gd name="adj" fmla="val 1882"/>
            </a:avLst>
          </a:prstGeom>
          <a:solidFill>
            <a:srgbClr val="12163A"/>
          </a:solidFill>
          <a:ln/>
          <a:effectLst>
            <a:outerShdw sx="100000" sy="100000" kx="0" ky="0" algn="bl" rotWithShape="0" blurRad="127000" dist="38100" dir="5400000">
              <a:srgbClr val="1E2761">
                <a:alpha val="2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76656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Between Agent and Real World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0" y="30632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C2354"/>
          </a:solidFill>
          <a:ln w="12700">
            <a:solidFill>
              <a:srgbClr val="00E0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3291840"/>
            <a:ext cx="228600" cy="9144"/>
          </a:xfrm>
          <a:prstGeom prst="line">
            <a:avLst/>
          </a:prstGeom>
          <a:noFill/>
          <a:ln w="25400">
            <a:solidFill>
              <a:srgbClr val="6C7B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366760" y="30632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C2354"/>
          </a:solidFill>
          <a:ln w="12700">
            <a:solidFill>
              <a:srgbClr val="00E0B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6676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38360" y="3291840"/>
            <a:ext cx="228600" cy="9144"/>
          </a:xfrm>
          <a:prstGeom prst="line">
            <a:avLst/>
          </a:prstGeom>
          <a:noFill/>
          <a:ln w="25400">
            <a:solidFill>
              <a:srgbClr val="6C7BF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66960" y="30632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0E0B8"/>
          </a:solidFill>
          <a:ln w="12700">
            <a:solidFill>
              <a:srgbClr val="00E0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96696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3794760"/>
            <a:ext cx="4572000" cy="384048"/>
          </a:xfrm>
          <a:prstGeom prst="roundRect">
            <a:avLst>
              <a:gd name="adj" fmla="val 50000"/>
            </a:avLst>
          </a:prstGeom>
          <a:solidFill>
            <a:srgbClr val="1C2354"/>
          </a:solidFill>
          <a:ln w="12700">
            <a:solidFill>
              <a:srgbClr val="00E0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3794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66560" y="4297680"/>
            <a:ext cx="4572000" cy="384048"/>
          </a:xfrm>
          <a:prstGeom prst="roundRect">
            <a:avLst>
              <a:gd name="adj" fmla="val 50000"/>
            </a:avLst>
          </a:prstGeom>
          <a:solidFill>
            <a:srgbClr val="1C2354"/>
          </a:solidFill>
          <a:ln w="12700">
            <a:solidFill>
              <a:srgbClr val="00E0B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0" y="42976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766560" y="4800600"/>
            <a:ext cx="4572000" cy="384048"/>
          </a:xfrm>
          <a:prstGeom prst="roundRect">
            <a:avLst>
              <a:gd name="adj" fmla="val 50000"/>
            </a:avLst>
          </a:prstGeom>
          <a:solidFill>
            <a:srgbClr val="1C2354"/>
          </a:solidFill>
          <a:ln w="12700">
            <a:solidFill>
              <a:srgbClr val="00E0B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0" y="48006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766560" y="5303520"/>
            <a:ext cx="4572000" cy="384048"/>
          </a:xfrm>
          <a:prstGeom prst="roundRect">
            <a:avLst>
              <a:gd name="adj" fmla="val 50000"/>
            </a:avLst>
          </a:prstGeom>
          <a:solidFill>
            <a:srgbClr val="1C2354"/>
          </a:solidFill>
          <a:ln w="12700">
            <a:solidFill>
              <a:srgbClr val="00E0B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0" y="53035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= Model + Tools + Memory + Control Loop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0" y="169164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691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03120" y="2240280"/>
            <a:ext cx="9144" cy="228600"/>
          </a:xfrm>
          <a:prstGeom prst="line">
            <a:avLst/>
          </a:prstGeom>
          <a:noFill/>
          <a:ln w="25400">
            <a:solidFill>
              <a:srgbClr val="6C7B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97280" y="246888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1C235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468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103120" y="3017520"/>
            <a:ext cx="9144" cy="228600"/>
          </a:xfrm>
          <a:prstGeom prst="line">
            <a:avLst/>
          </a:prstGeom>
          <a:noFill/>
          <a:ln w="25400">
            <a:solidFill>
              <a:srgbClr val="6C7B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97280" y="324612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1C235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246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103120" y="3794760"/>
            <a:ext cx="9144" cy="228600"/>
          </a:xfrm>
          <a:prstGeom prst="line">
            <a:avLst/>
          </a:prstGeom>
          <a:noFill/>
          <a:ln w="25400">
            <a:solidFill>
              <a:srgbClr val="6C7B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97280" y="40233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1C235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103120" y="4572000"/>
            <a:ext cx="9144" cy="228600"/>
          </a:xfrm>
          <a:prstGeom prst="line">
            <a:avLst/>
          </a:prstGeom>
          <a:noFill/>
          <a:ln w="25400">
            <a:solidFill>
              <a:srgbClr val="6C7B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97280" y="480060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1C2354"/>
          </a:solidFill>
          <a:ln w="19050">
            <a:solidFill>
              <a:srgbClr val="00E0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800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103120" y="5349240"/>
            <a:ext cx="9144" cy="228600"/>
          </a:xfrm>
          <a:prstGeom prst="line">
            <a:avLst/>
          </a:prstGeom>
          <a:noFill/>
          <a:ln w="25400">
            <a:solidFill>
              <a:srgbClr val="6C7B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97280" y="557784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00E0B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5577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154680" y="5074920"/>
            <a:ext cx="822960" cy="9144"/>
          </a:xfrm>
          <a:prstGeom prst="line">
            <a:avLst/>
          </a:prstGeom>
          <a:noFill/>
          <a:ln w="19050">
            <a:solidFill>
              <a:srgbClr val="00E0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77640" y="3520440"/>
            <a:ext cx="9144" cy="1554480"/>
          </a:xfrm>
          <a:prstGeom prst="line">
            <a:avLst/>
          </a:prstGeom>
          <a:noFill/>
          <a:ln w="19050">
            <a:solidFill>
              <a:srgbClr val="00E0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3154680" y="3520440"/>
            <a:ext cx="822960" cy="9144"/>
          </a:xfrm>
          <a:prstGeom prst="line">
            <a:avLst/>
          </a:prstGeom>
          <a:noFill/>
          <a:ln w="19050">
            <a:solidFill>
              <a:srgbClr val="00E0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35040" y="2743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C2354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95160" y="2926080"/>
            <a:ext cx="548640" cy="54864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03504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38587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778240" y="2743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C2354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38360" y="2926080"/>
            <a:ext cx="548640" cy="548640"/>
          </a:xfrm>
          <a:prstGeom prst="ellipse">
            <a:avLst/>
          </a:prstGeom>
          <a:solidFill>
            <a:srgbClr val="6C7B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7824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0" y="38587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35040" y="43434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C2354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95160" y="4526280"/>
            <a:ext cx="548640" cy="548640"/>
          </a:xfrm>
          <a:prstGeom prst="ellipse">
            <a:avLst/>
          </a:prstGeom>
          <a:solidFill>
            <a:srgbClr val="00E0B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03504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035040" y="54589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778240" y="43434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C2354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738360" y="4526280"/>
            <a:ext cx="548640" cy="54864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7824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778240" y="54589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2026-09-03T06:17:29Z</dcterms:created>
  <dcterms:modified xsi:type="dcterms:W3CDTF">2026-09-03T06:17:29Z</dcterms:modified>
</cp:coreProperties>
</file>